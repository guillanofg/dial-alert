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0164f33dac04248" /><Relationship Type="http://schemas.openxmlformats.org/officeDocument/2006/relationships/extended-properties" Target="/docProps/app.xml" Id="Rea10aeea9ab140cd" /><Relationship Type="http://schemas.openxmlformats.org/officeDocument/2006/relationships/officeDocument" Target="/ppt/presentation.xml" Id="R15e6ed3a34244da0" /></Relationships>
</file>

<file path=ppt/presentation.xml><?xml version="1.0" encoding="utf-8"?>
<p:presentation xmlns:p="http://schemas.openxmlformats.org/presentationml/2006/main">
  <p:sldMasterIdLst>
    <p:sldMasterId xmlns:r="http://schemas.openxmlformats.org/officeDocument/2006/relationships" id="2147483648" r:id="Rf96c2edef4fc4103"/>
  </p:sldMasterIdLst>
  <p:notesMasterIdLst>
    <p:notesMasterId xmlns:r="http://schemas.openxmlformats.org/officeDocument/2006/relationships" r:id="Rd18d8753a4794aaf"/>
  </p:notesMasterIdLst>
  <p:sldIdLst>
    <p:sldId xmlns:r="http://schemas.openxmlformats.org/officeDocument/2006/relationships" id="256" r:id="R50c07d8ed83844d4"/>
    <p:sldId xmlns:r="http://schemas.openxmlformats.org/officeDocument/2006/relationships" id="257" r:id="Rcb841abf9b3e42f6"/>
    <p:sldId xmlns:r="http://schemas.openxmlformats.org/officeDocument/2006/relationships" id="258" r:id="R7eb515b863634cde"/>
    <p:sldId xmlns:r="http://schemas.openxmlformats.org/officeDocument/2006/relationships" id="259" r:id="R04b49e91dc4e4efe"/>
    <p:sldId xmlns:r="http://schemas.openxmlformats.org/officeDocument/2006/relationships" id="260" r:id="R281f91b037ac4318"/>
    <p:sldId xmlns:r="http://schemas.openxmlformats.org/officeDocument/2006/relationships" id="261" r:id="R36f2e37c66a94856"/>
    <p:sldId xmlns:r="http://schemas.openxmlformats.org/officeDocument/2006/relationships" id="262" r:id="R3dad596ae78b4171"/>
    <p:sldId xmlns:r="http://schemas.openxmlformats.org/officeDocument/2006/relationships" id="263" r:id="R0fa31a2813504f64"/>
    <p:sldId xmlns:r="http://schemas.openxmlformats.org/officeDocument/2006/relationships" id="264" r:id="Rf71dfb7f50dd4f92"/>
    <p:sldId xmlns:r="http://schemas.openxmlformats.org/officeDocument/2006/relationships" id="265" r:id="Rb334fb7f069340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336a02588d4186" /><Relationship Type="http://schemas.openxmlformats.org/officeDocument/2006/relationships/slideMaster" Target="/ppt/slideMasters/slideMaster1.xml" Id="Rf96c2edef4fc4103" /><Relationship Type="http://schemas.openxmlformats.org/officeDocument/2006/relationships/notesMaster" Target="/ppt/notesMasters/notesMaster1.xml" Id="Rd18d8753a4794aaf" /><Relationship Type="http://schemas.openxmlformats.org/officeDocument/2006/relationships/presProps" Target="/ppt/presProps.xml" Id="R86515e17040f43cb" /><Relationship Type="http://schemas.openxmlformats.org/officeDocument/2006/relationships/tableStyles" Target="/ppt/tableStyles.xml" Id="R08cb4b8a39e9460a" /><Relationship Type="http://schemas.openxmlformats.org/officeDocument/2006/relationships/slide" Target="/ppt/slides/slide1.xml" Id="R50c07d8ed83844d4" /><Relationship Type="http://schemas.openxmlformats.org/officeDocument/2006/relationships/slide" Target="/ppt/slides/slide2.xml" Id="Rcb841abf9b3e42f6" /><Relationship Type="http://schemas.openxmlformats.org/officeDocument/2006/relationships/slide" Target="/ppt/slides/slide3.xml" Id="R7eb515b863634cde" /><Relationship Type="http://schemas.openxmlformats.org/officeDocument/2006/relationships/slide" Target="/ppt/slides/slide4.xml" Id="R04b49e91dc4e4efe" /><Relationship Type="http://schemas.openxmlformats.org/officeDocument/2006/relationships/slide" Target="/ppt/slides/slide5.xml" Id="R281f91b037ac4318" /><Relationship Type="http://schemas.openxmlformats.org/officeDocument/2006/relationships/slide" Target="/ppt/slides/slide6.xml" Id="R36f2e37c66a94856" /><Relationship Type="http://schemas.openxmlformats.org/officeDocument/2006/relationships/slide" Target="/ppt/slides/slide7.xml" Id="R3dad596ae78b4171" /><Relationship Type="http://schemas.openxmlformats.org/officeDocument/2006/relationships/slide" Target="/ppt/slides/slide8.xml" Id="R0fa31a2813504f64" /><Relationship Type="http://schemas.openxmlformats.org/officeDocument/2006/relationships/slide" Target="/ppt/slides/slide9.xml" Id="Rf71dfb7f50dd4f92" /><Relationship Type="http://schemas.openxmlformats.org/officeDocument/2006/relationships/slide" Target="/ppt/slides/slide10.xml" Id="Rb334fb7f069340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39b837f629540d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IAL-ALERT">
  <a:themeElements>
    <a:clrScheme name="DIAL-ALER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DIAL-ALER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dcf5aa4b8d84c73" /><Relationship Type="http://schemas.openxmlformats.org/officeDocument/2006/relationships/notesMaster" Target="/ppt/notesMasters/notesMaster1.xml" Id="R23d903a910e6461f" /></Relationships>
</file>

<file path=ppt/notesSlides/_rels/notesSlide2.xml.rels>&#65279;<?xml version="1.0" encoding="utf-8"?><Relationships xmlns="http://schemas.openxmlformats.org/package/2006/relationships"><Relationship Type="http://schemas.openxmlformats.org/officeDocument/2006/relationships/slide" Target="/ppt/slides/slide2.xml" Id="R0ffc81fa1c114816" /><Relationship Type="http://schemas.openxmlformats.org/officeDocument/2006/relationships/notesMaster" Target="/ppt/notesMasters/notesMaster1.xml" Id="Ra4807672ec3345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be29e0fa307349e7" /><Relationship Type="http://schemas.openxmlformats.org/officeDocument/2006/relationships/notesMaster" Target="/ppt/notesMasters/notesMaster1.xml" Id="Rdd41b425fea04e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bae896f034b64b91" /><Relationship Type="http://schemas.openxmlformats.org/officeDocument/2006/relationships/notesMaster" Target="/ppt/notesMasters/notesMaster1.xml" Id="R63d18a39a99c468a"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eaba5999884056" /><Relationship Type="http://schemas.openxmlformats.org/officeDocument/2006/relationships/notesMaster" Target="/ppt/notesMasters/notesMaster1.xml" Id="R0ff48f222a94494a" /></Relationships>
</file>

<file path=ppt/notesSlides/_rels/notesSlide6.xml.rels>&#65279;<?xml version="1.0" encoding="utf-8"?><Relationships xmlns="http://schemas.openxmlformats.org/package/2006/relationships"><Relationship Type="http://schemas.openxmlformats.org/officeDocument/2006/relationships/slide" Target="/ppt/slides/slide6.xml" Id="Rbfba7005eac74e1b" /><Relationship Type="http://schemas.openxmlformats.org/officeDocument/2006/relationships/notesMaster" Target="/ppt/notesMasters/notesMaster1.xml" Id="R63e65e8ef16243b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af4e9aa4164965" /><Relationship Type="http://schemas.openxmlformats.org/officeDocument/2006/relationships/notesMaster" Target="/ppt/notesMasters/notesMaster1.xml" Id="R22c354a1247f4c41" /></Relationships>
</file>

<file path=ppt/notesSlides/_rels/notesSlide8.xml.rels>&#65279;<?xml version="1.0" encoding="utf-8"?><Relationships xmlns="http://schemas.openxmlformats.org/package/2006/relationships"><Relationship Type="http://schemas.openxmlformats.org/officeDocument/2006/relationships/slide" Target="/ppt/slides/slide8.xml" Id="R2eccc03119074eab" /><Relationship Type="http://schemas.openxmlformats.org/officeDocument/2006/relationships/notesMaster" Target="/ppt/notesMasters/notesMaster1.xml" Id="R9358cd12e9d44255" /></Relationships>
</file>

<file path=ppt/notesSlides/_rels/notesSlide9.xml.rels>&#65279;<?xml version="1.0" encoding="utf-8"?><Relationships xmlns="http://schemas.openxmlformats.org/package/2006/relationships"><Relationship Type="http://schemas.openxmlformats.org/officeDocument/2006/relationships/slide" Target="/ppt/slides/slide9.xml" Id="R31793c0012714230" /><Relationship Type="http://schemas.openxmlformats.org/officeDocument/2006/relationships/notesMaster" Target="/ppt/notesMasters/notesMaster1.xml" Id="R0f2e10eeb72343a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b7b167abf28438f" /><Relationship Type="http://schemas.openxmlformats.org/officeDocument/2006/relationships/notesMaster" Target="/ppt/notesMasters/notesMaster1.xml" Id="Re2444f4cbe754e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Frame DIAL-ALERT as a decision support research program, not a finished clinical product.</a:t>
            </a:r>
          </a:p>
          <a:p xmlns:a="http://schemas.openxmlformats.org/drawingml/2006/main">
            <a:r>
              <a:t>• The executive question is whether the evidence justifies a controlled local validation and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The 69.1% figure describes retrospective ranking at a fixed review capacity.</a:t>
            </a:r>
          </a:p>
          <a:p xmlns:a="http://schemas.openxmlformats.org/drawingml/2006/main">
            <a:r>
              <a:t>• It does not mean that 69.1% of events would be prevented.</a:t>
            </a:r>
          </a:p>
          <a:p xmlns:a="http://schemas.openxmlformats.org/drawingml/2006/main">
            <a:r>
              <a:t>• The requested decision is funding for evidence generation, not clinical rollout.</a:t>
            </a:r>
          </a:p>
          <a:p xmlns:a="http://schemas.openxmlformats.org/drawingml/2006/main">
            <a:r>
              <a:t/>
            </a:r>
          </a:p>
          <a:p xmlns:a="http://schemas.openxmlformats.org/drawingml/2006/main">
            <a:r>
              <a:t>Sources</a:t>
            </a:r>
          </a:p>
          <a:p xmlns:a="http://schemas.openxmlformats.org/drawingml/2006/main">
            <a:r>
              <a:t>• Project artifact: artifacts/capacity_metrics.csv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DIAL-ALERT would create a review cue, not a diagnosis or treatment order.</a:t>
            </a:r>
          </a:p>
          <a:p xmlns:a="http://schemas.openxmlformats.org/drawingml/2006/main">
            <a:r>
              <a:t>• The pilot must measure how clinicians interpret, override, and act on the score.</a:t>
            </a:r>
          </a:p>
          <a:p xmlns:a="http://schemas.openxmlformats.org/drawingml/2006/main">
            <a:r>
              <a:t>• Integration should use the minimum necessary data and preserve an auditable human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The dataset is large enough to compare several tabular models and examine operational ranking.</a:t>
            </a:r>
          </a:p>
          <a:p xmlns:a="http://schemas.openxmlformats.org/drawingml/2006/main">
            <a:r>
              <a:t>• Generalisation remains uncertain because the data come from a single public retrospective source and only 170 patients form the test partition.</a:t>
            </a:r>
          </a:p>
          <a:p xmlns:a="http://schemas.openxmlformats.org/drawingml/2006/main">
            <a:r>
              <a:t>• The outcome is a blood-pressure threshold and does not include symptoms, interventions, or clinician assessments.</a:t>
            </a:r>
          </a:p>
          <a:p xmlns:a="http://schemas.openxmlformats.org/drawingml/2006/main">
            <a:r>
              <a:t/>
            </a:r>
          </a:p>
          <a:p xmlns:a="http://schemas.openxmlformats.org/drawingml/2006/main">
            <a:r>
              <a:t>Sources</a:t>
            </a:r>
          </a:p>
          <a:p xmlns:a="http://schemas.openxmlformats.org/drawingml/2006/main">
            <a:r>
              <a:t>• Lin CJ et al. Scientific Data. 2019. https://doi.org/10.1038/s41597-019-0319-8</a:t>
            </a:r>
          </a:p>
          <a:p xmlns:a="http://schemas.openxmlformats.org/drawingml/2006/main">
            <a:r>
              <a:t>• Project report: reports/Franklin_Guillano_DIAL_ALERT_Data_Collection_and_Understanding_Report.pdf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Per 100 sessions, the model places approximately 5.9 of 8.5 observed events in the 20-session review group.</a:t>
            </a:r>
          </a:p>
          <a:p xmlns:a="http://schemas.openxmlformats.org/drawingml/2006/main">
            <a:r>
              <a:t>• The same review group contains approximately 14.1 sessions without the event, which creates staff workload and potential alert fatigue.</a:t>
            </a:r>
          </a:p>
          <a:p xmlns:a="http://schemas.openxmlformats.org/drawingml/2006/main">
            <a:r>
              <a:t>• A prospective study must determine whether review changes treatment safely and prevents meaningful outcomes.</a:t>
            </a:r>
          </a:p>
          <a:p xmlns:a="http://schemas.openxmlformats.org/drawingml/2006/main">
            <a:r>
              <a:t/>
            </a:r>
          </a:p>
          <a:p xmlns:a="http://schemas.openxmlformats.org/drawingml/2006/main">
            <a:r>
              <a:t>Sources</a:t>
            </a:r>
          </a:p>
          <a:p xmlns:a="http://schemas.openxmlformats.org/drawingml/2006/main">
            <a:r>
              <a:t>• Project artifacts: artifacts/capacity_metrics.csv and artifacts/final_test_metrics.json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No cost savings are claimed because the retrospective data contain neither intervention effects nor reliable cost data.</a:t>
            </a:r>
          </a:p>
          <a:p xmlns:a="http://schemas.openxmlformats.org/drawingml/2006/main">
            <a:r>
              <a:t>• The pilot should record alert review time, action, adverse consequences, and downstream events.</a:t>
            </a:r>
          </a:p>
          <a:p xmlns:a="http://schemas.openxmlformats.org/drawingml/2006/main">
            <a:r>
              <a:t>• The economic evaluation must compare DIAL-ALERT with current practice, including implementation and governance costs.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Recorded sex shows a disparate-impact ratio of 0.705 and equalized-odds gap of 0.076 in the original model.</a:t>
            </a:r>
          </a:p>
          <a:p xmlns:a="http://schemas.openxmlformats.org/drawingml/2006/main">
            <a:r>
              <a:t>• Sex-outcome reweighting improves these summaries but does not eliminate disparity.</a:t>
            </a:r>
          </a:p>
          <a:p xmlns:a="http://schemas.openxmlformats.org/drawingml/2006/main">
            <a:r>
              <a:t>• Age-group disparate impact is 0.541. Diabetes selection rates are similar, but sensitivity differs.</a:t>
            </a:r>
          </a:p>
          <a:p xmlns:a="http://schemas.openxmlformats.org/drawingml/2006/main">
            <a:r>
              <a:t>• Unavailable attributes must be collected prospectively with consent and governance rather than inferred through proxies.</a:t>
            </a:r>
          </a:p>
          <a:p xmlns:a="http://schemas.openxmlformats.org/drawingml/2006/main">
            <a:r>
              <a:t/>
            </a:r>
          </a:p>
          <a:p xmlns:a="http://schemas.openxmlformats.org/drawingml/2006/main">
            <a:r>
              <a:t>Sources</a:t>
            </a:r>
          </a:p>
          <a:p xmlns:a="http://schemas.openxmlformats.org/drawingml/2006/main">
            <a:r>
              <a:t>• Project artifacts: artifacts/step5_disparities.csv and artifacts/step5_attribute_availability.csv</a:t>
            </a:r>
          </a:p>
          <a:p xmlns:a="http://schemas.openxmlformats.org/drawingml/2006/main">
            <a:r>
              <a:t>• WHO. Ethics and governance of AI for health. 2021. https://www.who.int/publications/i/item/9789240029200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 model should not move to live alerts because a retrospective AUC appears strong.</a:t>
            </a:r>
          </a:p>
          <a:p xmlns:a="http://schemas.openxmlformats.org/drawingml/2006/main">
            <a:r>
              <a:t>• Each gate has evidence, ownership, and an explicit stop condition.</a:t>
            </a:r>
          </a:p>
          <a:p xmlns:a="http://schemas.openxmlformats.org/drawingml/2006/main">
            <a:r>
              <a:t>• The rollback plan should identify who disables the model, how clinicians are notified, and how affected decisions are reviewed.</a:t>
            </a:r>
          </a:p>
          <a:p xmlns:a="http://schemas.openxmlformats.org/drawingml/2006/main">
            <a:r>
              <a:t/>
            </a:r>
          </a:p>
          <a:p xmlns:a="http://schemas.openxmlformats.org/drawingml/2006/main">
            <a:r>
              <a:t>Sources</a:t>
            </a:r>
          </a:p>
          <a:p xmlns:a="http://schemas.openxmlformats.org/drawingml/2006/main">
            <a:r>
              <a:t>• Project artifact: artifacts/step5_ethical_risk_register.csv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The 90-day schedule is illustrative and conditional. Targets were drafted after the retrospective study and were not original prespecified study criteria. They concern feasibility, not demonstrated clinical benefit. Clinical and operational leads must approve the strategy, sample size, confidence-interval requirements and stop rules before collecting pilot outcomes.</a:t>
            </a:r>
          </a:p>
          <a:p xmlns:a="http://schemas.openxmlformats.org/drawingml/2006/main">
            <a:r>
              <a:t>• Silent mode evaluates data delivery and score behavior without displaying alerts. Time review work in simulation first. The separate draft total-review budget is at most 40 minutes per 100 sessions. A median of two minutes does not imply a two-minute mean; measure total time and tail times directly.</a:t>
            </a:r>
          </a:p>
          <a:p xmlns:a="http://schemas.openxmlformats.org/drawingml/2006/main">
            <a:r>
              <a:t>• The supervised pilot begins only if external validity, operational feasibility, privacy, and equity gates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Ask leaders to approve the evidence-generating pathway and named governance ownership.</a:t>
            </a:r>
          </a:p>
          <a:p xmlns:a="http://schemas.openxmlformats.org/drawingml/2006/main">
            <a:r>
              <a:t>• Do not frame the decision as approval of a clinical tool.</a:t>
            </a:r>
          </a:p>
          <a:p xmlns:a="http://schemas.openxmlformats.org/drawingml/2006/main">
            <a:r>
              <a:t>• The 90-day review should decide whether a larger prospective effectiveness study is justified.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0346ddfb251493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1029d285184cba" /><Relationship Type="http://schemas.openxmlformats.org/officeDocument/2006/relationships/slideLayout" Target="/ppt/slideLayouts/slideLayout1.xml" Id="R275874af07954c8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5874af07954c8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DIAL-ALERT">
  <a:themeElements>
    <a:clrScheme name="DIAL-ALER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DIAL-ALER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88fe20485524682" /><Relationship Type="http://schemas.openxmlformats.org/officeDocument/2006/relationships/notesSlide" Target="/ppt/notesSlides/notesSlide1.xml" Id="R02ec1cc7ee82426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7d3ea7fa0ac46ca" /><Relationship Type="http://schemas.openxmlformats.org/officeDocument/2006/relationships/notesSlide" Target="/ppt/notesSlides/notesSlide2.xml" Id="R6d50bd9702ea458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cf6944b40aa4dd4" /><Relationship Type="http://schemas.openxmlformats.org/officeDocument/2006/relationships/notesSlide" Target="/ppt/notesSlides/notesSlide3.xml" Id="Raf6de47d49d343c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21e5be9cfb44244" /><Relationship Type="http://schemas.openxmlformats.org/officeDocument/2006/relationships/image" Target="/ppt/media/image.png" Id="Ra20fd4d4b1ac4233" /><Relationship Type="http://schemas.openxmlformats.org/officeDocument/2006/relationships/notesSlide" Target="/ppt/notesSlides/notesSlide4.xml" Id="R1fe71dbba5d84d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3935cf3dfd044a2" /><Relationship Type="http://schemas.openxmlformats.org/officeDocument/2006/relationships/chart" Target="/ppt/slides/charts/chart1.xml" Id="R3ee277c1cee04224" /><Relationship Type="http://schemas.openxmlformats.org/officeDocument/2006/relationships/chart" Target="/ppt/slides/charts/chart2.xml" Id="R42931ae315434791" /><Relationship Type="http://schemas.openxmlformats.org/officeDocument/2006/relationships/notesSlide" Target="/ppt/notesSlides/notesSlide5.xml" Id="R783c5c002cf34c2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9dd178eb581418e" /><Relationship Type="http://schemas.openxmlformats.org/officeDocument/2006/relationships/notesSlide" Target="/ppt/notesSlides/notesSlide6.xml" Id="Rd2fbbcd471d848e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a2d992106da4959" /><Relationship Type="http://schemas.openxmlformats.org/officeDocument/2006/relationships/image" Target="/ppt/media/image2.png" Id="R6663d801802144d3" /><Relationship Type="http://schemas.openxmlformats.org/officeDocument/2006/relationships/notesSlide" Target="/ppt/notesSlides/notesSlide7.xml" Id="R8875f98f6e0049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7d00e6f1d034117" /><Relationship Type="http://schemas.openxmlformats.org/officeDocument/2006/relationships/notesSlide" Target="/ppt/notesSlides/notesSlide8.xml" Id="Radfd469cd81b45c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034d37860254c63" /><Relationship Type="http://schemas.openxmlformats.org/officeDocument/2006/relationships/notesSlide" Target="/ppt/notesSlides/notesSlide9.xml" Id="Rddcfd27d53094e2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7069a99c1114649" /><Relationship Type="http://schemas.openxmlformats.org/officeDocument/2006/relationships/notesSlide" Target="/ppt/notesSlides/notesSlide10.xml" Id="R93c0b4f96487497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doughnutChart>
        <c:ser>
          <c:idx val="0"/>
          <c:order val="0"/>
          <c:tx>
            <c:v>Observed events</c:v>
          </c:tx>
          <c:dPt>
            <c:idx val="0"/>
            <c:spPr>
              <a:solidFill xmlns:a="http://schemas.openxmlformats.org/drawingml/2006/main">
                <a:srgbClr val="2A9D8F"/>
              </a:solidFill>
            </c:spPr>
          </c:dPt>
          <c:dPt>
            <c:idx val="1"/>
            <c:spPr>
              <a:solidFill xmlns:a="http://schemas.openxmlformats.org/drawingml/2006/main">
                <a:srgbClr val="D9E2EC"/>
              </a:solidFill>
            </c:spPr>
          </c:dPt>
          <c:cat>
            <c:strRef>
              <c:f>'Chart Data'!$A$2:$A$3</c:f>
              <c:strCache>
                <c:ptCount val="2"/>
                <c:pt idx="0">
                  <c:v>Captured in alert group</c:v>
                </c:pt>
                <c:pt idx="1">
                  <c:v>Outside alert group</c:v>
                </c:pt>
              </c:strCache>
            </c:strRef>
          </c:cat>
          <c:val>
            <c:numRef>
              <c:f>'Chart Data'!$B$2:$B$3</c:f>
              <c:numCache>
                <c:formatCode>0.0</c:formatCode>
                <c:ptCount val="2"/>
                <c:pt idx="0">
                  <c:v>5.87</c:v>
                </c:pt>
                <c:pt idx="1">
                  <c:v>2.62</c:v>
                </c:pt>
              </c:numCache>
            </c:numRef>
          </c:val>
        </c:ser>
        <c:dLbls>
          <c:txPr>
            <a:bodyPr xmlns:a="http://schemas.openxmlformats.org/drawingml/2006/main" anchorCtr="1"/>
            <a:lstStyle xmlns:a="http://schemas.openxmlformats.org/drawingml/2006/main"/>
            <a:p xmlns:a="http://schemas.openxmlformats.org/drawingml/2006/main">
              <a:pPr>
                <a:defRPr sz="1275" b="1">
                  <a:solidFill>
                    <a:srgbClr val="102A43"/>
                  </a:solidFill>
                  <a:latin typeface="Nimbus Sans"/>
                  <a:ea typeface="Nimbus Sans"/>
                  <a:cs typeface="Nimbus Sans"/>
                </a:defRPr>
              </a:pPr>
            </a:p>
          </c:txPr>
          <c:showLegendKey val="0"/>
          <c:showVal val="0"/>
          <c:showCatName val="0"/>
          <c:showSerName val="0"/>
          <c:showPercent val="1"/>
          <c:showBubbleSize val="0"/>
          <c:showLeaderLines val="0"/>
        </c:dLbls>
        <c:holeSize val="62"/>
      </c:doughnutChart>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doughnutChart>
        <c:ser>
          <c:idx val="0"/>
          <c:order val="0"/>
          <c:tx>
            <c:v>Alert reviews</c:v>
          </c:tx>
          <c:dPt>
            <c:idx val="0"/>
            <c:spPr>
              <a:solidFill xmlns:a="http://schemas.openxmlformats.org/drawingml/2006/main">
                <a:srgbClr val="E76F51"/>
              </a:solidFill>
            </c:spPr>
          </c:dPt>
          <c:dPt>
            <c:idx val="1"/>
            <c:spPr>
              <a:solidFill xmlns:a="http://schemas.openxmlformats.org/drawingml/2006/main">
                <a:srgbClr val="E9C46A"/>
              </a:solidFill>
            </c:spPr>
          </c:dPt>
          <c:cat>
            <c:strRef>
              <c:f>'Chart Data'!$A$2:$A$3</c:f>
              <c:strCache>
                <c:ptCount val="2"/>
                <c:pt idx="0">
                  <c:v>Observed event</c:v>
                </c:pt>
                <c:pt idx="1">
                  <c:v>No observed event</c:v>
                </c:pt>
              </c:strCache>
            </c:strRef>
          </c:cat>
          <c:val>
            <c:numRef>
              <c:f>'Chart Data'!$B$2:$B$3</c:f>
              <c:numCache>
                <c:formatCode>0.0</c:formatCode>
                <c:ptCount val="2"/>
                <c:pt idx="0">
                  <c:v>5.87</c:v>
                </c:pt>
                <c:pt idx="1">
                  <c:v>14.13</c:v>
                </c:pt>
              </c:numCache>
            </c:numRef>
          </c:val>
        </c:ser>
        <c:dLbls>
          <c:txPr>
            <a:bodyPr xmlns:a="http://schemas.openxmlformats.org/drawingml/2006/main" anchorCtr="1"/>
            <a:lstStyle xmlns:a="http://schemas.openxmlformats.org/drawingml/2006/main"/>
            <a:p xmlns:a="http://schemas.openxmlformats.org/drawingml/2006/main">
              <a:pPr>
                <a:defRPr sz="1275" b="1">
                  <a:solidFill>
                    <a:srgbClr val="102A43"/>
                  </a:solidFill>
                  <a:latin typeface="Nimbus Sans"/>
                  <a:ea typeface="Nimbus Sans"/>
                  <a:cs typeface="Nimbus Sans"/>
                </a:defRPr>
              </a:pPr>
            </a:p>
          </c:txPr>
          <c:showLegendKey val="0"/>
          <c:showVal val="0"/>
          <c:showCatName val="0"/>
          <c:showSerName val="0"/>
          <c:showPercent val="1"/>
          <c:showBubbleSize val="0"/>
          <c:showLeaderLines val="0"/>
        </c:dLbls>
        <c:holeSize val="62"/>
      </c:doughnutChart>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64F804A-AFAC-4B67-9E63-431F71EC57A5}"/>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80FCA66-B56C-49DE-A787-D6F874156600}"/>
              </a:ext>
            </a:extLst>
          </p:cNvPr>
          <p:cNvSpPr>
            <a:spLocks xmlns:a="http://schemas.openxmlformats.org/drawingml/2006/main" noGrp="1"/>
          </p:cNvSpPr>
          <p:nvPr/>
        </p:nvSpPr>
        <p:spPr>
          <a:xfrm xmlns:a="http://schemas.openxmlformats.org/drawingml/2006/main">
            <a:off x="781050" y="7620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i="0">
                <a:solidFill>
                  <a:srgbClr val="E9C46A"/>
                </a:solidFill>
                <a:latin typeface="Nimbus Sans"/>
                <a:ea typeface="Nimbus Sans"/>
                <a:cs typeface="Nimbus Sans"/>
              </a:defRPr>
            </a:pPr>
            <a:r>
              <a:rPr sz="1350" b="1" i="0">
                <a:solidFill>
                  <a:srgbClr val="E9C46A"/>
                </a:solidFill>
                <a:latin typeface="Nimbus Sans"/>
                <a:ea typeface="Nimbus Sans"/>
                <a:cs typeface="Nimbus Sans"/>
              </a:rPr>
              <a:t>EXECUTIVE PRESENTATION</a:t>
            </a:r>
          </a:p>
        </p:txBody>
      </p:sp>
      <p:sp>
        <p:nvSpPr>
          <p:cNvPr id="3" name="">
            <a:extLst xmlns:a="http://schemas.openxmlformats.org/drawingml/2006/main">
              <a:ext uri="{FF2B5EF4-FFF2-40B4-BE49-F238E27FC236}">
                <a16:creationId xmlns:a16="http://schemas.microsoft.com/office/drawing/2014/main" id="{847A2D03-BA4C-435D-8331-A986BF05C869}"/>
              </a:ext>
            </a:extLst>
          </p:cNvPr>
          <p:cNvSpPr>
            <a:spLocks xmlns:a="http://schemas.openxmlformats.org/drawingml/2006/main" noGrp="1"/>
          </p:cNvSpPr>
          <p:nvPr/>
        </p:nvSpPr>
        <p:spPr>
          <a:xfrm xmlns:a="http://schemas.openxmlformats.org/drawingml/2006/main">
            <a:off x="742950" y="1381125"/>
            <a:ext cx="8096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700" b="1" i="0">
                <a:solidFill>
                  <a:srgbClr val="FFFFFF"/>
                </a:solidFill>
                <a:latin typeface="Nimbus Sans"/>
                <a:ea typeface="Nimbus Sans"/>
                <a:cs typeface="Nimbus Sans"/>
              </a:defRPr>
            </a:pPr>
            <a:r>
              <a:rPr sz="5700" b="1" i="0">
                <a:solidFill>
                  <a:srgbClr val="FFFFFF"/>
                </a:solidFill>
                <a:latin typeface="Nimbus Sans"/>
                <a:ea typeface="Nimbus Sans"/>
                <a:cs typeface="Nimbus Sans"/>
              </a:rPr>
              <a:t>DIAL-ALERT</a:t>
            </a:r>
          </a:p>
        </p:txBody>
      </p:sp>
      <p:sp>
        <p:nvSpPr>
          <p:cNvPr id="4" name="">
            <a:extLst xmlns:a="http://schemas.openxmlformats.org/drawingml/2006/main">
              <a:ext uri="{FF2B5EF4-FFF2-40B4-BE49-F238E27FC236}">
                <a16:creationId xmlns:a16="http://schemas.microsoft.com/office/drawing/2014/main" id="{5EBF0EB0-A76E-4D41-AE60-1D46E9E4E798}"/>
              </a:ext>
            </a:extLst>
          </p:cNvPr>
          <p:cNvSpPr>
            <a:spLocks xmlns:a="http://schemas.openxmlformats.org/drawingml/2006/main" noGrp="1"/>
          </p:cNvSpPr>
          <p:nvPr/>
        </p:nvSpPr>
        <p:spPr>
          <a:xfrm xmlns:a="http://schemas.openxmlformats.org/drawingml/2006/main">
            <a:off x="781050" y="2524125"/>
            <a:ext cx="9048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i="0">
                <a:solidFill>
                  <a:srgbClr val="D9E2EC"/>
                </a:solidFill>
                <a:latin typeface="Nimbus Sans"/>
                <a:ea typeface="Nimbus Sans"/>
                <a:cs typeface="Nimbus Sans"/>
              </a:defRPr>
            </a:pPr>
            <a:r>
              <a:rPr sz="2550" b="0" i="0">
                <a:solidFill>
                  <a:srgbClr val="D9E2EC"/>
                </a:solidFill>
                <a:latin typeface="Nimbus Sans"/>
                <a:ea typeface="Nimbus Sans"/>
                <a:cs typeface="Nimbus Sans"/>
              </a:rPr>
              <a:t>A governed path to earlier review of</a:t>
            </a:r>
          </a:p>
          <a:p xmlns:a="http://schemas.openxmlformats.org/drawingml/2006/main">
            <a:pPr algn="l">
              <a:defRPr sz="2550" b="0" i="0">
                <a:solidFill>
                  <a:srgbClr val="D9E2EC"/>
                </a:solidFill>
                <a:latin typeface="Nimbus Sans"/>
                <a:ea typeface="Nimbus Sans"/>
                <a:cs typeface="Nimbus Sans"/>
              </a:defRPr>
            </a:pPr>
            <a:r>
              <a:rPr sz="2550" b="0" i="0">
                <a:solidFill>
                  <a:srgbClr val="D9E2EC"/>
                </a:solidFill>
                <a:latin typeface="Nimbus Sans"/>
                <a:ea typeface="Nimbus Sans"/>
                <a:cs typeface="Nimbus Sans"/>
              </a:rPr>
              <a:t>intradialytic hypotension risk</a:t>
            </a:r>
          </a:p>
        </p:txBody>
      </p:sp>
      <p:sp>
        <p:nvSpPr>
          <p:cNvPr id="5" name="">
            <a:extLst xmlns:a="http://schemas.openxmlformats.org/drawingml/2006/main">
              <a:ext uri="{FF2B5EF4-FFF2-40B4-BE49-F238E27FC236}">
                <a16:creationId xmlns:a16="http://schemas.microsoft.com/office/drawing/2014/main" id="{E06B33E6-0E93-40D3-B4A3-7128DC83F432}"/>
              </a:ext>
            </a:extLst>
          </p:cNvPr>
          <p:cNvSpPr>
            <a:spLocks xmlns:a="http://schemas.openxmlformats.org/drawingml/2006/main" noGrp="1"/>
          </p:cNvSpPr>
          <p:nvPr/>
        </p:nvSpPr>
        <p:spPr>
          <a:xfrm xmlns:a="http://schemas.openxmlformats.org/drawingml/2006/main">
            <a:off x="781050" y="4114800"/>
            <a:ext cx="3429000" cy="0"/>
          </a:xfrm>
          <a:prstGeom xmlns:a="http://schemas.openxmlformats.org/drawingml/2006/main" prst="line">
            <a:avLst/>
          </a:prstGeom>
          <a:noFill xmlns:a="http://schemas.openxmlformats.org/drawingml/2006/main"/>
          <a:ln xmlns:a="http://schemas.openxmlformats.org/drawingml/2006/main" w="38100">
            <a:solidFill>
              <a:srgbClr val="E76F51"/>
            </a:solidFill>
            <a:prstDash val="solid"/>
          </a:ln>
        </p:spPr>
      </p:sp>
      <p:sp>
        <p:nvSpPr>
          <p:cNvPr id="6" name="">
            <a:extLst xmlns:a="http://schemas.openxmlformats.org/drawingml/2006/main">
              <a:ext uri="{FF2B5EF4-FFF2-40B4-BE49-F238E27FC236}">
                <a16:creationId xmlns:a16="http://schemas.microsoft.com/office/drawing/2014/main" id="{7760B3E2-F9E9-420E-8D46-83C59C8C4B13}"/>
              </a:ext>
            </a:extLst>
          </p:cNvPr>
          <p:cNvSpPr>
            <a:spLocks xmlns:a="http://schemas.openxmlformats.org/drawingml/2006/main" noGrp="1"/>
          </p:cNvSpPr>
          <p:nvPr/>
        </p:nvSpPr>
        <p:spPr>
          <a:xfrm xmlns:a="http://schemas.openxmlformats.org/drawingml/2006/main">
            <a:off x="781050" y="4429125"/>
            <a:ext cx="4953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i="0">
                <a:solidFill>
                  <a:srgbClr val="D9E2EC"/>
                </a:solidFill>
                <a:latin typeface="Nimbus Sans"/>
                <a:ea typeface="Nimbus Sans"/>
                <a:cs typeface="Nimbus Sans"/>
              </a:defRPr>
            </a:pPr>
            <a:r>
              <a:rPr sz="1575" b="0" i="0">
                <a:solidFill>
                  <a:srgbClr val="D9E2EC"/>
                </a:solidFill>
                <a:latin typeface="Nimbus Sans"/>
                <a:ea typeface="Nimbus Sans"/>
                <a:cs typeface="Nimbus Sans"/>
              </a:rPr>
              <a:t>Franklin Guillano</a:t>
            </a:r>
          </a:p>
          <a:p xmlns:a="http://schemas.openxmlformats.org/drawingml/2006/main">
            <a:pPr algn="l">
              <a:defRPr sz="1575" b="0" i="0">
                <a:solidFill>
                  <a:srgbClr val="D9E2EC"/>
                </a:solidFill>
                <a:latin typeface="Nimbus Sans"/>
                <a:ea typeface="Nimbus Sans"/>
                <a:cs typeface="Nimbus Sans"/>
              </a:defRPr>
            </a:pPr>
            <a:r>
              <a:rPr sz="1575" b="0" i="0">
                <a:solidFill>
                  <a:srgbClr val="D9E2EC"/>
                </a:solidFill>
                <a:latin typeface="Nimbus Sans"/>
                <a:ea typeface="Nimbus Sans"/>
                <a:cs typeface="Nimbus Sans"/>
              </a:rPr>
              <a:t>Capstone Project, Step 6</a:t>
            </a:r>
          </a:p>
          <a:p xmlns:a="http://schemas.openxmlformats.org/drawingml/2006/main">
            <a:pPr algn="l">
              <a:defRPr sz="1575" b="0" i="0">
                <a:solidFill>
                  <a:srgbClr val="D9E2EC"/>
                </a:solidFill>
                <a:latin typeface="Nimbus Sans"/>
                <a:ea typeface="Nimbus Sans"/>
                <a:cs typeface="Nimbus Sans"/>
              </a:defRPr>
            </a:pPr>
            <a:r>
              <a:rPr sz="1575" b="0" i="0">
                <a:solidFill>
                  <a:srgbClr val="D9E2EC"/>
                </a:solidFill>
                <a:latin typeface="Nimbus Sans"/>
                <a:ea typeface="Nimbus Sans"/>
                <a:cs typeface="Nimbus Sans"/>
              </a:rPr>
              <a:t>September 2026</a:t>
            </a:r>
          </a:p>
        </p:txBody>
      </p:sp>
      <p:sp>
        <p:nvSpPr>
          <p:cNvPr id="7" name="">
            <a:extLst xmlns:a="http://schemas.openxmlformats.org/drawingml/2006/main">
              <a:ext uri="{FF2B5EF4-FFF2-40B4-BE49-F238E27FC236}">
                <a16:creationId xmlns:a16="http://schemas.microsoft.com/office/drawing/2014/main" id="{58AE0CA6-6DF2-4EA3-AC78-F6030649A71E}"/>
              </a:ext>
            </a:extLst>
          </p:cNvPr>
          <p:cNvSpPr>
            <a:spLocks xmlns:a="http://schemas.openxmlformats.org/drawingml/2006/main" noGrp="1"/>
          </p:cNvSpPr>
          <p:nvPr/>
        </p:nvSpPr>
        <p:spPr>
          <a:xfrm xmlns:a="http://schemas.openxmlformats.org/drawingml/2006/main">
            <a:off x="6667500" y="5572125"/>
            <a:ext cx="457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1" i="0">
                <a:solidFill>
                  <a:srgbClr val="F4A261"/>
                </a:solidFill>
                <a:latin typeface="Nimbus Sans"/>
                <a:ea typeface="Nimbus Sans"/>
                <a:cs typeface="Nimbus Sans"/>
              </a:defRPr>
            </a:pPr>
            <a:r>
              <a:rPr sz="1350" b="1" i="0">
                <a:solidFill>
                  <a:srgbClr val="F4A261"/>
                </a:solidFill>
                <a:latin typeface="Nimbus Sans"/>
                <a:ea typeface="Nimbus Sans"/>
                <a:cs typeface="Nimbus Sans"/>
              </a:rPr>
              <a:t>Decision brief: value, risk, and pilot strategy</a:t>
            </a:r>
          </a:p>
        </p:txBody>
      </p:sp>
      <p:sp>
        <p:nvSpPr>
          <p:cNvPr id="8" name="">
            <a:extLst xmlns:a="http://schemas.openxmlformats.org/drawingml/2006/main">
              <a:ext uri="{FF2B5EF4-FFF2-40B4-BE49-F238E27FC236}">
                <a16:creationId xmlns:a16="http://schemas.microsoft.com/office/drawing/2014/main" id="{4C6EB808-6558-4ECA-ABC7-7DC18D8CC76A}"/>
              </a:ext>
            </a:extLst>
          </p:cNvPr>
          <p:cNvSpPr>
            <a:spLocks xmlns:a="http://schemas.openxmlformats.org/drawingml/2006/main" noGrp="1"/>
          </p:cNvSpPr>
          <p:nvPr/>
        </p:nvSpPr>
        <p:spPr>
          <a:xfrm xmlns:a="http://schemas.openxmlformats.org/drawingml/2006/main">
            <a:off x="514350" y="6496050"/>
            <a:ext cx="11163300" cy="0"/>
          </a:xfrm>
          <a:prstGeom xmlns:a="http://schemas.openxmlformats.org/drawingml/2006/main" prst="line">
            <a:avLst/>
          </a:prstGeom>
          <a:noFill xmlns:a="http://schemas.openxmlformats.org/drawingml/2006/main"/>
          <a:ln xmlns:a="http://schemas.openxmlformats.org/drawingml/2006/main" w="9525">
            <a:solidFill>
              <a:srgbClr val="3A5268"/>
            </a:solidFill>
            <a:prstDash val="solid"/>
          </a:ln>
        </p:spPr>
      </p:sp>
      <p:sp>
        <p:nvSpPr>
          <p:cNvPr id="9" name="">
            <a:extLst xmlns:a="http://schemas.openxmlformats.org/drawingml/2006/main">
              <a:ext uri="{FF2B5EF4-FFF2-40B4-BE49-F238E27FC236}">
                <a16:creationId xmlns:a16="http://schemas.microsoft.com/office/drawing/2014/main" id="{89BF2BE9-B28E-43D6-8AFA-0CFFD7EE7B8C}"/>
              </a:ext>
            </a:extLst>
          </p:cNvPr>
          <p:cNvSpPr>
            <a:spLocks xmlns:a="http://schemas.openxmlformats.org/drawingml/2006/main" noGrp="1"/>
          </p:cNvSpPr>
          <p:nvPr/>
        </p:nvSpPr>
        <p:spPr>
          <a:xfrm xmlns:a="http://schemas.openxmlformats.org/drawingml/2006/main">
            <a:off x="514350" y="6562725"/>
            <a:ext cx="11163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i="0">
                <a:solidFill>
                  <a:srgbClr val="B8C8D6"/>
                </a:solidFill>
                <a:latin typeface="Nimbus Sans"/>
                <a:ea typeface="Nimbus Sans"/>
                <a:cs typeface="Nimbus Sans"/>
              </a:defRPr>
            </a:pPr>
            <a:r>
              <a:rPr sz="975" b="0" i="0">
                <a:solidFill>
                  <a:srgbClr val="B8C8D6"/>
                </a:solidFill>
                <a:latin typeface="Nimbus Sans"/>
                <a:ea typeface="Nimbus Sans"/>
                <a:cs typeface="Nimbus Sans"/>
              </a:rPr>
              <a:t>DIAL-ALERT executive presentation  /  01</a:t>
            </a:r>
          </a:p>
        </p:txBody>
      </p:sp>
    </p:spTree>
    <p:extLst>
      <p:ext uri="{BB962C8B-B14F-4D97-AF65-F5344CB8AC3E}">
        <p14:creationId xmlns:p14="http://schemas.microsoft.com/office/powerpoint/2010/main" val="2097706891"/>
      </p:ext>
    </p:extLst>
  </p:cSld>
</p:sld>
</file>

<file path=ppt/slides/slide2.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7B51BDE-967D-462C-9195-C7A7CA0F35E1}"/>
              </a:ext>
            </a:extLst>
          </p:cNvPr>
          <p:cNvSpPr>
            <a:spLocks xmlns:a="http://schemas.openxmlformats.org/drawingml/2006/main" noGrp="1"/>
          </p:cNvSpPr>
          <p:nvPr/>
        </p:nvSpPr>
        <p:spPr>
          <a:xfrm xmlns:a="http://schemas.openxmlformats.org/drawingml/2006/main">
            <a:off x="514350" y="400050"/>
            <a:ext cx="76200" cy="781050"/>
          </a:xfrm>
          <a:prstGeom xmlns:a="http://schemas.openxmlformats.org/drawingml/2006/main" prst="rect">
            <a:avLst/>
          </a:prstGeom>
          <a:solidFill xmlns:a="http://schemas.openxmlformats.org/drawingml/2006/main">
            <a:srgbClr val="E9C46A"/>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E964305-0686-4DE4-A00F-80D18CB50F81}"/>
              </a:ext>
            </a:extLst>
          </p:cNvPr>
          <p:cNvSpPr>
            <a:spLocks xmlns:a="http://schemas.openxmlformats.org/drawingml/2006/main" noGrp="1"/>
          </p:cNvSpPr>
          <p:nvPr/>
        </p:nvSpPr>
        <p:spPr>
          <a:xfrm xmlns:a="http://schemas.openxmlformats.org/drawingml/2006/main">
            <a:off x="781050" y="333375"/>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225" b="1" i="0">
                <a:solidFill>
                  <a:srgbClr val="FFFFFF"/>
                </a:solidFill>
                <a:latin typeface="Nimbus Sans"/>
                <a:ea typeface="Nimbus Sans"/>
                <a:cs typeface="Nimbus Sans"/>
              </a:defRPr>
            </a:pPr>
            <a:r>
              <a:rPr sz="3225" b="1" i="0">
                <a:solidFill>
                  <a:srgbClr val="FFFFFF"/>
                </a:solidFill>
                <a:latin typeface="Nimbus Sans"/>
                <a:ea typeface="Nimbus Sans"/>
                <a:cs typeface="Nimbus Sans"/>
              </a:rPr>
              <a:t>Potential value and remaining evidence</a:t>
            </a:r>
          </a:p>
        </p:txBody>
      </p:sp>
      <p:sp>
        <p:nvSpPr>
          <p:cNvPr id="3" name="">
            <a:extLst xmlns:a="http://schemas.openxmlformats.org/drawingml/2006/main">
              <a:ext uri="{FF2B5EF4-FFF2-40B4-BE49-F238E27FC236}">
                <a16:creationId xmlns:a16="http://schemas.microsoft.com/office/drawing/2014/main" id="{59537A88-4C13-4556-A37C-5F32AC47040D}"/>
              </a:ext>
            </a:extLst>
          </p:cNvPr>
          <p:cNvSpPr>
            <a:spLocks xmlns:a="http://schemas.openxmlformats.org/drawingml/2006/main" noGrp="1"/>
          </p:cNvSpPr>
          <p:nvPr/>
        </p:nvSpPr>
        <p:spPr>
          <a:xfrm xmlns:a="http://schemas.openxmlformats.org/drawingml/2006/main">
            <a:off x="800100" y="866775"/>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D9E2EC"/>
                </a:solidFill>
                <a:latin typeface="Nimbus Sans"/>
                <a:ea typeface="Nimbus Sans"/>
                <a:cs typeface="Nimbus Sans"/>
              </a:defRPr>
            </a:pPr>
            <a:r>
              <a:rPr sz="1425" b="0" i="0">
                <a:solidFill>
                  <a:srgbClr val="D9E2EC"/>
                </a:solidFill>
                <a:latin typeface="Nimbus Sans"/>
                <a:ea typeface="Nimbus Sans"/>
                <a:cs typeface="Nimbus Sans"/>
              </a:rPr>
              <a:t>Internal test performance supports a governed pilot decision</a:t>
            </a:r>
          </a:p>
        </p:txBody>
      </p:sp>
      <p:sp>
        <p:nvSpPr>
          <p:cNvPr id="4" name="">
            <a:extLst xmlns:a="http://schemas.openxmlformats.org/drawingml/2006/main">
              <a:ext uri="{FF2B5EF4-FFF2-40B4-BE49-F238E27FC236}">
                <a16:creationId xmlns:a16="http://schemas.microsoft.com/office/drawing/2014/main" id="{DF31818E-1C23-4AA8-8186-43C5314221BD}"/>
              </a:ext>
            </a:extLst>
          </p:cNvPr>
          <p:cNvSpPr>
            <a:spLocks xmlns:a="http://schemas.openxmlformats.org/drawingml/2006/main" noGrp="1"/>
          </p:cNvSpPr>
          <p:nvPr/>
        </p:nvSpPr>
        <p:spPr>
          <a:xfrm xmlns:a="http://schemas.openxmlformats.org/drawingml/2006/main">
            <a:off x="685800" y="1476375"/>
            <a:ext cx="4095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900" b="1" i="0">
                <a:solidFill>
                  <a:srgbClr val="FFFFFF"/>
                </a:solidFill>
                <a:latin typeface="Nimbus Sans"/>
                <a:ea typeface="Nimbus Sans"/>
                <a:cs typeface="Nimbus Sans"/>
              </a:defRPr>
            </a:pPr>
            <a:r>
              <a:rPr sz="6900" b="1" i="0">
                <a:solidFill>
                  <a:srgbClr val="FFFFFF"/>
                </a:solidFill>
                <a:latin typeface="Nimbus Sans"/>
                <a:ea typeface="Nimbus Sans"/>
                <a:cs typeface="Nimbus Sans"/>
              </a:rPr>
              <a:t>69.1%</a:t>
            </a:r>
          </a:p>
        </p:txBody>
      </p:sp>
      <p:sp>
        <p:nvSpPr>
          <p:cNvPr id="5" name="">
            <a:extLst xmlns:a="http://schemas.openxmlformats.org/drawingml/2006/main">
              <a:ext uri="{FF2B5EF4-FFF2-40B4-BE49-F238E27FC236}">
                <a16:creationId xmlns:a16="http://schemas.microsoft.com/office/drawing/2014/main" id="{2F088708-D5FC-4840-91C5-782DB1DFE8DC}"/>
              </a:ext>
            </a:extLst>
          </p:cNvPr>
          <p:cNvSpPr>
            <a:spLocks xmlns:a="http://schemas.openxmlformats.org/drawingml/2006/main" noGrp="1"/>
          </p:cNvSpPr>
          <p:nvPr/>
        </p:nvSpPr>
        <p:spPr>
          <a:xfrm xmlns:a="http://schemas.openxmlformats.org/drawingml/2006/main">
            <a:off x="723900" y="2647950"/>
            <a:ext cx="4762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i="0">
                <a:solidFill>
                  <a:srgbClr val="D9E2EC"/>
                </a:solidFill>
                <a:latin typeface="Nimbus Sans"/>
                <a:ea typeface="Nimbus Sans"/>
                <a:cs typeface="Nimbus Sans"/>
              </a:defRPr>
            </a:pPr>
            <a:r>
              <a:rPr sz="2175" b="0" i="0">
                <a:solidFill>
                  <a:srgbClr val="D9E2EC"/>
                </a:solidFill>
                <a:latin typeface="Nimbus Sans"/>
                <a:ea typeface="Nimbus Sans"/>
                <a:cs typeface="Nimbus Sans"/>
              </a:rPr>
              <a:t>of observed events appear in the highest-risk 20% of sessions</a:t>
            </a:r>
          </a:p>
        </p:txBody>
      </p:sp>
      <p:sp>
        <p:nvSpPr>
          <p:cNvPr id="6" name="">
            <a:extLst xmlns:a="http://schemas.openxmlformats.org/drawingml/2006/main">
              <a:ext uri="{FF2B5EF4-FFF2-40B4-BE49-F238E27FC236}">
                <a16:creationId xmlns:a16="http://schemas.microsoft.com/office/drawing/2014/main" id="{697A4F7D-7C84-4425-AA5F-5E6434ABEB8F}"/>
              </a:ext>
            </a:extLst>
          </p:cNvPr>
          <p:cNvSpPr>
            <a:spLocks xmlns:a="http://schemas.openxmlformats.org/drawingml/2006/main" noGrp="1"/>
          </p:cNvSpPr>
          <p:nvPr/>
        </p:nvSpPr>
        <p:spPr>
          <a:xfrm xmlns:a="http://schemas.openxmlformats.org/drawingml/2006/main">
            <a:off x="6076950" y="1504950"/>
            <a:ext cx="0" cy="2190750"/>
          </a:xfrm>
          <a:prstGeom xmlns:a="http://schemas.openxmlformats.org/drawingml/2006/main" prst="line">
            <a:avLst/>
          </a:prstGeom>
          <a:noFill xmlns:a="http://schemas.openxmlformats.org/drawingml/2006/main"/>
          <a:ln xmlns:a="http://schemas.openxmlformats.org/drawingml/2006/main" w="19050">
            <a:solidFill>
              <a:srgbClr val="3A5268"/>
            </a:solidFill>
            <a:prstDash val="solid"/>
          </a:ln>
        </p:spPr>
      </p:sp>
      <p:sp>
        <p:nvSpPr>
          <p:cNvPr id="7" name="">
            <a:extLst xmlns:a="http://schemas.openxmlformats.org/drawingml/2006/main">
              <a:ext uri="{FF2B5EF4-FFF2-40B4-BE49-F238E27FC236}">
                <a16:creationId xmlns:a16="http://schemas.microsoft.com/office/drawing/2014/main" id="{F276EA9B-33B8-41A0-A94E-E4015B9856EA}"/>
              </a:ext>
            </a:extLst>
          </p:cNvPr>
          <p:cNvSpPr>
            <a:spLocks xmlns:a="http://schemas.openxmlformats.org/drawingml/2006/main" noGrp="1"/>
          </p:cNvSpPr>
          <p:nvPr/>
        </p:nvSpPr>
        <p:spPr>
          <a:xfrm xmlns:a="http://schemas.openxmlformats.org/drawingml/2006/main">
            <a:off x="6667500" y="1524000"/>
            <a:ext cx="4000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i="0">
                <a:solidFill>
                  <a:srgbClr val="FFFFFF"/>
                </a:solidFill>
                <a:latin typeface="Nimbus Sans"/>
                <a:ea typeface="Nimbus Sans"/>
                <a:cs typeface="Nimbus Sans"/>
              </a:defRPr>
            </a:pPr>
            <a:r>
              <a:rPr sz="4200" b="1" i="0">
                <a:solidFill>
                  <a:srgbClr val="FFFFFF"/>
                </a:solidFill>
                <a:latin typeface="Nimbus Sans"/>
                <a:ea typeface="Nimbus Sans"/>
                <a:cs typeface="Nimbus Sans"/>
              </a:rPr>
              <a:t>29.4%</a:t>
            </a:r>
          </a:p>
        </p:txBody>
      </p:sp>
      <p:sp>
        <p:nvSpPr>
          <p:cNvPr id="8" name="">
            <a:extLst xmlns:a="http://schemas.openxmlformats.org/drawingml/2006/main">
              <a:ext uri="{FF2B5EF4-FFF2-40B4-BE49-F238E27FC236}">
                <a16:creationId xmlns:a16="http://schemas.microsoft.com/office/drawing/2014/main" id="{AA94971D-99FF-403B-B1F6-15CB4B4C53B4}"/>
              </a:ext>
            </a:extLst>
          </p:cNvPr>
          <p:cNvSpPr>
            <a:spLocks xmlns:a="http://schemas.openxmlformats.org/drawingml/2006/main" noGrp="1"/>
          </p:cNvSpPr>
          <p:nvPr/>
        </p:nvSpPr>
        <p:spPr>
          <a:xfrm xmlns:a="http://schemas.openxmlformats.org/drawingml/2006/main">
            <a:off x="6667500" y="22098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D9E2EC"/>
                </a:solidFill>
                <a:latin typeface="Nimbus Sans"/>
                <a:ea typeface="Nimbus Sans"/>
                <a:cs typeface="Nimbus Sans"/>
              </a:defRPr>
            </a:pPr>
            <a:r>
              <a:rPr sz="1425" b="0" i="0">
                <a:solidFill>
                  <a:srgbClr val="D9E2EC"/>
                </a:solidFill>
                <a:latin typeface="Nimbus Sans"/>
                <a:ea typeface="Nimbus Sans"/>
                <a:cs typeface="Nimbus Sans"/>
              </a:rPr>
              <a:t>positive predictive value</a:t>
            </a:r>
          </a:p>
          <a:p xmlns:a="http://schemas.openxmlformats.org/drawingml/2006/main">
            <a:pPr algn="l">
              <a:defRPr sz="1425" b="0" i="0">
                <a:solidFill>
                  <a:srgbClr val="D9E2EC"/>
                </a:solidFill>
                <a:latin typeface="Nimbus Sans"/>
                <a:ea typeface="Nimbus Sans"/>
                <a:cs typeface="Nimbus Sans"/>
              </a:defRPr>
            </a:pPr>
            <a:r>
              <a:rPr sz="1425" b="0" i="0">
                <a:solidFill>
                  <a:srgbClr val="D9E2EC"/>
                </a:solidFill>
                <a:latin typeface="Nimbus Sans"/>
                <a:ea typeface="Nimbus Sans"/>
                <a:cs typeface="Nimbus Sans"/>
              </a:rPr>
              <a:t>at 20% review capacity</a:t>
            </a:r>
          </a:p>
        </p:txBody>
      </p:sp>
      <p:sp>
        <p:nvSpPr>
          <p:cNvPr id="9" name="">
            <a:extLst xmlns:a="http://schemas.openxmlformats.org/drawingml/2006/main">
              <a:ext uri="{FF2B5EF4-FFF2-40B4-BE49-F238E27FC236}">
                <a16:creationId xmlns:a16="http://schemas.microsoft.com/office/drawing/2014/main" id="{3A1EC51C-085D-448A-958E-7BD97672E2BD}"/>
              </a:ext>
            </a:extLst>
          </p:cNvPr>
          <p:cNvSpPr>
            <a:spLocks xmlns:a="http://schemas.openxmlformats.org/drawingml/2006/main" noGrp="1"/>
          </p:cNvSpPr>
          <p:nvPr/>
        </p:nvSpPr>
        <p:spPr>
          <a:xfrm xmlns:a="http://schemas.openxmlformats.org/drawingml/2006/main">
            <a:off x="6667500" y="2857500"/>
            <a:ext cx="4000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i="0">
                <a:solidFill>
                  <a:srgbClr val="FFFFFF"/>
                </a:solidFill>
                <a:latin typeface="Nimbus Sans"/>
                <a:ea typeface="Nimbus Sans"/>
                <a:cs typeface="Nimbus Sans"/>
              </a:defRPr>
            </a:pPr>
            <a:r>
              <a:rPr sz="4200" b="1" i="0">
                <a:solidFill>
                  <a:srgbClr val="FFFFFF"/>
                </a:solidFill>
                <a:latin typeface="Nimbus Sans"/>
                <a:ea typeface="Nimbus Sans"/>
                <a:cs typeface="Nimbus Sans"/>
              </a:rPr>
              <a:t>3.46×</a:t>
            </a:r>
          </a:p>
        </p:txBody>
      </p:sp>
      <p:sp>
        <p:nvSpPr>
          <p:cNvPr id="10" name="">
            <a:extLst xmlns:a="http://schemas.openxmlformats.org/drawingml/2006/main">
              <a:ext uri="{FF2B5EF4-FFF2-40B4-BE49-F238E27FC236}">
                <a16:creationId xmlns:a16="http://schemas.microsoft.com/office/drawing/2014/main" id="{038A9B49-4AFC-437D-89FB-AB6F5F191C8C}"/>
              </a:ext>
            </a:extLst>
          </p:cNvPr>
          <p:cNvSpPr>
            <a:spLocks xmlns:a="http://schemas.openxmlformats.org/drawingml/2006/main" noGrp="1"/>
          </p:cNvSpPr>
          <p:nvPr/>
        </p:nvSpPr>
        <p:spPr>
          <a:xfrm xmlns:a="http://schemas.openxmlformats.org/drawingml/2006/main">
            <a:off x="6667500" y="35433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D9E2EC"/>
                </a:solidFill>
                <a:latin typeface="Nimbus Sans"/>
                <a:ea typeface="Nimbus Sans"/>
                <a:cs typeface="Nimbus Sans"/>
              </a:defRPr>
            </a:pPr>
            <a:r>
              <a:rPr sz="1425" b="0" i="0">
                <a:solidFill>
                  <a:srgbClr val="D9E2EC"/>
                </a:solidFill>
                <a:latin typeface="Nimbus Sans"/>
                <a:ea typeface="Nimbus Sans"/>
                <a:cs typeface="Nimbus Sans"/>
              </a:rPr>
              <a:t>lift over event prevalence</a:t>
            </a:r>
          </a:p>
        </p:txBody>
      </p:sp>
      <p:sp>
        <p:nvSpPr>
          <p:cNvPr id="11" name="">
            <a:extLst xmlns:a="http://schemas.openxmlformats.org/drawingml/2006/main">
              <a:ext uri="{FF2B5EF4-FFF2-40B4-BE49-F238E27FC236}">
                <a16:creationId xmlns:a16="http://schemas.microsoft.com/office/drawing/2014/main" id="{00F370DD-5854-436C-BAC9-A67471676321}"/>
              </a:ext>
            </a:extLst>
          </p:cNvPr>
          <p:cNvSpPr>
            <a:spLocks xmlns:a="http://schemas.openxmlformats.org/drawingml/2006/main" noGrp="1"/>
          </p:cNvSpPr>
          <p:nvPr/>
        </p:nvSpPr>
        <p:spPr>
          <a:xfrm xmlns:a="http://schemas.openxmlformats.org/drawingml/2006/main">
            <a:off x="723900" y="4191000"/>
            <a:ext cx="10477500" cy="0"/>
          </a:xfrm>
          <a:prstGeom xmlns:a="http://schemas.openxmlformats.org/drawingml/2006/main" prst="line">
            <a:avLst/>
          </a:prstGeom>
          <a:noFill xmlns:a="http://schemas.openxmlformats.org/drawingml/2006/main"/>
          <a:ln xmlns:a="http://schemas.openxmlformats.org/drawingml/2006/main" w="19050">
            <a:solidFill>
              <a:srgbClr val="3A5268"/>
            </a:solidFill>
            <a:prstDash val="solid"/>
          </a:ln>
        </p:spPr>
      </p:sp>
      <p:sp>
        <p:nvSpPr>
          <p:cNvPr id="12" name="">
            <a:extLst xmlns:a="http://schemas.openxmlformats.org/drawingml/2006/main">
              <a:ext uri="{FF2B5EF4-FFF2-40B4-BE49-F238E27FC236}">
                <a16:creationId xmlns:a16="http://schemas.microsoft.com/office/drawing/2014/main" id="{F155A1B9-3DFA-4019-B2A8-14334F2BDCDF}"/>
              </a:ext>
            </a:extLst>
          </p:cNvPr>
          <p:cNvSpPr>
            <a:spLocks xmlns:a="http://schemas.openxmlformats.org/drawingml/2006/main" noGrp="1"/>
          </p:cNvSpPr>
          <p:nvPr/>
        </p:nvSpPr>
        <p:spPr>
          <a:xfrm xmlns:a="http://schemas.openxmlformats.org/drawingml/2006/main">
            <a:off x="723900" y="44767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i="0">
                <a:solidFill>
                  <a:srgbClr val="E9C46A"/>
                </a:solidFill>
                <a:latin typeface="Nimbus Sans"/>
                <a:ea typeface="Nimbus Sans"/>
                <a:cs typeface="Nimbus Sans"/>
              </a:defRPr>
            </a:pPr>
            <a:r>
              <a:rPr sz="1800" b="1" i="0">
                <a:solidFill>
                  <a:srgbClr val="E9C46A"/>
                </a:solidFill>
                <a:latin typeface="Nimbus Sans"/>
                <a:ea typeface="Nimbus Sans"/>
                <a:cs typeface="Nimbus Sans"/>
              </a:rPr>
              <a:t>Recommendation</a:t>
            </a:r>
          </a:p>
        </p:txBody>
      </p:sp>
      <p:sp>
        <p:nvSpPr>
          <p:cNvPr id="13" name="">
            <a:extLst xmlns:a="http://schemas.openxmlformats.org/drawingml/2006/main">
              <a:ext uri="{FF2B5EF4-FFF2-40B4-BE49-F238E27FC236}">
                <a16:creationId xmlns:a16="http://schemas.microsoft.com/office/drawing/2014/main" id="{DE0029CD-F018-43B9-958D-46B3EA849806}"/>
              </a:ext>
            </a:extLst>
          </p:cNvPr>
          <p:cNvSpPr>
            <a:spLocks xmlns:a="http://schemas.openxmlformats.org/drawingml/2006/main" noGrp="1"/>
          </p:cNvSpPr>
          <p:nvPr/>
        </p:nvSpPr>
        <p:spPr>
          <a:xfrm xmlns:a="http://schemas.openxmlformats.org/drawingml/2006/main">
            <a:off x="723900" y="4953000"/>
            <a:ext cx="10477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i="0">
                <a:solidFill>
                  <a:srgbClr val="FFFFFF"/>
                </a:solidFill>
                <a:latin typeface="Nimbus Sans"/>
                <a:ea typeface="Nimbus Sans"/>
                <a:cs typeface="Nimbus Sans"/>
              </a:defRPr>
            </a:pPr>
            <a:r>
              <a:rPr sz="2025" b="1" i="0">
                <a:solidFill>
                  <a:srgbClr val="FFFFFF"/>
                </a:solidFill>
                <a:latin typeface="Nimbus Sans"/>
                <a:ea typeface="Nimbus Sans"/>
                <a:cs typeface="Nimbus Sans"/>
              </a:rPr>
              <a:t>Approve external validation and a prospective silent mode study. Do not use DIAL-ALERT to guide treatment until clinical benefit, workflow safety, and subgroup performance are demonstrated locally.</a:t>
            </a:r>
          </a:p>
        </p:txBody>
      </p:sp>
      <p:sp>
        <p:nvSpPr>
          <p:cNvPr id="14" name="">
            <a:extLst xmlns:a="http://schemas.openxmlformats.org/drawingml/2006/main">
              <a:ext uri="{FF2B5EF4-FFF2-40B4-BE49-F238E27FC236}">
                <a16:creationId xmlns:a16="http://schemas.microsoft.com/office/drawing/2014/main" id="{92DE7256-91C3-41FD-AEFD-0BB4B787177F}"/>
              </a:ext>
            </a:extLst>
          </p:cNvPr>
          <p:cNvSpPr>
            <a:spLocks xmlns:a="http://schemas.openxmlformats.org/drawingml/2006/main" noGrp="1"/>
          </p:cNvSpPr>
          <p:nvPr/>
        </p:nvSpPr>
        <p:spPr>
          <a:xfrm xmlns:a="http://schemas.openxmlformats.org/drawingml/2006/main">
            <a:off x="514350" y="6496050"/>
            <a:ext cx="11163300" cy="0"/>
          </a:xfrm>
          <a:prstGeom xmlns:a="http://schemas.openxmlformats.org/drawingml/2006/main" prst="line">
            <a:avLst/>
          </a:prstGeom>
          <a:noFill xmlns:a="http://schemas.openxmlformats.org/drawingml/2006/main"/>
          <a:ln xmlns:a="http://schemas.openxmlformats.org/drawingml/2006/main" w="9525">
            <a:solidFill>
              <a:srgbClr val="3A5268"/>
            </a:solidFill>
            <a:prstDash val="solid"/>
          </a:ln>
        </p:spPr>
      </p:sp>
      <p:sp>
        <p:nvSpPr>
          <p:cNvPr id="15" name="">
            <a:extLst xmlns:a="http://schemas.openxmlformats.org/drawingml/2006/main">
              <a:ext uri="{FF2B5EF4-FFF2-40B4-BE49-F238E27FC236}">
                <a16:creationId xmlns:a16="http://schemas.microsoft.com/office/drawing/2014/main" id="{48B132CB-5E71-4C66-9769-97B22D84A731}"/>
              </a:ext>
            </a:extLst>
          </p:cNvPr>
          <p:cNvSpPr>
            <a:spLocks xmlns:a="http://schemas.openxmlformats.org/drawingml/2006/main" noGrp="1"/>
          </p:cNvSpPr>
          <p:nvPr/>
        </p:nvSpPr>
        <p:spPr>
          <a:xfrm xmlns:a="http://schemas.openxmlformats.org/drawingml/2006/main">
            <a:off x="514350" y="6562725"/>
            <a:ext cx="11163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i="0">
                <a:solidFill>
                  <a:srgbClr val="B8C8D6"/>
                </a:solidFill>
                <a:latin typeface="Nimbus Sans"/>
                <a:ea typeface="Nimbus Sans"/>
                <a:cs typeface="Nimbus Sans"/>
              </a:defRPr>
            </a:pPr>
            <a:r>
              <a:rPr sz="975" b="0" i="0">
                <a:solidFill>
                  <a:srgbClr val="B8C8D6"/>
                </a:solidFill>
                <a:latin typeface="Nimbus Sans"/>
                <a:ea typeface="Nimbus Sans"/>
                <a:cs typeface="Nimbus Sans"/>
              </a:rPr>
              <a:t>DIAL-ALERT executive presentation  /  02</a:t>
            </a:r>
          </a:p>
        </p:txBody>
      </p:sp>
    </p:spTree>
    <p:extLst>
      <p:ext uri="{BB962C8B-B14F-4D97-AF65-F5344CB8AC3E}">
        <p14:creationId xmlns:p14="http://schemas.microsoft.com/office/powerpoint/2010/main" val="1772620420"/>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9956C5B-A1F4-4DA8-91AD-CA5EA760A54C}"/>
              </a:ext>
            </a:extLst>
          </p:cNvPr>
          <p:cNvSpPr>
            <a:spLocks xmlns:a="http://schemas.openxmlformats.org/drawingml/2006/main" noGrp="1"/>
          </p:cNvSpPr>
          <p:nvPr/>
        </p:nvSpPr>
        <p:spPr>
          <a:xfrm xmlns:a="http://schemas.openxmlformats.org/drawingml/2006/main">
            <a:off x="514350" y="400050"/>
            <a:ext cx="76200" cy="78105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7DB7CF0-3832-4D6D-882B-8CDD820DEEDB}"/>
              </a:ext>
            </a:extLst>
          </p:cNvPr>
          <p:cNvSpPr>
            <a:spLocks xmlns:a="http://schemas.openxmlformats.org/drawingml/2006/main" noGrp="1"/>
          </p:cNvSpPr>
          <p:nvPr/>
        </p:nvSpPr>
        <p:spPr>
          <a:xfrm xmlns:a="http://schemas.openxmlformats.org/drawingml/2006/main">
            <a:off x="781050" y="333375"/>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225" b="1" i="0">
                <a:solidFill>
                  <a:srgbClr val="102A43"/>
                </a:solidFill>
                <a:latin typeface="Nimbus Sans"/>
                <a:ea typeface="Nimbus Sans"/>
                <a:cs typeface="Nimbus Sans"/>
              </a:defRPr>
            </a:pPr>
            <a:r>
              <a:rPr sz="3225" b="1" i="0">
                <a:solidFill>
                  <a:srgbClr val="102A43"/>
                </a:solidFill>
                <a:latin typeface="Nimbus Sans"/>
                <a:ea typeface="Nimbus Sans"/>
                <a:cs typeface="Nimbus Sans"/>
              </a:rPr>
              <a:t>Proposed workflow for clinician review</a:t>
            </a:r>
          </a:p>
        </p:txBody>
      </p:sp>
      <p:sp>
        <p:nvSpPr>
          <p:cNvPr id="3" name="">
            <a:extLst xmlns:a="http://schemas.openxmlformats.org/drawingml/2006/main">
              <a:ext uri="{FF2B5EF4-FFF2-40B4-BE49-F238E27FC236}">
                <a16:creationId xmlns:a16="http://schemas.microsoft.com/office/drawing/2014/main" id="{64714A02-37DE-4FBF-A83F-5E81BFE2C751}"/>
              </a:ext>
            </a:extLst>
          </p:cNvPr>
          <p:cNvSpPr>
            <a:spLocks xmlns:a="http://schemas.openxmlformats.org/drawingml/2006/main" noGrp="1"/>
          </p:cNvSpPr>
          <p:nvPr/>
        </p:nvSpPr>
        <p:spPr>
          <a:xfrm xmlns:a="http://schemas.openxmlformats.org/drawingml/2006/main">
            <a:off x="800100" y="866775"/>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627D98"/>
                </a:solidFill>
                <a:latin typeface="Nimbus Sans"/>
                <a:ea typeface="Nimbus Sans"/>
                <a:cs typeface="Nimbus Sans"/>
              </a:defRPr>
            </a:pPr>
            <a:r>
              <a:rPr sz="1425" b="0" i="0">
                <a:solidFill>
                  <a:srgbClr val="627D98"/>
                </a:solidFill>
                <a:latin typeface="Nimbus Sans"/>
                <a:ea typeface="Nimbus Sans"/>
                <a:cs typeface="Nimbus Sans"/>
              </a:rPr>
              <a:t>The clinician retains responsibility for assessment and action</a:t>
            </a:r>
          </a:p>
        </p:txBody>
      </p:sp>
      <p:sp>
        <p:nvSpPr>
          <p:cNvPr id="4" name="">
            <a:extLst xmlns:a="http://schemas.openxmlformats.org/drawingml/2006/main">
              <a:ext uri="{FF2B5EF4-FFF2-40B4-BE49-F238E27FC236}">
                <a16:creationId xmlns:a16="http://schemas.microsoft.com/office/drawing/2014/main" id="{6099DB2D-3815-44CF-A96D-993143E6756B}"/>
              </a:ext>
            </a:extLst>
          </p:cNvPr>
          <p:cNvSpPr>
            <a:spLocks xmlns:a="http://schemas.openxmlformats.org/drawingml/2006/main" noGrp="1"/>
          </p:cNvSpPr>
          <p:nvPr/>
        </p:nvSpPr>
        <p:spPr>
          <a:xfrm xmlns:a="http://schemas.openxmlformats.org/drawingml/2006/main">
            <a:off x="552450" y="1809750"/>
            <a:ext cx="2428875" cy="2381250"/>
          </a:xfrm>
          <a:prstGeom xmlns:a="http://schemas.openxmlformats.org/drawingml/2006/main" prst="roundRect">
            <a:avLst>
              <a:gd name="adj" fmla="val 4800"/>
            </a:avLst>
          </a:prstGeom>
          <a:solidFill xmlns:a="http://schemas.openxmlformats.org/drawingml/2006/main">
            <a:srgbClr val="DCEFEB"/>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D01A16E-6C69-445E-881F-891D73407C16}"/>
              </a:ext>
            </a:extLst>
          </p:cNvPr>
          <p:cNvSpPr>
            <a:spLocks xmlns:a="http://schemas.openxmlformats.org/drawingml/2006/main" noGrp="1"/>
          </p:cNvSpPr>
          <p:nvPr/>
        </p:nvSpPr>
        <p:spPr>
          <a:xfrm xmlns:a="http://schemas.openxmlformats.org/drawingml/2006/main">
            <a:off x="742950" y="2000250"/>
            <a:ext cx="457200" cy="45720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txBody>
          <a:bodyPr xmlns:a="http://schemas.openxmlformats.org/drawingml/2006/main" wrap="square" lIns="0" tIns="47625" rIns="0" bIns="0" anchor="ctr">
            <a:noAutofit/>
          </a:bodyPr>
          <a:lstStyle xmlns:a="http://schemas.openxmlformats.org/drawingml/2006/main"/>
          <a:p xmlns:a="http://schemas.openxmlformats.org/drawingml/2006/main">
            <a:pPr algn="ctr">
              <a:defRPr sz="1950" b="1" i="0">
                <a:solidFill>
                  <a:srgbClr val="FFFFFF"/>
                </a:solidFill>
                <a:latin typeface="Nimbus Sans"/>
                <a:ea typeface="Nimbus Sans"/>
                <a:cs typeface="Nimbus Sans"/>
              </a:defRPr>
            </a:pPr>
            <a:r>
              <a:rPr sz="1950" b="1" i="0">
                <a:solidFill>
                  <a:srgbClr val="FFFFFF"/>
                </a:solidFill>
                <a:latin typeface="Nimbus Sans"/>
                <a:ea typeface="Nimbus Sans"/>
                <a:cs typeface="Nimbus Sans"/>
              </a:rPr>
              <a:t>1</a:t>
            </a:r>
          </a:p>
        </p:txBody>
      </p:sp>
      <p:sp>
        <p:nvSpPr>
          <p:cNvPr id="6" name="">
            <a:extLst xmlns:a="http://schemas.openxmlformats.org/drawingml/2006/main">
              <a:ext uri="{FF2B5EF4-FFF2-40B4-BE49-F238E27FC236}">
                <a16:creationId xmlns:a16="http://schemas.microsoft.com/office/drawing/2014/main" id="{26158F76-0C24-45AC-ACA9-3AD8EA4518B7}"/>
              </a:ext>
            </a:extLst>
          </p:cNvPr>
          <p:cNvSpPr>
            <a:spLocks xmlns:a="http://schemas.openxmlformats.org/drawingml/2006/main" noGrp="1"/>
          </p:cNvSpPr>
          <p:nvPr/>
        </p:nvSpPr>
        <p:spPr>
          <a:xfrm xmlns:a="http://schemas.openxmlformats.org/drawingml/2006/main">
            <a:off x="742950" y="2667000"/>
            <a:ext cx="20478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i="0">
                <a:solidFill>
                  <a:srgbClr val="102A43"/>
                </a:solidFill>
                <a:latin typeface="Nimbus Sans"/>
                <a:ea typeface="Nimbus Sans"/>
                <a:cs typeface="Nimbus Sans"/>
              </a:defRPr>
            </a:pPr>
            <a:r>
              <a:rPr sz="1725" b="1" i="0">
                <a:solidFill>
                  <a:srgbClr val="102A43"/>
                </a:solidFill>
                <a:latin typeface="Nimbus Sans"/>
                <a:ea typeface="Nimbus Sans"/>
                <a:cs typeface="Nimbus Sans"/>
              </a:rPr>
              <a:t>Session begins</a:t>
            </a:r>
          </a:p>
        </p:txBody>
      </p:sp>
      <p:sp>
        <p:nvSpPr>
          <p:cNvPr id="7" name="">
            <a:extLst xmlns:a="http://schemas.openxmlformats.org/drawingml/2006/main">
              <a:ext uri="{FF2B5EF4-FFF2-40B4-BE49-F238E27FC236}">
                <a16:creationId xmlns:a16="http://schemas.microsoft.com/office/drawing/2014/main" id="{B29D7BB3-A6BA-44DC-BD04-8D5F85414711}"/>
              </a:ext>
            </a:extLst>
          </p:cNvPr>
          <p:cNvSpPr>
            <a:spLocks xmlns:a="http://schemas.openxmlformats.org/drawingml/2006/main" noGrp="1"/>
          </p:cNvSpPr>
          <p:nvPr/>
        </p:nvSpPr>
        <p:spPr>
          <a:xfrm xmlns:a="http://schemas.openxmlformats.org/drawingml/2006/main">
            <a:off x="742950" y="3181350"/>
            <a:ext cx="2047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243B53"/>
                </a:solidFill>
                <a:latin typeface="Nimbus Sans"/>
                <a:ea typeface="Nimbus Sans"/>
                <a:cs typeface="Nimbus Sans"/>
              </a:defRPr>
            </a:pPr>
            <a:r>
              <a:rPr sz="1425" b="0" i="0">
                <a:solidFill>
                  <a:srgbClr val="243B53"/>
                </a:solidFill>
                <a:latin typeface="Nimbus Sans"/>
                <a:ea typeface="Nimbus Sans"/>
                <a:cs typeface="Nimbus Sans"/>
              </a:rPr>
              <a:t>Index data available within the first 30 minutes</a:t>
            </a:r>
          </a:p>
        </p:txBody>
      </p:sp>
      <p:sp>
        <p:nvSpPr>
          <p:cNvPr id="8" name="">
            <a:extLst xmlns:a="http://schemas.openxmlformats.org/drawingml/2006/main">
              <a:ext uri="{FF2B5EF4-FFF2-40B4-BE49-F238E27FC236}">
                <a16:creationId xmlns:a16="http://schemas.microsoft.com/office/drawing/2014/main" id="{D3431C5E-C5AC-406F-B7DF-EE1ACBCA66F0}"/>
              </a:ext>
            </a:extLst>
          </p:cNvPr>
          <p:cNvSpPr>
            <a:spLocks xmlns:a="http://schemas.openxmlformats.org/drawingml/2006/main" noGrp="1"/>
          </p:cNvSpPr>
          <p:nvPr/>
        </p:nvSpPr>
        <p:spPr>
          <a:xfrm xmlns:a="http://schemas.openxmlformats.org/drawingml/2006/main">
            <a:off x="3457575" y="1809750"/>
            <a:ext cx="2428875" cy="2381250"/>
          </a:xfrm>
          <a:prstGeom xmlns:a="http://schemas.openxmlformats.org/drawingml/2006/main" prst="roundRect">
            <a:avLst>
              <a:gd name="adj" fmla="val 4800"/>
            </a:avLst>
          </a:prstGeom>
          <a:solidFill xmlns:a="http://schemas.openxmlformats.org/drawingml/2006/main">
            <a:srgbClr val="D9E8F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01030EC-EAB5-44D5-A92E-6148453DE17E}"/>
              </a:ext>
            </a:extLst>
          </p:cNvPr>
          <p:cNvSpPr>
            <a:spLocks xmlns:a="http://schemas.openxmlformats.org/drawingml/2006/main" noGrp="1"/>
          </p:cNvSpPr>
          <p:nvPr/>
        </p:nvSpPr>
        <p:spPr>
          <a:xfrm xmlns:a="http://schemas.openxmlformats.org/drawingml/2006/main">
            <a:off x="3648075" y="2000250"/>
            <a:ext cx="457200" cy="45720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txBody>
          <a:bodyPr xmlns:a="http://schemas.openxmlformats.org/drawingml/2006/main" wrap="square" lIns="0" tIns="47625" rIns="0" bIns="0" anchor="ctr">
            <a:noAutofit/>
          </a:bodyPr>
          <a:lstStyle xmlns:a="http://schemas.openxmlformats.org/drawingml/2006/main"/>
          <a:p xmlns:a="http://schemas.openxmlformats.org/drawingml/2006/main">
            <a:pPr algn="ctr">
              <a:defRPr sz="1950" b="1" i="0">
                <a:solidFill>
                  <a:srgbClr val="FFFFFF"/>
                </a:solidFill>
                <a:latin typeface="Nimbus Sans"/>
                <a:ea typeface="Nimbus Sans"/>
                <a:cs typeface="Nimbus Sans"/>
              </a:defRPr>
            </a:pPr>
            <a:r>
              <a:rPr sz="1950" b="1" i="0">
                <a:solidFill>
                  <a:srgbClr val="FFFFFF"/>
                </a:solidFill>
                <a:latin typeface="Nimbus Sans"/>
                <a:ea typeface="Nimbus Sans"/>
                <a:cs typeface="Nimbus Sans"/>
              </a:rPr>
              <a:t>2</a:t>
            </a:r>
          </a:p>
        </p:txBody>
      </p:sp>
      <p:sp>
        <p:nvSpPr>
          <p:cNvPr id="10" name="">
            <a:extLst xmlns:a="http://schemas.openxmlformats.org/drawingml/2006/main">
              <a:ext uri="{FF2B5EF4-FFF2-40B4-BE49-F238E27FC236}">
                <a16:creationId xmlns:a16="http://schemas.microsoft.com/office/drawing/2014/main" id="{21786438-AE60-4A7E-A59E-335A6B42C519}"/>
              </a:ext>
            </a:extLst>
          </p:cNvPr>
          <p:cNvSpPr>
            <a:spLocks xmlns:a="http://schemas.openxmlformats.org/drawingml/2006/main" noGrp="1"/>
          </p:cNvSpPr>
          <p:nvPr/>
        </p:nvSpPr>
        <p:spPr>
          <a:xfrm xmlns:a="http://schemas.openxmlformats.org/drawingml/2006/main">
            <a:off x="3648075" y="2667000"/>
            <a:ext cx="20478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i="0">
                <a:solidFill>
                  <a:srgbClr val="102A43"/>
                </a:solidFill>
                <a:latin typeface="Nimbus Sans"/>
                <a:ea typeface="Nimbus Sans"/>
                <a:cs typeface="Nimbus Sans"/>
              </a:defRPr>
            </a:pPr>
            <a:r>
              <a:rPr sz="1725" b="1" i="0">
                <a:solidFill>
                  <a:srgbClr val="102A43"/>
                </a:solidFill>
                <a:latin typeface="Nimbus Sans"/>
                <a:ea typeface="Nimbus Sans"/>
                <a:cs typeface="Nimbus Sans"/>
              </a:rPr>
              <a:t>Risk score</a:t>
            </a:r>
          </a:p>
        </p:txBody>
      </p:sp>
      <p:sp>
        <p:nvSpPr>
          <p:cNvPr id="11" name="">
            <a:extLst xmlns:a="http://schemas.openxmlformats.org/drawingml/2006/main">
              <a:ext uri="{FF2B5EF4-FFF2-40B4-BE49-F238E27FC236}">
                <a16:creationId xmlns:a16="http://schemas.microsoft.com/office/drawing/2014/main" id="{707D842F-FF12-44A5-BB22-459A0C6CE11F}"/>
              </a:ext>
            </a:extLst>
          </p:cNvPr>
          <p:cNvSpPr>
            <a:spLocks xmlns:a="http://schemas.openxmlformats.org/drawingml/2006/main" noGrp="1"/>
          </p:cNvSpPr>
          <p:nvPr/>
        </p:nvSpPr>
        <p:spPr>
          <a:xfrm xmlns:a="http://schemas.openxmlformats.org/drawingml/2006/main">
            <a:off x="3648075" y="3181350"/>
            <a:ext cx="2047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243B53"/>
                </a:solidFill>
                <a:latin typeface="Nimbus Sans"/>
                <a:ea typeface="Nimbus Sans"/>
                <a:cs typeface="Nimbus Sans"/>
              </a:defRPr>
            </a:pPr>
            <a:r>
              <a:rPr sz="1425" b="0" i="0">
                <a:solidFill>
                  <a:srgbClr val="243B53"/>
                </a:solidFill>
                <a:latin typeface="Nimbus Sans"/>
                <a:ea typeface="Nimbus Sans"/>
                <a:cs typeface="Nimbus Sans"/>
              </a:rPr>
              <a:t>Model estimates later SBP below 90 mmHg</a:t>
            </a:r>
          </a:p>
        </p:txBody>
      </p:sp>
      <p:sp>
        <p:nvSpPr>
          <p:cNvPr id="12" name="">
            <a:extLst xmlns:a="http://schemas.openxmlformats.org/drawingml/2006/main">
              <a:ext uri="{FF2B5EF4-FFF2-40B4-BE49-F238E27FC236}">
                <a16:creationId xmlns:a16="http://schemas.microsoft.com/office/drawing/2014/main" id="{898E80E3-B7AC-48BB-A57A-6B566BAA7449}"/>
              </a:ext>
            </a:extLst>
          </p:cNvPr>
          <p:cNvSpPr>
            <a:spLocks xmlns:a="http://schemas.openxmlformats.org/drawingml/2006/main" noGrp="1"/>
          </p:cNvSpPr>
          <p:nvPr/>
        </p:nvSpPr>
        <p:spPr>
          <a:xfrm xmlns:a="http://schemas.openxmlformats.org/drawingml/2006/main">
            <a:off x="6362700" y="1809750"/>
            <a:ext cx="2428875" cy="2381250"/>
          </a:xfrm>
          <a:prstGeom xmlns:a="http://schemas.openxmlformats.org/drawingml/2006/main" prst="roundRect">
            <a:avLst>
              <a:gd name="adj" fmla="val 4800"/>
            </a:avLst>
          </a:prstGeom>
          <a:solidFill xmlns:a="http://schemas.openxmlformats.org/drawingml/2006/main">
            <a:srgbClr val="F7E5C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D0EF99-0E28-4043-935D-F5E1EC041B04}"/>
              </a:ext>
            </a:extLst>
          </p:cNvPr>
          <p:cNvSpPr>
            <a:spLocks xmlns:a="http://schemas.openxmlformats.org/drawingml/2006/main" noGrp="1"/>
          </p:cNvSpPr>
          <p:nvPr/>
        </p:nvSpPr>
        <p:spPr>
          <a:xfrm xmlns:a="http://schemas.openxmlformats.org/drawingml/2006/main">
            <a:off x="6553200" y="2000250"/>
            <a:ext cx="457200" cy="457200"/>
          </a:xfrm>
          <a:prstGeom xmlns:a="http://schemas.openxmlformats.org/drawingml/2006/main" prst="rect">
            <a:avLst/>
          </a:prstGeom>
          <a:solidFill xmlns:a="http://schemas.openxmlformats.org/drawingml/2006/main">
            <a:srgbClr val="E9C46A"/>
          </a:solidFill>
          <a:ln xmlns:a="http://schemas.openxmlformats.org/drawingml/2006/main" w="0">
            <a:noFill/>
            <a:prstDash val="solid"/>
          </a:ln>
        </p:spPr>
        <p:txBody>
          <a:bodyPr xmlns:a="http://schemas.openxmlformats.org/drawingml/2006/main" wrap="square" lIns="0" tIns="47625" rIns="0" bIns="0" anchor="ctr">
            <a:noAutofit/>
          </a:bodyPr>
          <a:lstStyle xmlns:a="http://schemas.openxmlformats.org/drawingml/2006/main"/>
          <a:p xmlns:a="http://schemas.openxmlformats.org/drawingml/2006/main">
            <a:pPr algn="ctr">
              <a:defRPr sz="1950" b="1" i="0">
                <a:solidFill>
                  <a:srgbClr val="FFFFFF"/>
                </a:solidFill>
                <a:latin typeface="Nimbus Sans"/>
                <a:ea typeface="Nimbus Sans"/>
                <a:cs typeface="Nimbus Sans"/>
              </a:defRPr>
            </a:pPr>
            <a:r>
              <a:rPr sz="1950" b="1" i="0">
                <a:solidFill>
                  <a:srgbClr val="FFFFFF"/>
                </a:solidFill>
                <a:latin typeface="Nimbus Sans"/>
                <a:ea typeface="Nimbus Sans"/>
                <a:cs typeface="Nimbus Sans"/>
              </a:rPr>
              <a:t>3</a:t>
            </a:r>
          </a:p>
        </p:txBody>
      </p:sp>
      <p:sp>
        <p:nvSpPr>
          <p:cNvPr id="14" name="">
            <a:extLst xmlns:a="http://schemas.openxmlformats.org/drawingml/2006/main">
              <a:ext uri="{FF2B5EF4-FFF2-40B4-BE49-F238E27FC236}">
                <a16:creationId xmlns:a16="http://schemas.microsoft.com/office/drawing/2014/main" id="{849C7E7D-D8B7-443D-BACA-653D51989E89}"/>
              </a:ext>
            </a:extLst>
          </p:cNvPr>
          <p:cNvSpPr>
            <a:spLocks xmlns:a="http://schemas.openxmlformats.org/drawingml/2006/main" noGrp="1"/>
          </p:cNvSpPr>
          <p:nvPr/>
        </p:nvSpPr>
        <p:spPr>
          <a:xfrm xmlns:a="http://schemas.openxmlformats.org/drawingml/2006/main">
            <a:off x="6553200" y="2667000"/>
            <a:ext cx="20478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i="0">
                <a:solidFill>
                  <a:srgbClr val="102A43"/>
                </a:solidFill>
                <a:latin typeface="Nimbus Sans"/>
                <a:ea typeface="Nimbus Sans"/>
                <a:cs typeface="Nimbus Sans"/>
              </a:defRPr>
            </a:pPr>
            <a:r>
              <a:rPr sz="1725" b="1" i="0">
                <a:solidFill>
                  <a:srgbClr val="102A43"/>
                </a:solidFill>
                <a:latin typeface="Nimbus Sans"/>
                <a:ea typeface="Nimbus Sans"/>
                <a:cs typeface="Nimbus Sans"/>
              </a:rPr>
              <a:t>Clinical review</a:t>
            </a:r>
          </a:p>
        </p:txBody>
      </p:sp>
      <p:sp>
        <p:nvSpPr>
          <p:cNvPr id="15" name="">
            <a:extLst xmlns:a="http://schemas.openxmlformats.org/drawingml/2006/main">
              <a:ext uri="{FF2B5EF4-FFF2-40B4-BE49-F238E27FC236}">
                <a16:creationId xmlns:a16="http://schemas.microsoft.com/office/drawing/2014/main" id="{BD7D27C3-CB9A-4D5C-BACC-BC4E7DD9941F}"/>
              </a:ext>
            </a:extLst>
          </p:cNvPr>
          <p:cNvSpPr>
            <a:spLocks xmlns:a="http://schemas.openxmlformats.org/drawingml/2006/main" noGrp="1"/>
          </p:cNvSpPr>
          <p:nvPr/>
        </p:nvSpPr>
        <p:spPr>
          <a:xfrm xmlns:a="http://schemas.openxmlformats.org/drawingml/2006/main">
            <a:off x="6553200" y="3181350"/>
            <a:ext cx="2047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243B53"/>
                </a:solidFill>
                <a:latin typeface="Nimbus Sans"/>
                <a:ea typeface="Nimbus Sans"/>
                <a:cs typeface="Nimbus Sans"/>
              </a:defRPr>
            </a:pPr>
            <a:r>
              <a:rPr sz="1425" b="0" i="0">
                <a:solidFill>
                  <a:srgbClr val="243B53"/>
                </a:solidFill>
                <a:latin typeface="Nimbus Sans"/>
                <a:ea typeface="Nimbus Sans"/>
                <a:cs typeface="Nimbus Sans"/>
              </a:rPr>
              <a:t>Staff confirm context, symptoms, and current treatment</a:t>
            </a:r>
          </a:p>
        </p:txBody>
      </p:sp>
      <p:sp>
        <p:nvSpPr>
          <p:cNvPr id="16" name="">
            <a:extLst xmlns:a="http://schemas.openxmlformats.org/drawingml/2006/main">
              <a:ext uri="{FF2B5EF4-FFF2-40B4-BE49-F238E27FC236}">
                <a16:creationId xmlns:a16="http://schemas.microsoft.com/office/drawing/2014/main" id="{0DCC29D6-612B-4A75-9691-193C606BD080}"/>
              </a:ext>
            </a:extLst>
          </p:cNvPr>
          <p:cNvSpPr>
            <a:spLocks xmlns:a="http://schemas.openxmlformats.org/drawingml/2006/main" noGrp="1"/>
          </p:cNvSpPr>
          <p:nvPr/>
        </p:nvSpPr>
        <p:spPr>
          <a:xfrm xmlns:a="http://schemas.openxmlformats.org/drawingml/2006/main">
            <a:off x="9267825" y="1809750"/>
            <a:ext cx="2428875" cy="2381250"/>
          </a:xfrm>
          <a:prstGeom xmlns:a="http://schemas.openxmlformats.org/drawingml/2006/main" prst="roundRect">
            <a:avLst>
              <a:gd name="adj" fmla="val 4800"/>
            </a:avLst>
          </a:prstGeom>
          <a:solidFill xmlns:a="http://schemas.openxmlformats.org/drawingml/2006/main">
            <a:srgbClr val="F8DDC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CE82358-00A2-4A11-A03C-6C0595F6A345}"/>
              </a:ext>
            </a:extLst>
          </p:cNvPr>
          <p:cNvSpPr>
            <a:spLocks xmlns:a="http://schemas.openxmlformats.org/drawingml/2006/main" noGrp="1"/>
          </p:cNvSpPr>
          <p:nvPr/>
        </p:nvSpPr>
        <p:spPr>
          <a:xfrm xmlns:a="http://schemas.openxmlformats.org/drawingml/2006/main">
            <a:off x="9458325" y="2000250"/>
            <a:ext cx="457200" cy="4572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txBody>
          <a:bodyPr xmlns:a="http://schemas.openxmlformats.org/drawingml/2006/main" wrap="square" lIns="0" tIns="47625" rIns="0" bIns="0" anchor="ctr">
            <a:noAutofit/>
          </a:bodyPr>
          <a:lstStyle xmlns:a="http://schemas.openxmlformats.org/drawingml/2006/main"/>
          <a:p xmlns:a="http://schemas.openxmlformats.org/drawingml/2006/main">
            <a:pPr algn="ctr">
              <a:defRPr sz="1950" b="1" i="0">
                <a:solidFill>
                  <a:srgbClr val="FFFFFF"/>
                </a:solidFill>
                <a:latin typeface="Nimbus Sans"/>
                <a:ea typeface="Nimbus Sans"/>
                <a:cs typeface="Nimbus Sans"/>
              </a:defRPr>
            </a:pPr>
            <a:r>
              <a:rPr sz="1950" b="1" i="0">
                <a:solidFill>
                  <a:srgbClr val="FFFFFF"/>
                </a:solidFill>
                <a:latin typeface="Nimbus Sans"/>
                <a:ea typeface="Nimbus Sans"/>
                <a:cs typeface="Nimbus Sans"/>
              </a:rPr>
              <a:t>4</a:t>
            </a:r>
          </a:p>
        </p:txBody>
      </p:sp>
      <p:sp>
        <p:nvSpPr>
          <p:cNvPr id="18" name="">
            <a:extLst xmlns:a="http://schemas.openxmlformats.org/drawingml/2006/main">
              <a:ext uri="{FF2B5EF4-FFF2-40B4-BE49-F238E27FC236}">
                <a16:creationId xmlns:a16="http://schemas.microsoft.com/office/drawing/2014/main" id="{EB81FD40-F6EF-433E-B5F2-E56342E918D0}"/>
              </a:ext>
            </a:extLst>
          </p:cNvPr>
          <p:cNvSpPr>
            <a:spLocks xmlns:a="http://schemas.openxmlformats.org/drawingml/2006/main" noGrp="1"/>
          </p:cNvSpPr>
          <p:nvPr/>
        </p:nvSpPr>
        <p:spPr>
          <a:xfrm xmlns:a="http://schemas.openxmlformats.org/drawingml/2006/main">
            <a:off x="9458325" y="2667000"/>
            <a:ext cx="20478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i="0">
                <a:solidFill>
                  <a:srgbClr val="102A43"/>
                </a:solidFill>
                <a:latin typeface="Nimbus Sans"/>
                <a:ea typeface="Nimbus Sans"/>
                <a:cs typeface="Nimbus Sans"/>
              </a:defRPr>
            </a:pPr>
            <a:r>
              <a:rPr sz="1725" b="1" i="0">
                <a:solidFill>
                  <a:srgbClr val="102A43"/>
                </a:solidFill>
                <a:latin typeface="Nimbus Sans"/>
                <a:ea typeface="Nimbus Sans"/>
                <a:cs typeface="Nimbus Sans"/>
              </a:rPr>
              <a:t>Usual protocol</a:t>
            </a:r>
          </a:p>
        </p:txBody>
      </p:sp>
      <p:sp>
        <p:nvSpPr>
          <p:cNvPr id="19" name="">
            <a:extLst xmlns:a="http://schemas.openxmlformats.org/drawingml/2006/main">
              <a:ext uri="{FF2B5EF4-FFF2-40B4-BE49-F238E27FC236}">
                <a16:creationId xmlns:a16="http://schemas.microsoft.com/office/drawing/2014/main" id="{2B89C924-DBD7-4FF8-A478-35CEAB69C89B}"/>
              </a:ext>
            </a:extLst>
          </p:cNvPr>
          <p:cNvSpPr>
            <a:spLocks xmlns:a="http://schemas.openxmlformats.org/drawingml/2006/main" noGrp="1"/>
          </p:cNvSpPr>
          <p:nvPr/>
        </p:nvSpPr>
        <p:spPr>
          <a:xfrm xmlns:a="http://schemas.openxmlformats.org/drawingml/2006/main">
            <a:off x="9458325" y="3181350"/>
            <a:ext cx="2047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243B53"/>
                </a:solidFill>
                <a:latin typeface="Nimbus Sans"/>
                <a:ea typeface="Nimbus Sans"/>
                <a:cs typeface="Nimbus Sans"/>
              </a:defRPr>
            </a:pPr>
            <a:r>
              <a:rPr sz="1425" b="0" i="0">
                <a:solidFill>
                  <a:srgbClr val="243B53"/>
                </a:solidFill>
                <a:latin typeface="Nimbus Sans"/>
                <a:ea typeface="Nimbus Sans"/>
                <a:cs typeface="Nimbus Sans"/>
              </a:rPr>
              <a:t>Any action follows approved clinical policy</a:t>
            </a:r>
          </a:p>
        </p:txBody>
      </p:sp>
      <p:cxnSp>
        <p:nvCxnSpPr>
          <p:cNvPr id="48" name=""/>
          <p:cNvCxnSpPr>
            <a:stCxn xmlns:a="http://schemas.openxmlformats.org/drawingml/2006/main" id="4" idx="3"/>
            <a:endCxn xmlns:a="http://schemas.openxmlformats.org/drawingml/2006/main" id="8" idx="1"/>
          </p:cNvCxnSpPr>
          <p:nvPr/>
        </p:nvCxnSpPr>
        <p:spPr>
          <a:xfrm xmlns:a="http://schemas.openxmlformats.org/drawingml/2006/main">
            <a:off x="2981325" y="3000375"/>
            <a:ext cx="476250" cy="0"/>
          </a:xfrm>
          <a:prstGeom xmlns:a="http://schemas.openxmlformats.org/drawingml/2006/main" prst="straightConnector1">
            <a:avLst/>
          </a:prstGeom>
          <a:ln xmlns:a="http://schemas.openxmlformats.org/drawingml/2006/main" w="19050">
            <a:solidFill>
              <a:srgbClr val="627D98"/>
            </a:solidFill>
            <a:prstDash val="solid"/>
            <a:tailEnd type="triangle" w="sm" len="sm"/>
          </a:ln>
        </p:spPr>
      </p:cxnSp>
      <p:cxnSp>
        <p:nvCxnSpPr>
          <p:cNvPr id="49" name=""/>
          <p:cNvCxnSpPr>
            <a:stCxn xmlns:a="http://schemas.openxmlformats.org/drawingml/2006/main" id="8" idx="3"/>
            <a:endCxn xmlns:a="http://schemas.openxmlformats.org/drawingml/2006/main" id="12" idx="1"/>
          </p:cNvCxnSpPr>
          <p:nvPr/>
        </p:nvCxnSpPr>
        <p:spPr>
          <a:xfrm xmlns:a="http://schemas.openxmlformats.org/drawingml/2006/main">
            <a:off x="5886450" y="3000375"/>
            <a:ext cx="476250" cy="0"/>
          </a:xfrm>
          <a:prstGeom xmlns:a="http://schemas.openxmlformats.org/drawingml/2006/main" prst="straightConnector1">
            <a:avLst/>
          </a:prstGeom>
          <a:ln xmlns:a="http://schemas.openxmlformats.org/drawingml/2006/main" w="19050">
            <a:solidFill>
              <a:srgbClr val="627D98"/>
            </a:solidFill>
            <a:prstDash val="solid"/>
            <a:tailEnd type="triangle" w="sm" len="sm"/>
          </a:ln>
        </p:spPr>
      </p:cxnSp>
      <p:cxnSp>
        <p:nvCxnSpPr>
          <p:cNvPr id="50" name=""/>
          <p:cNvCxnSpPr>
            <a:stCxn xmlns:a="http://schemas.openxmlformats.org/drawingml/2006/main" id="12" idx="3"/>
            <a:endCxn xmlns:a="http://schemas.openxmlformats.org/drawingml/2006/main" id="16" idx="1"/>
          </p:cNvCxnSpPr>
          <p:nvPr/>
        </p:nvCxnSpPr>
        <p:spPr>
          <a:xfrm xmlns:a="http://schemas.openxmlformats.org/drawingml/2006/main">
            <a:off x="8791575" y="3000375"/>
            <a:ext cx="476250" cy="0"/>
          </a:xfrm>
          <a:prstGeom xmlns:a="http://schemas.openxmlformats.org/drawingml/2006/main" prst="straightConnector1">
            <a:avLst/>
          </a:prstGeom>
          <a:ln xmlns:a="http://schemas.openxmlformats.org/drawingml/2006/main" w="19050">
            <a:solidFill>
              <a:srgbClr val="627D98"/>
            </a:solidFill>
            <a:prstDash val="solid"/>
            <a:tailEnd type="triangle" w="sm" len="sm"/>
          </a:ln>
        </p:spPr>
      </p:cxnSp>
      <p:sp>
        <p:nvSpPr>
          <p:cNvPr id="23" name="">
            <a:extLst xmlns:a="http://schemas.openxmlformats.org/drawingml/2006/main">
              <a:ext uri="{FF2B5EF4-FFF2-40B4-BE49-F238E27FC236}">
                <a16:creationId xmlns:a16="http://schemas.microsoft.com/office/drawing/2014/main" id="{FF1A847B-B56B-4939-94EB-D6D730552E6B}"/>
              </a:ext>
            </a:extLst>
          </p:cNvPr>
          <p:cNvSpPr>
            <a:spLocks xmlns:a="http://schemas.openxmlformats.org/drawingml/2006/main" noGrp="1"/>
          </p:cNvSpPr>
          <p:nvPr/>
        </p:nvSpPr>
        <p:spPr>
          <a:xfrm xmlns:a="http://schemas.openxmlformats.org/drawingml/2006/main">
            <a:off x="723900" y="4762500"/>
            <a:ext cx="10744200" cy="0"/>
          </a:xfrm>
          <a:prstGeom xmlns:a="http://schemas.openxmlformats.org/drawingml/2006/main" prst="line">
            <a:avLst/>
          </a:prstGeom>
          <a:noFill xmlns:a="http://schemas.openxmlformats.org/drawingml/2006/main"/>
          <a:ln xmlns:a="http://schemas.openxmlformats.org/drawingml/2006/main" w="19050">
            <a:solidFill>
              <a:srgbClr val="D9E2EC"/>
            </a:solidFill>
            <a:prstDash val="solid"/>
          </a:ln>
        </p:spPr>
      </p:sp>
      <p:sp>
        <p:nvSpPr>
          <p:cNvPr id="24" name="">
            <a:extLst xmlns:a="http://schemas.openxmlformats.org/drawingml/2006/main">
              <a:ext uri="{FF2B5EF4-FFF2-40B4-BE49-F238E27FC236}">
                <a16:creationId xmlns:a16="http://schemas.microsoft.com/office/drawing/2014/main" id="{EE832BF4-92B8-46F6-B0BD-BF9E0F32F2B0}"/>
              </a:ext>
            </a:extLst>
          </p:cNvPr>
          <p:cNvSpPr>
            <a:spLocks xmlns:a="http://schemas.openxmlformats.org/drawingml/2006/main" noGrp="1"/>
          </p:cNvSpPr>
          <p:nvPr/>
        </p:nvSpPr>
        <p:spPr>
          <a:xfrm xmlns:a="http://schemas.openxmlformats.org/drawingml/2006/main">
            <a:off x="723900" y="50292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i="0">
                <a:solidFill>
                  <a:srgbClr val="0E7C7B"/>
                </a:solidFill>
                <a:latin typeface="Nimbus Sans"/>
                <a:ea typeface="Nimbus Sans"/>
                <a:cs typeface="Nimbus Sans"/>
              </a:defRPr>
            </a:pPr>
            <a:r>
              <a:rPr sz="1650" b="1" i="0">
                <a:solidFill>
                  <a:srgbClr val="0E7C7B"/>
                </a:solidFill>
                <a:latin typeface="Nimbus Sans"/>
                <a:ea typeface="Nimbus Sans"/>
                <a:cs typeface="Nimbus Sans"/>
              </a:rPr>
              <a:t>Human controls</a:t>
            </a:r>
          </a:p>
        </p:txBody>
      </p:sp>
      <p:sp>
        <p:nvSpPr>
          <p:cNvPr id="25" name="">
            <a:extLst xmlns:a="http://schemas.openxmlformats.org/drawingml/2006/main">
              <a:ext uri="{FF2B5EF4-FFF2-40B4-BE49-F238E27FC236}">
                <a16:creationId xmlns:a16="http://schemas.microsoft.com/office/drawing/2014/main" id="{9C3F87FC-79E2-4A3A-8E65-70AE07B49BDA}"/>
              </a:ext>
            </a:extLst>
          </p:cNvPr>
          <p:cNvSpPr>
            <a:spLocks xmlns:a="http://schemas.openxmlformats.org/drawingml/2006/main" noGrp="1"/>
          </p:cNvSpPr>
          <p:nvPr/>
        </p:nvSpPr>
        <p:spPr>
          <a:xfrm xmlns:a="http://schemas.openxmlformats.org/drawingml/2006/main">
            <a:off x="723900" y="5467350"/>
            <a:ext cx="10744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i="0">
                <a:solidFill>
                  <a:srgbClr val="243B53"/>
                </a:solidFill>
                <a:latin typeface="Nimbus Sans"/>
                <a:ea typeface="Nimbus Sans"/>
                <a:cs typeface="Nimbus Sans"/>
              </a:defRPr>
            </a:pPr>
            <a:r>
              <a:rPr sz="1650" b="1" i="0">
                <a:solidFill>
                  <a:srgbClr val="243B53"/>
                </a:solidFill>
                <a:latin typeface="Nimbus Sans"/>
                <a:ea typeface="Nimbus Sans"/>
                <a:cs typeface="Nimbus Sans"/>
              </a:rPr>
              <a:t>Decision support label, clinician override, reason for override, no autonomous prescription, and an audit trail</a:t>
            </a:r>
          </a:p>
        </p:txBody>
      </p:sp>
      <p:sp>
        <p:nvSpPr>
          <p:cNvPr id="26" name="">
            <a:extLst xmlns:a="http://schemas.openxmlformats.org/drawingml/2006/main">
              <a:ext uri="{FF2B5EF4-FFF2-40B4-BE49-F238E27FC236}">
                <a16:creationId xmlns:a16="http://schemas.microsoft.com/office/drawing/2014/main" id="{B6A17E0E-3ADF-4FE3-9576-94BECFAD9134}"/>
              </a:ext>
            </a:extLst>
          </p:cNvPr>
          <p:cNvSpPr>
            <a:spLocks xmlns:a="http://schemas.openxmlformats.org/drawingml/2006/main" noGrp="1"/>
          </p:cNvSpPr>
          <p:nvPr/>
        </p:nvSpPr>
        <p:spPr>
          <a:xfrm xmlns:a="http://schemas.openxmlformats.org/drawingml/2006/main">
            <a:off x="552450" y="6229350"/>
            <a:ext cx="10668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i="1">
                <a:solidFill>
                  <a:srgbClr val="627D98"/>
                </a:solidFill>
                <a:latin typeface="Nimbus Sans"/>
                <a:ea typeface="Nimbus Sans"/>
                <a:cs typeface="Nimbus Sans"/>
              </a:defRPr>
            </a:pPr>
            <a:r>
              <a:rPr sz="975" b="0" i="1">
                <a:solidFill>
                  <a:srgbClr val="627D98"/>
                </a:solidFill>
                <a:latin typeface="Nimbus Sans"/>
                <a:ea typeface="Nimbus Sans"/>
                <a:cs typeface="Nimbus Sans"/>
              </a:rPr>
              <a:t>Proposed workflow for evaluation, not an approved clinical process</a:t>
            </a:r>
          </a:p>
        </p:txBody>
      </p:sp>
      <p:sp>
        <p:nvSpPr>
          <p:cNvPr id="27" name="">
            <a:extLst xmlns:a="http://schemas.openxmlformats.org/drawingml/2006/main">
              <a:ext uri="{FF2B5EF4-FFF2-40B4-BE49-F238E27FC236}">
                <a16:creationId xmlns:a16="http://schemas.microsoft.com/office/drawing/2014/main" id="{BE8BCCB2-8006-4493-BF5B-2A78AABD7E42}"/>
              </a:ext>
            </a:extLst>
          </p:cNvPr>
          <p:cNvSpPr>
            <a:spLocks xmlns:a="http://schemas.openxmlformats.org/drawingml/2006/main" noGrp="1"/>
          </p:cNvSpPr>
          <p:nvPr/>
        </p:nvSpPr>
        <p:spPr>
          <a:xfrm xmlns:a="http://schemas.openxmlformats.org/drawingml/2006/main">
            <a:off x="514350" y="6496050"/>
            <a:ext cx="111633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28" name="">
            <a:extLst xmlns:a="http://schemas.openxmlformats.org/drawingml/2006/main">
              <a:ext uri="{FF2B5EF4-FFF2-40B4-BE49-F238E27FC236}">
                <a16:creationId xmlns:a16="http://schemas.microsoft.com/office/drawing/2014/main" id="{6E0D84E8-5067-49A4-B30D-CEDA24847ADD}"/>
              </a:ext>
            </a:extLst>
          </p:cNvPr>
          <p:cNvSpPr>
            <a:spLocks xmlns:a="http://schemas.openxmlformats.org/drawingml/2006/main" noGrp="1"/>
          </p:cNvSpPr>
          <p:nvPr/>
        </p:nvSpPr>
        <p:spPr>
          <a:xfrm xmlns:a="http://schemas.openxmlformats.org/drawingml/2006/main">
            <a:off x="514350" y="6562725"/>
            <a:ext cx="11163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i="0">
                <a:solidFill>
                  <a:srgbClr val="627D98"/>
                </a:solidFill>
                <a:latin typeface="Nimbus Sans"/>
                <a:ea typeface="Nimbus Sans"/>
                <a:cs typeface="Nimbus Sans"/>
              </a:defRPr>
            </a:pPr>
            <a:r>
              <a:rPr sz="975" b="0" i="0">
                <a:solidFill>
                  <a:srgbClr val="627D98"/>
                </a:solidFill>
                <a:latin typeface="Nimbus Sans"/>
                <a:ea typeface="Nimbus Sans"/>
                <a:cs typeface="Nimbus Sans"/>
              </a:rPr>
              <a:t>DIAL-ALERT executive presentation  /  03</a:t>
            </a:r>
          </a:p>
        </p:txBody>
      </p:sp>
    </p:spTree>
    <p:extLst>
      <p:ext uri="{BB962C8B-B14F-4D97-AF65-F5344CB8AC3E}">
        <p14:creationId xmlns:p14="http://schemas.microsoft.com/office/powerpoint/2010/main" val="239083573"/>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23064E3-138E-40CC-B9C6-2253CCAFC57D}"/>
              </a:ext>
            </a:extLst>
          </p:cNvPr>
          <p:cNvSpPr>
            <a:spLocks xmlns:a="http://schemas.openxmlformats.org/drawingml/2006/main" noGrp="1"/>
          </p:cNvSpPr>
          <p:nvPr/>
        </p:nvSpPr>
        <p:spPr>
          <a:xfrm xmlns:a="http://schemas.openxmlformats.org/drawingml/2006/main">
            <a:off x="514350" y="400050"/>
            <a:ext cx="76200" cy="78105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B8A8035-EF66-408B-B4B0-54BE3D66C87B}"/>
              </a:ext>
            </a:extLst>
          </p:cNvPr>
          <p:cNvSpPr>
            <a:spLocks xmlns:a="http://schemas.openxmlformats.org/drawingml/2006/main" noGrp="1"/>
          </p:cNvSpPr>
          <p:nvPr/>
        </p:nvSpPr>
        <p:spPr>
          <a:xfrm xmlns:a="http://schemas.openxmlformats.org/drawingml/2006/main">
            <a:off x="781050" y="333375"/>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225" b="1" i="0">
                <a:solidFill>
                  <a:srgbClr val="102A43"/>
                </a:solidFill>
                <a:latin typeface="Nimbus Sans"/>
                <a:ea typeface="Nimbus Sans"/>
                <a:cs typeface="Nimbus Sans"/>
              </a:defRPr>
            </a:pPr>
            <a:r>
              <a:rPr sz="3225" b="1" i="0">
                <a:solidFill>
                  <a:srgbClr val="102A43"/>
                </a:solidFill>
                <a:latin typeface="Nimbus Sans"/>
                <a:ea typeface="Nimbus Sans"/>
                <a:cs typeface="Nimbus Sans"/>
              </a:rPr>
              <a:t>Evidence from one retrospective setting</a:t>
            </a:r>
          </a:p>
        </p:txBody>
      </p:sp>
      <p:sp>
        <p:nvSpPr>
          <p:cNvPr id="3" name="">
            <a:extLst xmlns:a="http://schemas.openxmlformats.org/drawingml/2006/main">
              <a:ext uri="{FF2B5EF4-FFF2-40B4-BE49-F238E27FC236}">
                <a16:creationId xmlns:a16="http://schemas.microsoft.com/office/drawing/2014/main" id="{5DB7078B-134B-4995-9528-25289377AF52}"/>
              </a:ext>
            </a:extLst>
          </p:cNvPr>
          <p:cNvSpPr>
            <a:spLocks xmlns:a="http://schemas.openxmlformats.org/drawingml/2006/main" noGrp="1"/>
          </p:cNvSpPr>
          <p:nvPr/>
        </p:nvSpPr>
        <p:spPr>
          <a:xfrm xmlns:a="http://schemas.openxmlformats.org/drawingml/2006/main">
            <a:off x="800100" y="866775"/>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627D98"/>
                </a:solidFill>
                <a:latin typeface="Nimbus Sans"/>
                <a:ea typeface="Nimbus Sans"/>
                <a:cs typeface="Nimbus Sans"/>
              </a:defRPr>
            </a:pPr>
            <a:r>
              <a:rPr sz="1425" b="0" i="0">
                <a:solidFill>
                  <a:srgbClr val="627D98"/>
                </a:solidFill>
                <a:latin typeface="Nimbus Sans"/>
                <a:ea typeface="Nimbus Sans"/>
                <a:cs typeface="Nimbus Sans"/>
              </a:rPr>
              <a:t>Public HEMOBP data provide strong longitudinal depth from one retrospective source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a20fd4d4b1ac4233"/>
          <a:stretch xmlns:a="http://schemas.openxmlformats.org/drawingml/2006/main"/>
        </p:blipFill>
        <p:spPr>
          <a:xfrm xmlns:a="http://schemas.openxmlformats.org/drawingml/2006/main">
            <a:off x="514350" y="1751263"/>
            <a:ext cx="6572250" cy="370789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F941FC8-1BB0-4722-9AAE-55ED81765E00}"/>
              </a:ext>
            </a:extLst>
          </p:cNvPr>
          <p:cNvSpPr>
            <a:spLocks xmlns:a="http://schemas.openxmlformats.org/drawingml/2006/main" noGrp="1"/>
          </p:cNvSpPr>
          <p:nvPr/>
        </p:nvSpPr>
        <p:spPr>
          <a:xfrm xmlns:a="http://schemas.openxmlformats.org/drawingml/2006/main">
            <a:off x="7677150" y="1428750"/>
            <a:ext cx="3143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i="0">
                <a:solidFill>
                  <a:srgbClr val="0E7C7B"/>
                </a:solidFill>
                <a:latin typeface="Nimbus Sans"/>
                <a:ea typeface="Nimbus Sans"/>
                <a:cs typeface="Nimbus Sans"/>
              </a:defRPr>
            </a:pPr>
            <a:r>
              <a:rPr sz="4200" b="1" i="0">
                <a:solidFill>
                  <a:srgbClr val="0E7C7B"/>
                </a:solidFill>
                <a:latin typeface="Nimbus Sans"/>
                <a:ea typeface="Nimbus Sans"/>
                <a:cs typeface="Nimbus Sans"/>
              </a:rPr>
              <a:t>106,758</a:t>
            </a:r>
          </a:p>
        </p:txBody>
      </p:sp>
      <p:sp>
        <p:nvSpPr>
          <p:cNvPr id="6" name="">
            <a:extLst xmlns:a="http://schemas.openxmlformats.org/drawingml/2006/main">
              <a:ext uri="{FF2B5EF4-FFF2-40B4-BE49-F238E27FC236}">
                <a16:creationId xmlns:a16="http://schemas.microsoft.com/office/drawing/2014/main" id="{9DE5FDF7-1C56-492B-8421-457620021247}"/>
              </a:ext>
            </a:extLst>
          </p:cNvPr>
          <p:cNvSpPr>
            <a:spLocks xmlns:a="http://schemas.openxmlformats.org/drawingml/2006/main" noGrp="1"/>
          </p:cNvSpPr>
          <p:nvPr/>
        </p:nvSpPr>
        <p:spPr>
          <a:xfrm xmlns:a="http://schemas.openxmlformats.org/drawingml/2006/main">
            <a:off x="7677150" y="21145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243B53"/>
                </a:solidFill>
                <a:latin typeface="Nimbus Sans"/>
                <a:ea typeface="Nimbus Sans"/>
                <a:cs typeface="Nimbus Sans"/>
              </a:defRPr>
            </a:pPr>
            <a:r>
              <a:rPr sz="1425" b="0" i="0">
                <a:solidFill>
                  <a:srgbClr val="243B53"/>
                </a:solidFill>
                <a:latin typeface="Nimbus Sans"/>
                <a:ea typeface="Nimbus Sans"/>
                <a:cs typeface="Nimbus Sans"/>
              </a:rPr>
              <a:t>eligible sessions</a:t>
            </a:r>
          </a:p>
        </p:txBody>
      </p:sp>
      <p:sp>
        <p:nvSpPr>
          <p:cNvPr id="7" name="">
            <a:extLst xmlns:a="http://schemas.openxmlformats.org/drawingml/2006/main">
              <a:ext uri="{FF2B5EF4-FFF2-40B4-BE49-F238E27FC236}">
                <a16:creationId xmlns:a16="http://schemas.microsoft.com/office/drawing/2014/main" id="{C414868F-3444-4B5F-A83A-9263C4A3F405}"/>
              </a:ext>
            </a:extLst>
          </p:cNvPr>
          <p:cNvSpPr>
            <a:spLocks xmlns:a="http://schemas.openxmlformats.org/drawingml/2006/main" noGrp="1"/>
          </p:cNvSpPr>
          <p:nvPr/>
        </p:nvSpPr>
        <p:spPr>
          <a:xfrm xmlns:a="http://schemas.openxmlformats.org/drawingml/2006/main">
            <a:off x="7677150" y="2533650"/>
            <a:ext cx="3143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i="0">
                <a:solidFill>
                  <a:srgbClr val="765A9E"/>
                </a:solidFill>
                <a:latin typeface="Nimbus Sans"/>
                <a:ea typeface="Nimbus Sans"/>
                <a:cs typeface="Nimbus Sans"/>
              </a:defRPr>
            </a:pPr>
            <a:r>
              <a:rPr sz="4200" b="1" i="0">
                <a:solidFill>
                  <a:srgbClr val="765A9E"/>
                </a:solidFill>
                <a:latin typeface="Nimbus Sans"/>
                <a:ea typeface="Nimbus Sans"/>
                <a:cs typeface="Nimbus Sans"/>
              </a:rPr>
              <a:t>830</a:t>
            </a:r>
          </a:p>
        </p:txBody>
      </p:sp>
      <p:sp>
        <p:nvSpPr>
          <p:cNvPr id="8" name="">
            <a:extLst xmlns:a="http://schemas.openxmlformats.org/drawingml/2006/main">
              <a:ext uri="{FF2B5EF4-FFF2-40B4-BE49-F238E27FC236}">
                <a16:creationId xmlns:a16="http://schemas.microsoft.com/office/drawing/2014/main" id="{C6651D4E-4222-47EC-BEA0-22E677DB124A}"/>
              </a:ext>
            </a:extLst>
          </p:cNvPr>
          <p:cNvSpPr>
            <a:spLocks xmlns:a="http://schemas.openxmlformats.org/drawingml/2006/main" noGrp="1"/>
          </p:cNvSpPr>
          <p:nvPr/>
        </p:nvSpPr>
        <p:spPr>
          <a:xfrm xmlns:a="http://schemas.openxmlformats.org/drawingml/2006/main">
            <a:off x="7677150" y="32194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243B53"/>
                </a:solidFill>
                <a:latin typeface="Nimbus Sans"/>
                <a:ea typeface="Nimbus Sans"/>
                <a:cs typeface="Nimbus Sans"/>
              </a:defRPr>
            </a:pPr>
            <a:r>
              <a:rPr sz="1425" b="0" i="0">
                <a:solidFill>
                  <a:srgbClr val="243B53"/>
                </a:solidFill>
                <a:latin typeface="Nimbus Sans"/>
                <a:ea typeface="Nimbus Sans"/>
                <a:cs typeface="Nimbus Sans"/>
              </a:rPr>
              <a:t>unique patients</a:t>
            </a:r>
          </a:p>
        </p:txBody>
      </p:sp>
      <p:sp>
        <p:nvSpPr>
          <p:cNvPr id="9" name="">
            <a:extLst xmlns:a="http://schemas.openxmlformats.org/drawingml/2006/main">
              <a:ext uri="{FF2B5EF4-FFF2-40B4-BE49-F238E27FC236}">
                <a16:creationId xmlns:a16="http://schemas.microsoft.com/office/drawing/2014/main" id="{AF583C06-566B-4CF1-BF7B-19E8BE32A022}"/>
              </a:ext>
            </a:extLst>
          </p:cNvPr>
          <p:cNvSpPr>
            <a:spLocks xmlns:a="http://schemas.openxmlformats.org/drawingml/2006/main" noGrp="1"/>
          </p:cNvSpPr>
          <p:nvPr/>
        </p:nvSpPr>
        <p:spPr>
          <a:xfrm xmlns:a="http://schemas.openxmlformats.org/drawingml/2006/main">
            <a:off x="7677150" y="3638550"/>
            <a:ext cx="3143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i="0">
                <a:solidFill>
                  <a:srgbClr val="E76F51"/>
                </a:solidFill>
                <a:latin typeface="Nimbus Sans"/>
                <a:ea typeface="Nimbus Sans"/>
                <a:cs typeface="Nimbus Sans"/>
              </a:defRPr>
            </a:pPr>
            <a:r>
              <a:rPr sz="4200" b="1" i="0">
                <a:solidFill>
                  <a:srgbClr val="E76F51"/>
                </a:solidFill>
                <a:latin typeface="Nimbus Sans"/>
                <a:ea typeface="Nimbus Sans"/>
                <a:cs typeface="Nimbus Sans"/>
              </a:rPr>
              <a:t>8.49%</a:t>
            </a:r>
          </a:p>
        </p:txBody>
      </p:sp>
      <p:sp>
        <p:nvSpPr>
          <p:cNvPr id="10" name="">
            <a:extLst xmlns:a="http://schemas.openxmlformats.org/drawingml/2006/main">
              <a:ext uri="{FF2B5EF4-FFF2-40B4-BE49-F238E27FC236}">
                <a16:creationId xmlns:a16="http://schemas.microsoft.com/office/drawing/2014/main" id="{2BC0B5DF-317B-4C2D-BC87-962921EC9D87}"/>
              </a:ext>
            </a:extLst>
          </p:cNvPr>
          <p:cNvSpPr>
            <a:spLocks xmlns:a="http://schemas.openxmlformats.org/drawingml/2006/main" noGrp="1"/>
          </p:cNvSpPr>
          <p:nvPr/>
        </p:nvSpPr>
        <p:spPr>
          <a:xfrm xmlns:a="http://schemas.openxmlformats.org/drawingml/2006/main">
            <a:off x="7677150" y="43243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243B53"/>
                </a:solidFill>
                <a:latin typeface="Nimbus Sans"/>
                <a:ea typeface="Nimbus Sans"/>
                <a:cs typeface="Nimbus Sans"/>
              </a:defRPr>
            </a:pPr>
            <a:r>
              <a:rPr sz="1425" b="0" i="0">
                <a:solidFill>
                  <a:srgbClr val="243B53"/>
                </a:solidFill>
                <a:latin typeface="Nimbus Sans"/>
                <a:ea typeface="Nimbus Sans"/>
                <a:cs typeface="Nimbus Sans"/>
              </a:rPr>
              <a:t>event prevalence</a:t>
            </a:r>
          </a:p>
        </p:txBody>
      </p:sp>
      <p:sp>
        <p:nvSpPr>
          <p:cNvPr id="11" name="">
            <a:extLst xmlns:a="http://schemas.openxmlformats.org/drawingml/2006/main">
              <a:ext uri="{FF2B5EF4-FFF2-40B4-BE49-F238E27FC236}">
                <a16:creationId xmlns:a16="http://schemas.microsoft.com/office/drawing/2014/main" id="{1A625D5F-3026-41E0-942F-1A675E73BAF9}"/>
              </a:ext>
            </a:extLst>
          </p:cNvPr>
          <p:cNvSpPr>
            <a:spLocks xmlns:a="http://schemas.openxmlformats.org/drawingml/2006/main" noGrp="1"/>
          </p:cNvSpPr>
          <p:nvPr/>
        </p:nvSpPr>
        <p:spPr>
          <a:xfrm xmlns:a="http://schemas.openxmlformats.org/drawingml/2006/main">
            <a:off x="7677150" y="4857750"/>
            <a:ext cx="3143250" cy="0"/>
          </a:xfrm>
          <a:prstGeom xmlns:a="http://schemas.openxmlformats.org/drawingml/2006/main" prst="line">
            <a:avLst/>
          </a:prstGeom>
          <a:noFill xmlns:a="http://schemas.openxmlformats.org/drawingml/2006/main"/>
          <a:ln xmlns:a="http://schemas.openxmlformats.org/drawingml/2006/main" w="19050">
            <a:solidFill>
              <a:srgbClr val="D9E2EC"/>
            </a:solidFill>
            <a:prstDash val="solid"/>
          </a:ln>
        </p:spPr>
      </p:sp>
      <p:sp>
        <p:nvSpPr>
          <p:cNvPr id="12" name="">
            <a:extLst xmlns:a="http://schemas.openxmlformats.org/drawingml/2006/main">
              <a:ext uri="{FF2B5EF4-FFF2-40B4-BE49-F238E27FC236}">
                <a16:creationId xmlns:a16="http://schemas.microsoft.com/office/drawing/2014/main" id="{00D248F9-67CF-4F01-9B64-889BB7AEE811}"/>
              </a:ext>
            </a:extLst>
          </p:cNvPr>
          <p:cNvSpPr>
            <a:spLocks xmlns:a="http://schemas.openxmlformats.org/drawingml/2006/main" noGrp="1"/>
          </p:cNvSpPr>
          <p:nvPr/>
        </p:nvSpPr>
        <p:spPr>
          <a:xfrm xmlns:a="http://schemas.openxmlformats.org/drawingml/2006/main">
            <a:off x="7677150" y="50482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i="0">
                <a:solidFill>
                  <a:srgbClr val="0E7C7B"/>
                </a:solidFill>
                <a:latin typeface="Nimbus Sans"/>
                <a:ea typeface="Nimbus Sans"/>
                <a:cs typeface="Nimbus Sans"/>
              </a:defRPr>
            </a:pPr>
            <a:r>
              <a:rPr sz="1350" b="1" i="0">
                <a:solidFill>
                  <a:srgbClr val="0E7C7B"/>
                </a:solidFill>
                <a:latin typeface="Nimbus Sans"/>
                <a:ea typeface="Nimbus Sans"/>
                <a:cs typeface="Nimbus Sans"/>
              </a:rPr>
              <a:t>Test set</a:t>
            </a:r>
          </a:p>
        </p:txBody>
      </p:sp>
      <p:sp>
        <p:nvSpPr>
          <p:cNvPr id="13" name="">
            <a:extLst xmlns:a="http://schemas.openxmlformats.org/drawingml/2006/main">
              <a:ext uri="{FF2B5EF4-FFF2-40B4-BE49-F238E27FC236}">
                <a16:creationId xmlns:a16="http://schemas.microsoft.com/office/drawing/2014/main" id="{8797250D-0ED0-4BA8-9BED-2D2B58A4DA61}"/>
              </a:ext>
            </a:extLst>
          </p:cNvPr>
          <p:cNvSpPr>
            <a:spLocks xmlns:a="http://schemas.openxmlformats.org/drawingml/2006/main" noGrp="1"/>
          </p:cNvSpPr>
          <p:nvPr/>
        </p:nvSpPr>
        <p:spPr>
          <a:xfrm xmlns:a="http://schemas.openxmlformats.org/drawingml/2006/main">
            <a:off x="7677150" y="5391150"/>
            <a:ext cx="3333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i="0">
                <a:solidFill>
                  <a:srgbClr val="243B53"/>
                </a:solidFill>
                <a:latin typeface="Nimbus Sans"/>
                <a:ea typeface="Nimbus Sans"/>
                <a:cs typeface="Nimbus Sans"/>
              </a:defRPr>
            </a:pPr>
            <a:r>
              <a:rPr sz="1425" b="1" i="0">
                <a:solidFill>
                  <a:srgbClr val="243B53"/>
                </a:solidFill>
                <a:latin typeface="Nimbus Sans"/>
                <a:ea typeface="Nimbus Sans"/>
                <a:cs typeface="Nimbus Sans"/>
              </a:rPr>
              <a:t>21,354 sessions from 170 patients with zero overlap with development patients</a:t>
            </a:r>
          </a:p>
        </p:txBody>
      </p:sp>
      <p:sp>
        <p:nvSpPr>
          <p:cNvPr id="14" name="">
            <a:extLst xmlns:a="http://schemas.openxmlformats.org/drawingml/2006/main">
              <a:ext uri="{FF2B5EF4-FFF2-40B4-BE49-F238E27FC236}">
                <a16:creationId xmlns:a16="http://schemas.microsoft.com/office/drawing/2014/main" id="{5F07A1B9-6D5E-4F74-B9CC-A9D45525C904}"/>
              </a:ext>
            </a:extLst>
          </p:cNvPr>
          <p:cNvSpPr>
            <a:spLocks xmlns:a="http://schemas.openxmlformats.org/drawingml/2006/main" noGrp="1"/>
          </p:cNvSpPr>
          <p:nvPr/>
        </p:nvSpPr>
        <p:spPr>
          <a:xfrm xmlns:a="http://schemas.openxmlformats.org/drawingml/2006/main">
            <a:off x="552450" y="6229350"/>
            <a:ext cx="10668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i="1">
                <a:solidFill>
                  <a:srgbClr val="627D98"/>
                </a:solidFill>
                <a:latin typeface="Nimbus Sans"/>
                <a:ea typeface="Nimbus Sans"/>
                <a:cs typeface="Nimbus Sans"/>
              </a:defRPr>
            </a:pPr>
            <a:r>
              <a:rPr sz="975" b="0" i="1">
                <a:solidFill>
                  <a:srgbClr val="627D98"/>
                </a:solidFill>
                <a:latin typeface="Nimbus Sans"/>
                <a:ea typeface="Nimbus Sans"/>
                <a:cs typeface="Nimbus Sans"/>
              </a:rPr>
              <a:t>Source: HEMOBP v3 and DIAL-ALERT cohort audit</a:t>
            </a:r>
          </a:p>
        </p:txBody>
      </p:sp>
      <p:sp>
        <p:nvSpPr>
          <p:cNvPr id="15" name="">
            <a:extLst xmlns:a="http://schemas.openxmlformats.org/drawingml/2006/main">
              <a:ext uri="{FF2B5EF4-FFF2-40B4-BE49-F238E27FC236}">
                <a16:creationId xmlns:a16="http://schemas.microsoft.com/office/drawing/2014/main" id="{21F0FB7F-7836-4C92-8F39-BEFFA3C6DE43}"/>
              </a:ext>
            </a:extLst>
          </p:cNvPr>
          <p:cNvSpPr>
            <a:spLocks xmlns:a="http://schemas.openxmlformats.org/drawingml/2006/main" noGrp="1"/>
          </p:cNvSpPr>
          <p:nvPr/>
        </p:nvSpPr>
        <p:spPr>
          <a:xfrm xmlns:a="http://schemas.openxmlformats.org/drawingml/2006/main">
            <a:off x="514350" y="6496050"/>
            <a:ext cx="111633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16" name="">
            <a:extLst xmlns:a="http://schemas.openxmlformats.org/drawingml/2006/main">
              <a:ext uri="{FF2B5EF4-FFF2-40B4-BE49-F238E27FC236}">
                <a16:creationId xmlns:a16="http://schemas.microsoft.com/office/drawing/2014/main" id="{B59A0294-A280-43EC-8F5B-6BEE65983554}"/>
              </a:ext>
            </a:extLst>
          </p:cNvPr>
          <p:cNvSpPr>
            <a:spLocks xmlns:a="http://schemas.openxmlformats.org/drawingml/2006/main" noGrp="1"/>
          </p:cNvSpPr>
          <p:nvPr/>
        </p:nvSpPr>
        <p:spPr>
          <a:xfrm xmlns:a="http://schemas.openxmlformats.org/drawingml/2006/main">
            <a:off x="514350" y="6562725"/>
            <a:ext cx="11163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i="0">
                <a:solidFill>
                  <a:srgbClr val="627D98"/>
                </a:solidFill>
                <a:latin typeface="Nimbus Sans"/>
                <a:ea typeface="Nimbus Sans"/>
                <a:cs typeface="Nimbus Sans"/>
              </a:defRPr>
            </a:pPr>
            <a:r>
              <a:rPr sz="975" b="0" i="0">
                <a:solidFill>
                  <a:srgbClr val="627D98"/>
                </a:solidFill>
                <a:latin typeface="Nimbus Sans"/>
                <a:ea typeface="Nimbus Sans"/>
                <a:cs typeface="Nimbus Sans"/>
              </a:rPr>
              <a:t>DIAL-ALERT executive presentation  /  04</a:t>
            </a:r>
          </a:p>
        </p:txBody>
      </p:sp>
    </p:spTree>
    <p:extLst>
      <p:ext uri="{BB962C8B-B14F-4D97-AF65-F5344CB8AC3E}">
        <p14:creationId xmlns:p14="http://schemas.microsoft.com/office/powerpoint/2010/main" val="1517043802"/>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67AAEBC-9DD9-4237-AA82-7D547E4C7B70}"/>
              </a:ext>
            </a:extLst>
          </p:cNvPr>
          <p:cNvSpPr>
            <a:spLocks xmlns:a="http://schemas.openxmlformats.org/drawingml/2006/main" noGrp="1"/>
          </p:cNvSpPr>
          <p:nvPr/>
        </p:nvSpPr>
        <p:spPr>
          <a:xfrm xmlns:a="http://schemas.openxmlformats.org/drawingml/2006/main">
            <a:off x="514350" y="400050"/>
            <a:ext cx="76200" cy="78105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B8F6E50-D9D4-46CF-B7D9-CC5A9D0150C9}"/>
              </a:ext>
            </a:extLst>
          </p:cNvPr>
          <p:cNvSpPr>
            <a:spLocks xmlns:a="http://schemas.openxmlformats.org/drawingml/2006/main" noGrp="1"/>
          </p:cNvSpPr>
          <p:nvPr/>
        </p:nvSpPr>
        <p:spPr>
          <a:xfrm xmlns:a="http://schemas.openxmlformats.org/drawingml/2006/main">
            <a:off x="781050" y="333375"/>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225" b="1" i="0">
                <a:solidFill>
                  <a:srgbClr val="102A43"/>
                </a:solidFill>
                <a:latin typeface="Nimbus Sans"/>
                <a:ea typeface="Nimbus Sans"/>
                <a:cs typeface="Nimbus Sans"/>
              </a:defRPr>
            </a:pPr>
            <a:r>
              <a:rPr sz="3225" b="1" i="0">
                <a:solidFill>
                  <a:srgbClr val="102A43"/>
                </a:solidFill>
                <a:latin typeface="Nimbus Sans"/>
                <a:ea typeface="Nimbus Sans"/>
                <a:cs typeface="Nimbus Sans"/>
              </a:rPr>
              <a:t>Workload at 20% review capacity</a:t>
            </a:r>
          </a:p>
        </p:txBody>
      </p:sp>
      <p:sp>
        <p:nvSpPr>
          <p:cNvPr id="3" name="">
            <a:extLst xmlns:a="http://schemas.openxmlformats.org/drawingml/2006/main">
              <a:ext uri="{FF2B5EF4-FFF2-40B4-BE49-F238E27FC236}">
                <a16:creationId xmlns:a16="http://schemas.microsoft.com/office/drawing/2014/main" id="{B877C366-57C4-4361-AE74-279BBD6E9A72}"/>
              </a:ext>
            </a:extLst>
          </p:cNvPr>
          <p:cNvSpPr>
            <a:spLocks xmlns:a="http://schemas.openxmlformats.org/drawingml/2006/main" noGrp="1"/>
          </p:cNvSpPr>
          <p:nvPr/>
        </p:nvSpPr>
        <p:spPr>
          <a:xfrm xmlns:a="http://schemas.openxmlformats.org/drawingml/2006/main">
            <a:off x="800100" y="866775"/>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627D98"/>
                </a:solidFill>
                <a:latin typeface="Nimbus Sans"/>
                <a:ea typeface="Nimbus Sans"/>
                <a:cs typeface="Nimbus Sans"/>
              </a:defRPr>
            </a:pPr>
            <a:r>
              <a:rPr sz="1425" b="0" i="0">
                <a:solidFill>
                  <a:srgbClr val="627D98"/>
                </a:solidFill>
                <a:latin typeface="Nimbus Sans"/>
                <a:ea typeface="Nimbus Sans"/>
                <a:cs typeface="Nimbus Sans"/>
              </a:rPr>
              <a:t>Expected counts per 100 sessions in the internal test population</a:t>
            </a:r>
          </a:p>
        </p:txBody>
      </p:sp>
      <p:graphicFrame>
        <p:nvGraphicFramePr>
          <p:cNvPr id="17" name="Chart"/>
          <p:cNvGraphicFramePr/>
          <p:nvPr/>
        </p:nvGraphicFramePr>
        <p:xfrm>
          <a:off xmlns:a="http://schemas.openxmlformats.org/drawingml/2006/main" x="619125" y="1619250"/>
          <a:ext xmlns:a="http://schemas.openxmlformats.org/drawingml/2006/main" cx="4762500" cy="3333750"/>
        </p:xfrm>
        <a:graphic xmlns:a="http://schemas.openxmlformats.org/drawingml/2006/main">
          <a:graphicData uri="http://schemas.openxmlformats.org/drawingml/2006/chart">
            <c:chart xmlns:r="http://schemas.openxmlformats.org/officeDocument/2006/relationships" xmlns:c="http://schemas.openxmlformats.org/drawingml/2006/chart" r:id="R3ee277c1cee04224"/>
          </a:graphicData>
        </a:graphic>
      </p:graphicFrame>
      <p:graphicFrame>
        <p:nvGraphicFramePr>
          <p:cNvPr id="18" name="Chart"/>
          <p:cNvGraphicFramePr/>
          <p:nvPr/>
        </p:nvGraphicFramePr>
        <p:xfrm>
          <a:off xmlns:a="http://schemas.openxmlformats.org/drawingml/2006/main" x="6810375" y="1619250"/>
          <a:ext xmlns:a="http://schemas.openxmlformats.org/drawingml/2006/main" cx="4762500" cy="3333750"/>
        </p:xfrm>
        <a:graphic xmlns:a="http://schemas.openxmlformats.org/drawingml/2006/main">
          <a:graphicData uri="http://schemas.openxmlformats.org/drawingml/2006/chart">
            <c:chart xmlns:r="http://schemas.openxmlformats.org/officeDocument/2006/relationships" xmlns:c="http://schemas.openxmlformats.org/drawingml/2006/chart" r:id="R42931ae315434791"/>
          </a:graphicData>
        </a:graphic>
      </p:graphicFrame>
      <p:sp>
        <p:nvSpPr>
          <p:cNvPr id="6" name="">
            <a:extLst xmlns:a="http://schemas.openxmlformats.org/drawingml/2006/main">
              <a:ext uri="{FF2B5EF4-FFF2-40B4-BE49-F238E27FC236}">
                <a16:creationId xmlns:a16="http://schemas.microsoft.com/office/drawing/2014/main" id="{68EA3AF7-AB58-4933-9AFC-6D26128C8F4C}"/>
              </a:ext>
            </a:extLst>
          </p:cNvPr>
          <p:cNvSpPr>
            <a:spLocks xmlns:a="http://schemas.openxmlformats.org/drawingml/2006/main" noGrp="1"/>
          </p:cNvSpPr>
          <p:nvPr/>
        </p:nvSpPr>
        <p:spPr>
          <a:xfrm xmlns:a="http://schemas.openxmlformats.org/drawingml/2006/main">
            <a:off x="714375" y="4676775"/>
            <a:ext cx="5381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i="0">
                <a:solidFill>
                  <a:srgbClr val="243B53"/>
                </a:solidFill>
                <a:latin typeface="Nimbus Sans"/>
                <a:ea typeface="Nimbus Sans"/>
                <a:cs typeface="Nimbus Sans"/>
              </a:defRPr>
            </a:pPr>
            <a:r>
              <a:rPr sz="1350" b="0" i="0">
                <a:solidFill>
                  <a:srgbClr val="243B53"/>
                </a:solidFill>
                <a:latin typeface="Nimbus Sans"/>
                <a:ea typeface="Nimbus Sans"/>
                <a:cs typeface="Nimbus Sans"/>
              </a:rPr>
              <a:t>Teal: captured 69.1%    Gray: missed 30.9%</a:t>
            </a:r>
          </a:p>
        </p:txBody>
      </p:sp>
      <p:sp>
        <p:nvSpPr>
          <p:cNvPr id="7" name="">
            <a:extLst xmlns:a="http://schemas.openxmlformats.org/drawingml/2006/main">
              <a:ext uri="{FF2B5EF4-FFF2-40B4-BE49-F238E27FC236}">
                <a16:creationId xmlns:a16="http://schemas.microsoft.com/office/drawing/2014/main" id="{D6CC613D-F0D8-4D2A-902A-5F327B80621F}"/>
              </a:ext>
            </a:extLst>
          </p:cNvPr>
          <p:cNvSpPr>
            <a:spLocks xmlns:a="http://schemas.openxmlformats.org/drawingml/2006/main" noGrp="1"/>
          </p:cNvSpPr>
          <p:nvPr/>
        </p:nvSpPr>
        <p:spPr>
          <a:xfrm xmlns:a="http://schemas.openxmlformats.org/drawingml/2006/main">
            <a:off x="6648450" y="4676775"/>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i="0">
                <a:solidFill>
                  <a:srgbClr val="243B53"/>
                </a:solidFill>
                <a:latin typeface="Nimbus Sans"/>
                <a:ea typeface="Nimbus Sans"/>
                <a:cs typeface="Nimbus Sans"/>
              </a:defRPr>
            </a:pPr>
            <a:r>
              <a:rPr sz="1350" b="0" i="0">
                <a:solidFill>
                  <a:srgbClr val="243B53"/>
                </a:solidFill>
                <a:latin typeface="Nimbus Sans"/>
                <a:ea typeface="Nimbus Sans"/>
                <a:cs typeface="Nimbus Sans"/>
              </a:rPr>
              <a:t>Coral: event 29.4%    Gold: no event 70.6%</a:t>
            </a:r>
          </a:p>
        </p:txBody>
      </p:sp>
      <p:sp>
        <p:nvSpPr>
          <p:cNvPr id="8" name="">
            <a:extLst xmlns:a="http://schemas.openxmlformats.org/drawingml/2006/main">
              <a:ext uri="{FF2B5EF4-FFF2-40B4-BE49-F238E27FC236}">
                <a16:creationId xmlns:a16="http://schemas.microsoft.com/office/drawing/2014/main" id="{23EA5441-B6C5-449C-AD47-921C494762C2}"/>
              </a:ext>
            </a:extLst>
          </p:cNvPr>
          <p:cNvSpPr>
            <a:spLocks xmlns:a="http://schemas.openxmlformats.org/drawingml/2006/main" noGrp="1"/>
          </p:cNvSpPr>
          <p:nvPr/>
        </p:nvSpPr>
        <p:spPr>
          <a:xfrm xmlns:a="http://schemas.openxmlformats.org/drawingml/2006/main">
            <a:off x="1143000" y="5048250"/>
            <a:ext cx="3714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i="0">
                <a:solidFill>
                  <a:srgbClr val="0E7C7B"/>
                </a:solidFill>
                <a:latin typeface="Nimbus Sans"/>
                <a:ea typeface="Nimbus Sans"/>
                <a:cs typeface="Nimbus Sans"/>
              </a:defRPr>
            </a:pPr>
            <a:r>
              <a:rPr sz="1875" b="1" i="0">
                <a:solidFill>
                  <a:srgbClr val="0E7C7B"/>
                </a:solidFill>
                <a:latin typeface="Nimbus Sans"/>
                <a:ea typeface="Nimbus Sans"/>
                <a:cs typeface="Nimbus Sans"/>
              </a:rPr>
              <a:t>8.5 observed events</a:t>
            </a:r>
          </a:p>
        </p:txBody>
      </p:sp>
      <p:sp>
        <p:nvSpPr>
          <p:cNvPr id="9" name="">
            <a:extLst xmlns:a="http://schemas.openxmlformats.org/drawingml/2006/main">
              <a:ext uri="{FF2B5EF4-FFF2-40B4-BE49-F238E27FC236}">
                <a16:creationId xmlns:a16="http://schemas.microsoft.com/office/drawing/2014/main" id="{57EC8ED0-BD40-4D08-BB8F-818A30C8A443}"/>
              </a:ext>
            </a:extLst>
          </p:cNvPr>
          <p:cNvSpPr>
            <a:spLocks xmlns:a="http://schemas.openxmlformats.org/drawingml/2006/main" noGrp="1"/>
          </p:cNvSpPr>
          <p:nvPr/>
        </p:nvSpPr>
        <p:spPr>
          <a:xfrm xmlns:a="http://schemas.openxmlformats.org/drawingml/2006/main">
            <a:off x="7334250" y="5048250"/>
            <a:ext cx="3714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i="0">
                <a:solidFill>
                  <a:srgbClr val="E76F51"/>
                </a:solidFill>
                <a:latin typeface="Nimbus Sans"/>
                <a:ea typeface="Nimbus Sans"/>
                <a:cs typeface="Nimbus Sans"/>
              </a:defRPr>
            </a:pPr>
            <a:r>
              <a:rPr sz="1875" b="1" i="0">
                <a:solidFill>
                  <a:srgbClr val="E76F51"/>
                </a:solidFill>
                <a:latin typeface="Nimbus Sans"/>
                <a:ea typeface="Nimbus Sans"/>
                <a:cs typeface="Nimbus Sans"/>
              </a:rPr>
              <a:t>20 alert reviews</a:t>
            </a:r>
          </a:p>
        </p:txBody>
      </p:sp>
      <p:sp>
        <p:nvSpPr>
          <p:cNvPr id="10" name="">
            <a:extLst xmlns:a="http://schemas.openxmlformats.org/drawingml/2006/main">
              <a:ext uri="{FF2B5EF4-FFF2-40B4-BE49-F238E27FC236}">
                <a16:creationId xmlns:a16="http://schemas.microsoft.com/office/drawing/2014/main" id="{51A34564-240D-457D-AFA4-DAF87BA5B694}"/>
              </a:ext>
            </a:extLst>
          </p:cNvPr>
          <p:cNvSpPr>
            <a:spLocks xmlns:a="http://schemas.openxmlformats.org/drawingml/2006/main" noGrp="1"/>
          </p:cNvSpPr>
          <p:nvPr/>
        </p:nvSpPr>
        <p:spPr>
          <a:xfrm xmlns:a="http://schemas.openxmlformats.org/drawingml/2006/main">
            <a:off x="1238250" y="56388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75" b="1" i="0">
                <a:solidFill>
                  <a:srgbClr val="B23A48"/>
                </a:solidFill>
                <a:latin typeface="Nimbus Sans"/>
                <a:ea typeface="Nimbus Sans"/>
                <a:cs typeface="Nimbus Sans"/>
              </a:defRPr>
            </a:pPr>
            <a:r>
              <a:rPr sz="1575" b="1" i="0">
                <a:solidFill>
                  <a:srgbClr val="B23A48"/>
                </a:solidFill>
                <a:latin typeface="Nimbus Sans"/>
                <a:ea typeface="Nimbus Sans"/>
                <a:cs typeface="Nimbus Sans"/>
              </a:rPr>
              <a:t>These counts describe retrospective concentration of events. They do not estimate events prevented by clinical action.</a:t>
            </a:r>
          </a:p>
        </p:txBody>
      </p:sp>
      <p:sp>
        <p:nvSpPr>
          <p:cNvPr id="11" name="">
            <a:extLst xmlns:a="http://schemas.openxmlformats.org/drawingml/2006/main">
              <a:ext uri="{FF2B5EF4-FFF2-40B4-BE49-F238E27FC236}">
                <a16:creationId xmlns:a16="http://schemas.microsoft.com/office/drawing/2014/main" id="{4654930D-101B-4E05-BF20-D8E60479E7AA}"/>
              </a:ext>
            </a:extLst>
          </p:cNvPr>
          <p:cNvSpPr>
            <a:spLocks xmlns:a="http://schemas.openxmlformats.org/drawingml/2006/main" noGrp="1"/>
          </p:cNvSpPr>
          <p:nvPr/>
        </p:nvSpPr>
        <p:spPr>
          <a:xfrm xmlns:a="http://schemas.openxmlformats.org/drawingml/2006/main">
            <a:off x="552450" y="6229350"/>
            <a:ext cx="10668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i="1">
                <a:solidFill>
                  <a:srgbClr val="627D98"/>
                </a:solidFill>
                <a:latin typeface="Nimbus Sans"/>
                <a:ea typeface="Nimbus Sans"/>
                <a:cs typeface="Nimbus Sans"/>
              </a:defRPr>
            </a:pPr>
            <a:r>
              <a:rPr sz="975" b="0" i="1">
                <a:solidFill>
                  <a:srgbClr val="627D98"/>
                </a:solidFill>
                <a:latin typeface="Nimbus Sans"/>
                <a:ea typeface="Nimbus Sans"/>
                <a:cs typeface="Nimbus Sans"/>
              </a:rPr>
              <a:t>Calculated from 8.49% prevalence, 69.13% recall, and 20% review capacity</a:t>
            </a:r>
          </a:p>
        </p:txBody>
      </p:sp>
      <p:sp>
        <p:nvSpPr>
          <p:cNvPr id="12" name="">
            <a:extLst xmlns:a="http://schemas.openxmlformats.org/drawingml/2006/main">
              <a:ext uri="{FF2B5EF4-FFF2-40B4-BE49-F238E27FC236}">
                <a16:creationId xmlns:a16="http://schemas.microsoft.com/office/drawing/2014/main" id="{C02658A5-94DB-4791-B87F-FEF73FCCC866}"/>
              </a:ext>
            </a:extLst>
          </p:cNvPr>
          <p:cNvSpPr>
            <a:spLocks xmlns:a="http://schemas.openxmlformats.org/drawingml/2006/main" noGrp="1"/>
          </p:cNvSpPr>
          <p:nvPr/>
        </p:nvSpPr>
        <p:spPr>
          <a:xfrm xmlns:a="http://schemas.openxmlformats.org/drawingml/2006/main">
            <a:off x="514350" y="6496050"/>
            <a:ext cx="111633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13" name="">
            <a:extLst xmlns:a="http://schemas.openxmlformats.org/drawingml/2006/main">
              <a:ext uri="{FF2B5EF4-FFF2-40B4-BE49-F238E27FC236}">
                <a16:creationId xmlns:a16="http://schemas.microsoft.com/office/drawing/2014/main" id="{A30B3E0E-208F-4432-8B3A-AD7868BC4FFB}"/>
              </a:ext>
            </a:extLst>
          </p:cNvPr>
          <p:cNvSpPr>
            <a:spLocks xmlns:a="http://schemas.openxmlformats.org/drawingml/2006/main" noGrp="1"/>
          </p:cNvSpPr>
          <p:nvPr/>
        </p:nvSpPr>
        <p:spPr>
          <a:xfrm xmlns:a="http://schemas.openxmlformats.org/drawingml/2006/main">
            <a:off x="514350" y="6562725"/>
            <a:ext cx="11163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i="0">
                <a:solidFill>
                  <a:srgbClr val="627D98"/>
                </a:solidFill>
                <a:latin typeface="Nimbus Sans"/>
                <a:ea typeface="Nimbus Sans"/>
                <a:cs typeface="Nimbus Sans"/>
              </a:defRPr>
            </a:pPr>
            <a:r>
              <a:rPr sz="975" b="0" i="0">
                <a:solidFill>
                  <a:srgbClr val="627D98"/>
                </a:solidFill>
                <a:latin typeface="Nimbus Sans"/>
                <a:ea typeface="Nimbus Sans"/>
                <a:cs typeface="Nimbus Sans"/>
              </a:rPr>
              <a:t>DIAL-ALERT executive presentation  /  05</a:t>
            </a:r>
          </a:p>
        </p:txBody>
      </p:sp>
    </p:spTree>
    <p:extLst>
      <p:ext uri="{BB962C8B-B14F-4D97-AF65-F5344CB8AC3E}">
        <p14:creationId xmlns:p14="http://schemas.microsoft.com/office/powerpoint/2010/main" val="891382167"/>
      </p:ext>
    </p:extLst>
  </p:cSld>
</p:sld>
</file>

<file path=ppt/slides/slide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66D5993-013B-4610-B691-8BDB082D8623}"/>
              </a:ext>
            </a:extLst>
          </p:cNvPr>
          <p:cNvSpPr>
            <a:spLocks xmlns:a="http://schemas.openxmlformats.org/drawingml/2006/main" noGrp="1"/>
          </p:cNvSpPr>
          <p:nvPr/>
        </p:nvSpPr>
        <p:spPr>
          <a:xfrm xmlns:a="http://schemas.openxmlformats.org/drawingml/2006/main">
            <a:off x="514350" y="400050"/>
            <a:ext cx="76200" cy="78105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1CF13EA-76C3-4469-8907-DA68E5FC969B}"/>
              </a:ext>
            </a:extLst>
          </p:cNvPr>
          <p:cNvSpPr>
            <a:spLocks xmlns:a="http://schemas.openxmlformats.org/drawingml/2006/main" noGrp="1"/>
          </p:cNvSpPr>
          <p:nvPr/>
        </p:nvSpPr>
        <p:spPr>
          <a:xfrm xmlns:a="http://schemas.openxmlformats.org/drawingml/2006/main">
            <a:off x="781050" y="333375"/>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225" b="1" i="0">
                <a:solidFill>
                  <a:srgbClr val="102A43"/>
                </a:solidFill>
                <a:latin typeface="Nimbus Sans"/>
                <a:ea typeface="Nimbus Sans"/>
                <a:cs typeface="Nimbus Sans"/>
              </a:defRPr>
            </a:pPr>
            <a:r>
              <a:rPr sz="3225" b="1" i="0">
                <a:solidFill>
                  <a:srgbClr val="102A43"/>
                </a:solidFill>
                <a:latin typeface="Nimbus Sans"/>
                <a:ea typeface="Nimbus Sans"/>
                <a:cs typeface="Nimbus Sans"/>
              </a:rPr>
              <a:t>ROI measurement framework</a:t>
            </a:r>
          </a:p>
        </p:txBody>
      </p:sp>
      <p:sp>
        <p:nvSpPr>
          <p:cNvPr id="3" name="">
            <a:extLst xmlns:a="http://schemas.openxmlformats.org/drawingml/2006/main">
              <a:ext uri="{FF2B5EF4-FFF2-40B4-BE49-F238E27FC236}">
                <a16:creationId xmlns:a16="http://schemas.microsoft.com/office/drawing/2014/main" id="{C2990B1E-E0BC-457D-B564-9FB121C4D5FB}"/>
              </a:ext>
            </a:extLst>
          </p:cNvPr>
          <p:cNvSpPr>
            <a:spLocks xmlns:a="http://schemas.openxmlformats.org/drawingml/2006/main" noGrp="1"/>
          </p:cNvSpPr>
          <p:nvPr/>
        </p:nvSpPr>
        <p:spPr>
          <a:xfrm xmlns:a="http://schemas.openxmlformats.org/drawingml/2006/main">
            <a:off x="800100" y="866775"/>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627D98"/>
                </a:solidFill>
                <a:latin typeface="Nimbus Sans"/>
                <a:ea typeface="Nimbus Sans"/>
                <a:cs typeface="Nimbus Sans"/>
              </a:defRPr>
            </a:pPr>
            <a:r>
              <a:rPr sz="1425" b="0" i="0">
                <a:solidFill>
                  <a:srgbClr val="627D98"/>
                </a:solidFill>
                <a:latin typeface="Nimbus Sans"/>
                <a:ea typeface="Nimbus Sans"/>
                <a:cs typeface="Nimbus Sans"/>
              </a:rPr>
              <a:t>The pilot should estimate benefits and costs before any investment claim</a:t>
            </a:r>
          </a:p>
        </p:txBody>
      </p:sp>
      <p:sp>
        <p:nvSpPr>
          <p:cNvPr id="4" name="">
            <a:extLst xmlns:a="http://schemas.openxmlformats.org/drawingml/2006/main">
              <a:ext uri="{FF2B5EF4-FFF2-40B4-BE49-F238E27FC236}">
                <a16:creationId xmlns:a16="http://schemas.microsoft.com/office/drawing/2014/main" id="{6B59CC92-59B8-4369-B62D-13A29FDE8B50}"/>
              </a:ext>
            </a:extLst>
          </p:cNvPr>
          <p:cNvSpPr>
            <a:spLocks xmlns:a="http://schemas.openxmlformats.org/drawingml/2006/main" noGrp="1"/>
          </p:cNvSpPr>
          <p:nvPr/>
        </p:nvSpPr>
        <p:spPr>
          <a:xfrm xmlns:a="http://schemas.openxmlformats.org/drawingml/2006/main">
            <a:off x="685800" y="1409700"/>
            <a:ext cx="10820400" cy="990600"/>
          </a:xfrm>
          <a:prstGeom xmlns:a="http://schemas.openxmlformats.org/drawingml/2006/main" prst="roundRect">
            <a:avLst>
              <a:gd name="adj" fmla="val 9615"/>
            </a:avLst>
          </a:prstGeom>
          <a:solidFill xmlns:a="http://schemas.openxmlformats.org/drawingml/2006/main">
            <a:srgbClr val="E8F2F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FD7E8F5-531D-4D12-9CBF-B6E922CF9CF0}"/>
              </a:ext>
            </a:extLst>
          </p:cNvPr>
          <p:cNvSpPr>
            <a:spLocks xmlns:a="http://schemas.openxmlformats.org/drawingml/2006/main" noGrp="1"/>
          </p:cNvSpPr>
          <p:nvPr/>
        </p:nvSpPr>
        <p:spPr>
          <a:xfrm xmlns:a="http://schemas.openxmlformats.org/drawingml/2006/main">
            <a:off x="1000125" y="1676400"/>
            <a:ext cx="1019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00" b="1" i="0">
                <a:solidFill>
                  <a:srgbClr val="102A43"/>
                </a:solidFill>
                <a:latin typeface="Nimbus Sans"/>
                <a:ea typeface="Nimbus Sans"/>
                <a:cs typeface="Nimbus Sans"/>
              </a:defRPr>
            </a:pPr>
            <a:r>
              <a:rPr sz="2100" b="1" i="0">
                <a:solidFill>
                  <a:srgbClr val="102A43"/>
                </a:solidFill>
                <a:latin typeface="Nimbus Sans"/>
                <a:ea typeface="Nimbus Sans"/>
                <a:cs typeface="Nimbus Sans"/>
              </a:rPr>
              <a:t>Net value = events avoided × cost of an avoidable event − review labor − intervention cost − integration and monitoring</a:t>
            </a:r>
          </a:p>
        </p:txBody>
      </p:sp>
      <p:sp>
        <p:nvSpPr>
          <p:cNvPr id="6" name="">
            <a:extLst xmlns:a="http://schemas.openxmlformats.org/drawingml/2006/main">
              <a:ext uri="{FF2B5EF4-FFF2-40B4-BE49-F238E27FC236}">
                <a16:creationId xmlns:a16="http://schemas.microsoft.com/office/drawing/2014/main" id="{14313E99-6E62-4C64-B1FF-7BBA10DEC9CE}"/>
              </a:ext>
            </a:extLst>
          </p:cNvPr>
          <p:cNvSpPr>
            <a:spLocks xmlns:a="http://schemas.openxmlformats.org/drawingml/2006/main" noGrp="1"/>
          </p:cNvSpPr>
          <p:nvPr/>
        </p:nvSpPr>
        <p:spPr>
          <a:xfrm xmlns:a="http://schemas.openxmlformats.org/drawingml/2006/main">
            <a:off x="781050" y="285750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i="0">
                <a:solidFill>
                  <a:srgbClr val="0E7C7B"/>
                </a:solidFill>
                <a:latin typeface="Nimbus Sans"/>
                <a:ea typeface="Nimbus Sans"/>
                <a:cs typeface="Nimbus Sans"/>
              </a:defRPr>
            </a:pPr>
            <a:r>
              <a:rPr sz="1875" b="1" i="0">
                <a:solidFill>
                  <a:srgbClr val="0E7C7B"/>
                </a:solidFill>
                <a:latin typeface="Nimbus Sans"/>
                <a:ea typeface="Nimbus Sans"/>
                <a:cs typeface="Nimbus Sans"/>
              </a:rPr>
              <a:t>Benefit evidence</a:t>
            </a:r>
          </a:p>
        </p:txBody>
      </p:sp>
      <p:sp>
        <p:nvSpPr>
          <p:cNvPr id="7" name="">
            <a:extLst xmlns:a="http://schemas.openxmlformats.org/drawingml/2006/main">
              <a:ext uri="{FF2B5EF4-FFF2-40B4-BE49-F238E27FC236}">
                <a16:creationId xmlns:a16="http://schemas.microsoft.com/office/drawing/2014/main" id="{88987410-9A57-4B8E-B1C9-E48FC8677E02}"/>
              </a:ext>
            </a:extLst>
          </p:cNvPr>
          <p:cNvSpPr>
            <a:spLocks xmlns:a="http://schemas.openxmlformats.org/drawingml/2006/main" noGrp="1"/>
          </p:cNvSpPr>
          <p:nvPr/>
        </p:nvSpPr>
        <p:spPr>
          <a:xfrm xmlns:a="http://schemas.openxmlformats.org/drawingml/2006/main">
            <a:off x="781050" y="3390900"/>
            <a:ext cx="57150" cy="285750"/>
          </a:xfrm>
          <a:prstGeom xmlns:a="http://schemas.openxmlformats.org/drawingml/2006/main" prst="rect">
            <a:avLst/>
          </a:prstGeom>
          <a:solidFill xmlns:a="http://schemas.openxmlformats.org/drawingml/2006/main">
            <a:srgbClr val="2A9D8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F1F1053-8D24-465B-B3CE-C4044A212B40}"/>
              </a:ext>
            </a:extLst>
          </p:cNvPr>
          <p:cNvSpPr>
            <a:spLocks xmlns:a="http://schemas.openxmlformats.org/drawingml/2006/main" noGrp="1"/>
          </p:cNvSpPr>
          <p:nvPr/>
        </p:nvSpPr>
        <p:spPr>
          <a:xfrm xmlns:a="http://schemas.openxmlformats.org/drawingml/2006/main">
            <a:off x="1009650" y="3333750"/>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i="0">
                <a:solidFill>
                  <a:srgbClr val="243B53"/>
                </a:solidFill>
                <a:latin typeface="Nimbus Sans"/>
                <a:ea typeface="Nimbus Sans"/>
                <a:cs typeface="Nimbus Sans"/>
              </a:defRPr>
            </a:pPr>
            <a:r>
              <a:rPr sz="1500" b="0" i="0">
                <a:solidFill>
                  <a:srgbClr val="243B53"/>
                </a:solidFill>
                <a:latin typeface="Nimbus Sans"/>
                <a:ea typeface="Nimbus Sans"/>
                <a:cs typeface="Nimbus Sans"/>
              </a:rPr>
              <a:t>Change in clinically meaningful IDH events</a:t>
            </a:r>
          </a:p>
        </p:txBody>
      </p:sp>
      <p:sp>
        <p:nvSpPr>
          <p:cNvPr id="9" name="">
            <a:extLst xmlns:a="http://schemas.openxmlformats.org/drawingml/2006/main">
              <a:ext uri="{FF2B5EF4-FFF2-40B4-BE49-F238E27FC236}">
                <a16:creationId xmlns:a16="http://schemas.microsoft.com/office/drawing/2014/main" id="{2B515995-814B-4AB8-99C3-7C1D29C78FD6}"/>
              </a:ext>
            </a:extLst>
          </p:cNvPr>
          <p:cNvSpPr>
            <a:spLocks xmlns:a="http://schemas.openxmlformats.org/drawingml/2006/main" noGrp="1"/>
          </p:cNvSpPr>
          <p:nvPr/>
        </p:nvSpPr>
        <p:spPr>
          <a:xfrm xmlns:a="http://schemas.openxmlformats.org/drawingml/2006/main">
            <a:off x="781050" y="3914775"/>
            <a:ext cx="57150" cy="285750"/>
          </a:xfrm>
          <a:prstGeom xmlns:a="http://schemas.openxmlformats.org/drawingml/2006/main" prst="rect">
            <a:avLst/>
          </a:prstGeom>
          <a:solidFill xmlns:a="http://schemas.openxmlformats.org/drawingml/2006/main">
            <a:srgbClr val="2A9D8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D0D63A6-0CD9-434B-9AC7-78BC16500EBC}"/>
              </a:ext>
            </a:extLst>
          </p:cNvPr>
          <p:cNvSpPr>
            <a:spLocks xmlns:a="http://schemas.openxmlformats.org/drawingml/2006/main" noGrp="1"/>
          </p:cNvSpPr>
          <p:nvPr/>
        </p:nvSpPr>
        <p:spPr>
          <a:xfrm xmlns:a="http://schemas.openxmlformats.org/drawingml/2006/main">
            <a:off x="1009650" y="3857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i="0">
                <a:solidFill>
                  <a:srgbClr val="243B53"/>
                </a:solidFill>
                <a:latin typeface="Nimbus Sans"/>
                <a:ea typeface="Nimbus Sans"/>
                <a:cs typeface="Nimbus Sans"/>
              </a:defRPr>
            </a:pPr>
            <a:r>
              <a:rPr sz="1500" b="0" i="0">
                <a:solidFill>
                  <a:srgbClr val="243B53"/>
                </a:solidFill>
                <a:latin typeface="Nimbus Sans"/>
                <a:ea typeface="Nimbus Sans"/>
                <a:cs typeface="Nimbus Sans"/>
              </a:rPr>
              <a:t>Avoided treatment interruption or escalation</a:t>
            </a:r>
          </a:p>
        </p:txBody>
      </p:sp>
      <p:sp>
        <p:nvSpPr>
          <p:cNvPr id="11" name="">
            <a:extLst xmlns:a="http://schemas.openxmlformats.org/drawingml/2006/main">
              <a:ext uri="{FF2B5EF4-FFF2-40B4-BE49-F238E27FC236}">
                <a16:creationId xmlns:a16="http://schemas.microsoft.com/office/drawing/2014/main" id="{DF16E927-03AD-4655-9DA9-AE2852D07FEF}"/>
              </a:ext>
            </a:extLst>
          </p:cNvPr>
          <p:cNvSpPr>
            <a:spLocks xmlns:a="http://schemas.openxmlformats.org/drawingml/2006/main" noGrp="1"/>
          </p:cNvSpPr>
          <p:nvPr/>
        </p:nvSpPr>
        <p:spPr>
          <a:xfrm xmlns:a="http://schemas.openxmlformats.org/drawingml/2006/main">
            <a:off x="781050" y="4438650"/>
            <a:ext cx="57150" cy="285750"/>
          </a:xfrm>
          <a:prstGeom xmlns:a="http://schemas.openxmlformats.org/drawingml/2006/main" prst="rect">
            <a:avLst/>
          </a:prstGeom>
          <a:solidFill xmlns:a="http://schemas.openxmlformats.org/drawingml/2006/main">
            <a:srgbClr val="2A9D8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5F94FF-2D8D-4178-BD8E-DAD3EF9521CB}"/>
              </a:ext>
            </a:extLst>
          </p:cNvPr>
          <p:cNvSpPr>
            <a:spLocks xmlns:a="http://schemas.openxmlformats.org/drawingml/2006/main" noGrp="1"/>
          </p:cNvSpPr>
          <p:nvPr/>
        </p:nvSpPr>
        <p:spPr>
          <a:xfrm xmlns:a="http://schemas.openxmlformats.org/drawingml/2006/main">
            <a:off x="1009650" y="4381500"/>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i="0">
                <a:solidFill>
                  <a:srgbClr val="243B53"/>
                </a:solidFill>
                <a:latin typeface="Nimbus Sans"/>
                <a:ea typeface="Nimbus Sans"/>
                <a:cs typeface="Nimbus Sans"/>
              </a:defRPr>
            </a:pPr>
            <a:r>
              <a:rPr sz="1500" b="0" i="0">
                <a:solidFill>
                  <a:srgbClr val="243B53"/>
                </a:solidFill>
                <a:latin typeface="Nimbus Sans"/>
                <a:ea typeface="Nimbus Sans"/>
                <a:cs typeface="Nimbus Sans"/>
              </a:rPr>
              <a:t>Downstream utilisation linked to the event</a:t>
            </a:r>
          </a:p>
        </p:txBody>
      </p:sp>
      <p:sp>
        <p:nvSpPr>
          <p:cNvPr id="13" name="">
            <a:extLst xmlns:a="http://schemas.openxmlformats.org/drawingml/2006/main">
              <a:ext uri="{FF2B5EF4-FFF2-40B4-BE49-F238E27FC236}">
                <a16:creationId xmlns:a16="http://schemas.microsoft.com/office/drawing/2014/main" id="{D9961007-DEB5-4D85-BB3D-30172DF12502}"/>
              </a:ext>
            </a:extLst>
          </p:cNvPr>
          <p:cNvSpPr>
            <a:spLocks xmlns:a="http://schemas.openxmlformats.org/drawingml/2006/main" noGrp="1"/>
          </p:cNvSpPr>
          <p:nvPr/>
        </p:nvSpPr>
        <p:spPr>
          <a:xfrm xmlns:a="http://schemas.openxmlformats.org/drawingml/2006/main">
            <a:off x="781050" y="4962525"/>
            <a:ext cx="57150" cy="285750"/>
          </a:xfrm>
          <a:prstGeom xmlns:a="http://schemas.openxmlformats.org/drawingml/2006/main" prst="rect">
            <a:avLst/>
          </a:prstGeom>
          <a:solidFill xmlns:a="http://schemas.openxmlformats.org/drawingml/2006/main">
            <a:srgbClr val="2A9D8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A3E061F-A198-4B5C-8BAF-5B83B4924351}"/>
              </a:ext>
            </a:extLst>
          </p:cNvPr>
          <p:cNvSpPr>
            <a:spLocks xmlns:a="http://schemas.openxmlformats.org/drawingml/2006/main" noGrp="1"/>
          </p:cNvSpPr>
          <p:nvPr/>
        </p:nvSpPr>
        <p:spPr>
          <a:xfrm xmlns:a="http://schemas.openxmlformats.org/drawingml/2006/main">
            <a:off x="1009650" y="4905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i="0">
                <a:solidFill>
                  <a:srgbClr val="243B53"/>
                </a:solidFill>
                <a:latin typeface="Nimbus Sans"/>
                <a:ea typeface="Nimbus Sans"/>
                <a:cs typeface="Nimbus Sans"/>
              </a:defRPr>
            </a:pPr>
            <a:r>
              <a:rPr sz="1500" b="0" i="0">
                <a:solidFill>
                  <a:srgbClr val="243B53"/>
                </a:solidFill>
                <a:latin typeface="Nimbus Sans"/>
                <a:ea typeface="Nimbus Sans"/>
                <a:cs typeface="Nimbus Sans"/>
              </a:rPr>
              <a:t>Patient experience and recovery time</a:t>
            </a:r>
          </a:p>
        </p:txBody>
      </p:sp>
      <p:sp>
        <p:nvSpPr>
          <p:cNvPr id="15" name="">
            <a:extLst xmlns:a="http://schemas.openxmlformats.org/drawingml/2006/main">
              <a:ext uri="{FF2B5EF4-FFF2-40B4-BE49-F238E27FC236}">
                <a16:creationId xmlns:a16="http://schemas.microsoft.com/office/drawing/2014/main" id="{EE554682-211D-4A98-A5EC-70E16E07C611}"/>
              </a:ext>
            </a:extLst>
          </p:cNvPr>
          <p:cNvSpPr>
            <a:spLocks xmlns:a="http://schemas.openxmlformats.org/drawingml/2006/main" noGrp="1"/>
          </p:cNvSpPr>
          <p:nvPr/>
        </p:nvSpPr>
        <p:spPr>
          <a:xfrm xmlns:a="http://schemas.openxmlformats.org/drawingml/2006/main">
            <a:off x="6096000" y="2857500"/>
            <a:ext cx="0" cy="2571750"/>
          </a:xfrm>
          <a:prstGeom xmlns:a="http://schemas.openxmlformats.org/drawingml/2006/main" prst="line">
            <a:avLst/>
          </a:prstGeom>
          <a:noFill xmlns:a="http://schemas.openxmlformats.org/drawingml/2006/main"/>
          <a:ln xmlns:a="http://schemas.openxmlformats.org/drawingml/2006/main" w="19050">
            <a:solidFill>
              <a:srgbClr val="D9E2EC"/>
            </a:solidFill>
            <a:prstDash val="solid"/>
          </a:ln>
        </p:spPr>
      </p:sp>
      <p:sp>
        <p:nvSpPr>
          <p:cNvPr id="16" name="">
            <a:extLst xmlns:a="http://schemas.openxmlformats.org/drawingml/2006/main">
              <a:ext uri="{FF2B5EF4-FFF2-40B4-BE49-F238E27FC236}">
                <a16:creationId xmlns:a16="http://schemas.microsoft.com/office/drawing/2014/main" id="{DC35C739-32BF-4363-8544-D5FF5415D552}"/>
              </a:ext>
            </a:extLst>
          </p:cNvPr>
          <p:cNvSpPr>
            <a:spLocks xmlns:a="http://schemas.openxmlformats.org/drawingml/2006/main" noGrp="1"/>
          </p:cNvSpPr>
          <p:nvPr/>
        </p:nvSpPr>
        <p:spPr>
          <a:xfrm xmlns:a="http://schemas.openxmlformats.org/drawingml/2006/main">
            <a:off x="6553200" y="285750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i="0">
                <a:solidFill>
                  <a:srgbClr val="E76F51"/>
                </a:solidFill>
                <a:latin typeface="Nimbus Sans"/>
                <a:ea typeface="Nimbus Sans"/>
                <a:cs typeface="Nimbus Sans"/>
              </a:defRPr>
            </a:pPr>
            <a:r>
              <a:rPr sz="1875" b="1" i="0">
                <a:solidFill>
                  <a:srgbClr val="E76F51"/>
                </a:solidFill>
                <a:latin typeface="Nimbus Sans"/>
                <a:ea typeface="Nimbus Sans"/>
                <a:cs typeface="Nimbus Sans"/>
              </a:rPr>
              <a:t>Cost evidence</a:t>
            </a:r>
          </a:p>
        </p:txBody>
      </p:sp>
      <p:sp>
        <p:nvSpPr>
          <p:cNvPr id="17" name="">
            <a:extLst xmlns:a="http://schemas.openxmlformats.org/drawingml/2006/main">
              <a:ext uri="{FF2B5EF4-FFF2-40B4-BE49-F238E27FC236}">
                <a16:creationId xmlns:a16="http://schemas.microsoft.com/office/drawing/2014/main" id="{0C2069FE-7A4E-4F16-B356-ED8EBB3BDDA6}"/>
              </a:ext>
            </a:extLst>
          </p:cNvPr>
          <p:cNvSpPr>
            <a:spLocks xmlns:a="http://schemas.openxmlformats.org/drawingml/2006/main" noGrp="1"/>
          </p:cNvSpPr>
          <p:nvPr/>
        </p:nvSpPr>
        <p:spPr>
          <a:xfrm xmlns:a="http://schemas.openxmlformats.org/drawingml/2006/main">
            <a:off x="6553200" y="3390900"/>
            <a:ext cx="57150" cy="2857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07395AA-B019-4AC7-B479-F7E12FD23636}"/>
              </a:ext>
            </a:extLst>
          </p:cNvPr>
          <p:cNvSpPr>
            <a:spLocks xmlns:a="http://schemas.openxmlformats.org/drawingml/2006/main" noGrp="1"/>
          </p:cNvSpPr>
          <p:nvPr/>
        </p:nvSpPr>
        <p:spPr>
          <a:xfrm xmlns:a="http://schemas.openxmlformats.org/drawingml/2006/main">
            <a:off x="6781800" y="3333750"/>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i="0">
                <a:solidFill>
                  <a:srgbClr val="243B53"/>
                </a:solidFill>
                <a:latin typeface="Nimbus Sans"/>
                <a:ea typeface="Nimbus Sans"/>
                <a:cs typeface="Nimbus Sans"/>
              </a:defRPr>
            </a:pPr>
            <a:r>
              <a:rPr sz="1500" b="0" i="0">
                <a:solidFill>
                  <a:srgbClr val="243B53"/>
                </a:solidFill>
                <a:latin typeface="Nimbus Sans"/>
                <a:ea typeface="Nimbus Sans"/>
                <a:cs typeface="Nimbus Sans"/>
              </a:rPr>
              <a:t>Minutes of clinical review per alert</a:t>
            </a:r>
          </a:p>
        </p:txBody>
      </p:sp>
      <p:sp>
        <p:nvSpPr>
          <p:cNvPr id="19" name="">
            <a:extLst xmlns:a="http://schemas.openxmlformats.org/drawingml/2006/main">
              <a:ext uri="{FF2B5EF4-FFF2-40B4-BE49-F238E27FC236}">
                <a16:creationId xmlns:a16="http://schemas.microsoft.com/office/drawing/2014/main" id="{2A521E0B-71B7-4338-A80F-9B3C2B0164D9}"/>
              </a:ext>
            </a:extLst>
          </p:cNvPr>
          <p:cNvSpPr>
            <a:spLocks xmlns:a="http://schemas.openxmlformats.org/drawingml/2006/main" noGrp="1"/>
          </p:cNvSpPr>
          <p:nvPr/>
        </p:nvSpPr>
        <p:spPr>
          <a:xfrm xmlns:a="http://schemas.openxmlformats.org/drawingml/2006/main">
            <a:off x="6553200" y="3914775"/>
            <a:ext cx="57150" cy="2857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44EF6B7-A34D-48A1-807B-36A1F88E2C2D}"/>
              </a:ext>
            </a:extLst>
          </p:cNvPr>
          <p:cNvSpPr>
            <a:spLocks xmlns:a="http://schemas.openxmlformats.org/drawingml/2006/main" noGrp="1"/>
          </p:cNvSpPr>
          <p:nvPr/>
        </p:nvSpPr>
        <p:spPr>
          <a:xfrm xmlns:a="http://schemas.openxmlformats.org/drawingml/2006/main">
            <a:off x="6781800" y="3857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i="0">
                <a:solidFill>
                  <a:srgbClr val="243B53"/>
                </a:solidFill>
                <a:latin typeface="Nimbus Sans"/>
                <a:ea typeface="Nimbus Sans"/>
                <a:cs typeface="Nimbus Sans"/>
              </a:defRPr>
            </a:pPr>
            <a:r>
              <a:rPr sz="1500" b="0" i="0">
                <a:solidFill>
                  <a:srgbClr val="243B53"/>
                </a:solidFill>
                <a:latin typeface="Nimbus Sans"/>
                <a:ea typeface="Nimbus Sans"/>
                <a:cs typeface="Nimbus Sans"/>
              </a:rPr>
              <a:t>Action rate and unintended intervention burden</a:t>
            </a:r>
          </a:p>
        </p:txBody>
      </p:sp>
      <p:sp>
        <p:nvSpPr>
          <p:cNvPr id="21" name="">
            <a:extLst xmlns:a="http://schemas.openxmlformats.org/drawingml/2006/main">
              <a:ext uri="{FF2B5EF4-FFF2-40B4-BE49-F238E27FC236}">
                <a16:creationId xmlns:a16="http://schemas.microsoft.com/office/drawing/2014/main" id="{9481D719-054E-430E-92F5-09FAC1FA9E57}"/>
              </a:ext>
            </a:extLst>
          </p:cNvPr>
          <p:cNvSpPr>
            <a:spLocks xmlns:a="http://schemas.openxmlformats.org/drawingml/2006/main" noGrp="1"/>
          </p:cNvSpPr>
          <p:nvPr/>
        </p:nvSpPr>
        <p:spPr>
          <a:xfrm xmlns:a="http://schemas.openxmlformats.org/drawingml/2006/main">
            <a:off x="6553200" y="4438650"/>
            <a:ext cx="57150" cy="2857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3FBBC3B-9F97-48FD-B957-AAB5A82CEB01}"/>
              </a:ext>
            </a:extLst>
          </p:cNvPr>
          <p:cNvSpPr>
            <a:spLocks xmlns:a="http://schemas.openxmlformats.org/drawingml/2006/main" noGrp="1"/>
          </p:cNvSpPr>
          <p:nvPr/>
        </p:nvSpPr>
        <p:spPr>
          <a:xfrm xmlns:a="http://schemas.openxmlformats.org/drawingml/2006/main">
            <a:off x="6781800" y="4381500"/>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i="0">
                <a:solidFill>
                  <a:srgbClr val="243B53"/>
                </a:solidFill>
                <a:latin typeface="Nimbus Sans"/>
                <a:ea typeface="Nimbus Sans"/>
                <a:cs typeface="Nimbus Sans"/>
              </a:defRPr>
            </a:pPr>
            <a:r>
              <a:rPr sz="1500" b="0" i="0">
                <a:solidFill>
                  <a:srgbClr val="243B53"/>
                </a:solidFill>
                <a:latin typeface="Nimbus Sans"/>
                <a:ea typeface="Nimbus Sans"/>
                <a:cs typeface="Nimbus Sans"/>
              </a:rPr>
              <a:t>Data integration, training, and support</a:t>
            </a:r>
          </a:p>
        </p:txBody>
      </p:sp>
      <p:sp>
        <p:nvSpPr>
          <p:cNvPr id="23" name="">
            <a:extLst xmlns:a="http://schemas.openxmlformats.org/drawingml/2006/main">
              <a:ext uri="{FF2B5EF4-FFF2-40B4-BE49-F238E27FC236}">
                <a16:creationId xmlns:a16="http://schemas.microsoft.com/office/drawing/2014/main" id="{2E883ED6-227A-4DB4-AC3C-650562F40491}"/>
              </a:ext>
            </a:extLst>
          </p:cNvPr>
          <p:cNvSpPr>
            <a:spLocks xmlns:a="http://schemas.openxmlformats.org/drawingml/2006/main" noGrp="1"/>
          </p:cNvSpPr>
          <p:nvPr/>
        </p:nvSpPr>
        <p:spPr>
          <a:xfrm xmlns:a="http://schemas.openxmlformats.org/drawingml/2006/main">
            <a:off x="6553200" y="4962525"/>
            <a:ext cx="57150" cy="2857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7DE01C3-66C3-4818-BC8F-2893FBA409A0}"/>
              </a:ext>
            </a:extLst>
          </p:cNvPr>
          <p:cNvSpPr>
            <a:spLocks xmlns:a="http://schemas.openxmlformats.org/drawingml/2006/main" noGrp="1"/>
          </p:cNvSpPr>
          <p:nvPr/>
        </p:nvSpPr>
        <p:spPr>
          <a:xfrm xmlns:a="http://schemas.openxmlformats.org/drawingml/2006/main">
            <a:off x="6781800" y="4905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i="0">
                <a:solidFill>
                  <a:srgbClr val="243B53"/>
                </a:solidFill>
                <a:latin typeface="Nimbus Sans"/>
                <a:ea typeface="Nimbus Sans"/>
                <a:cs typeface="Nimbus Sans"/>
              </a:defRPr>
            </a:pPr>
            <a:r>
              <a:rPr sz="1500" b="0" i="0">
                <a:solidFill>
                  <a:srgbClr val="243B53"/>
                </a:solidFill>
                <a:latin typeface="Nimbus Sans"/>
                <a:ea typeface="Nimbus Sans"/>
                <a:cs typeface="Nimbus Sans"/>
              </a:rPr>
              <a:t>Ongoing monitoring, audit, and incident response</a:t>
            </a:r>
          </a:p>
        </p:txBody>
      </p:sp>
      <p:sp>
        <p:nvSpPr>
          <p:cNvPr id="25" name="">
            <a:extLst xmlns:a="http://schemas.openxmlformats.org/drawingml/2006/main">
              <a:ext uri="{FF2B5EF4-FFF2-40B4-BE49-F238E27FC236}">
                <a16:creationId xmlns:a16="http://schemas.microsoft.com/office/drawing/2014/main" id="{1D7DBFFD-61A4-4329-92C9-FF7C9708516C}"/>
              </a:ext>
            </a:extLst>
          </p:cNvPr>
          <p:cNvSpPr>
            <a:spLocks xmlns:a="http://schemas.openxmlformats.org/drawingml/2006/main" noGrp="1"/>
          </p:cNvSpPr>
          <p:nvPr/>
        </p:nvSpPr>
        <p:spPr>
          <a:xfrm xmlns:a="http://schemas.openxmlformats.org/drawingml/2006/main">
            <a:off x="781050" y="5772150"/>
            <a:ext cx="10477500" cy="0"/>
          </a:xfrm>
          <a:prstGeom xmlns:a="http://schemas.openxmlformats.org/drawingml/2006/main" prst="line">
            <a:avLst/>
          </a:prstGeom>
          <a:noFill xmlns:a="http://schemas.openxmlformats.org/drawingml/2006/main"/>
          <a:ln xmlns:a="http://schemas.openxmlformats.org/drawingml/2006/main" w="19050">
            <a:solidFill>
              <a:srgbClr val="D9E2EC"/>
            </a:solidFill>
            <a:prstDash val="solid"/>
          </a:ln>
        </p:spPr>
      </p:sp>
      <p:sp>
        <p:nvSpPr>
          <p:cNvPr id="26" name="">
            <a:extLst xmlns:a="http://schemas.openxmlformats.org/drawingml/2006/main">
              <a:ext uri="{FF2B5EF4-FFF2-40B4-BE49-F238E27FC236}">
                <a16:creationId xmlns:a16="http://schemas.microsoft.com/office/drawing/2014/main" id="{F07D7055-7981-4C63-94C0-99273D570416}"/>
              </a:ext>
            </a:extLst>
          </p:cNvPr>
          <p:cNvSpPr>
            <a:spLocks xmlns:a="http://schemas.openxmlformats.org/drawingml/2006/main" noGrp="1"/>
          </p:cNvSpPr>
          <p:nvPr/>
        </p:nvSpPr>
        <p:spPr>
          <a:xfrm xmlns:a="http://schemas.openxmlformats.org/drawingml/2006/main">
            <a:off x="781050" y="592455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i="0">
                <a:solidFill>
                  <a:srgbClr val="102A43"/>
                </a:solidFill>
                <a:latin typeface="Nimbus Sans"/>
                <a:ea typeface="Nimbus Sans"/>
                <a:cs typeface="Nimbus Sans"/>
              </a:defRPr>
            </a:pPr>
            <a:r>
              <a:rPr sz="1575" b="1" i="0">
                <a:solidFill>
                  <a:srgbClr val="102A43"/>
                </a:solidFill>
                <a:latin typeface="Nimbus Sans"/>
                <a:ea typeface="Nimbus Sans"/>
                <a:cs typeface="Nimbus Sans"/>
              </a:rPr>
              <a:t>Break-even decision: proceed only when measured benefit exceeds the full operating cost at an acceptable safety and equity profile.</a:t>
            </a:r>
          </a:p>
        </p:txBody>
      </p:sp>
      <p:sp>
        <p:nvSpPr>
          <p:cNvPr id="27" name="">
            <a:extLst xmlns:a="http://schemas.openxmlformats.org/drawingml/2006/main">
              <a:ext uri="{FF2B5EF4-FFF2-40B4-BE49-F238E27FC236}">
                <a16:creationId xmlns:a16="http://schemas.microsoft.com/office/drawing/2014/main" id="{1327A7FD-84CF-42AD-98E9-758EB6E85032}"/>
              </a:ext>
            </a:extLst>
          </p:cNvPr>
          <p:cNvSpPr>
            <a:spLocks xmlns:a="http://schemas.openxmlformats.org/drawingml/2006/main" noGrp="1"/>
          </p:cNvSpPr>
          <p:nvPr/>
        </p:nvSpPr>
        <p:spPr>
          <a:xfrm xmlns:a="http://schemas.openxmlformats.org/drawingml/2006/main">
            <a:off x="514350" y="6496050"/>
            <a:ext cx="111633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28" name="">
            <a:extLst xmlns:a="http://schemas.openxmlformats.org/drawingml/2006/main">
              <a:ext uri="{FF2B5EF4-FFF2-40B4-BE49-F238E27FC236}">
                <a16:creationId xmlns:a16="http://schemas.microsoft.com/office/drawing/2014/main" id="{7EF0EF13-824B-4E2D-B48B-E717CE6B6603}"/>
              </a:ext>
            </a:extLst>
          </p:cNvPr>
          <p:cNvSpPr>
            <a:spLocks xmlns:a="http://schemas.openxmlformats.org/drawingml/2006/main" noGrp="1"/>
          </p:cNvSpPr>
          <p:nvPr/>
        </p:nvSpPr>
        <p:spPr>
          <a:xfrm xmlns:a="http://schemas.openxmlformats.org/drawingml/2006/main">
            <a:off x="514350" y="6562725"/>
            <a:ext cx="11163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i="0">
                <a:solidFill>
                  <a:srgbClr val="627D98"/>
                </a:solidFill>
                <a:latin typeface="Nimbus Sans"/>
                <a:ea typeface="Nimbus Sans"/>
                <a:cs typeface="Nimbus Sans"/>
              </a:defRPr>
            </a:pPr>
            <a:r>
              <a:rPr sz="975" b="0" i="0">
                <a:solidFill>
                  <a:srgbClr val="627D98"/>
                </a:solidFill>
                <a:latin typeface="Nimbus Sans"/>
                <a:ea typeface="Nimbus Sans"/>
                <a:cs typeface="Nimbus Sans"/>
              </a:rPr>
              <a:t>DIAL-ALERT executive presentation  /  06</a:t>
            </a:r>
          </a:p>
        </p:txBody>
      </p:sp>
    </p:spTree>
    <p:extLst>
      <p:ext uri="{BB962C8B-B14F-4D97-AF65-F5344CB8AC3E}">
        <p14:creationId xmlns:p14="http://schemas.microsoft.com/office/powerpoint/2010/main" val="1078484317"/>
      </p:ext>
    </p:extLst>
  </p:cSld>
</p:sld>
</file>

<file path=ppt/slides/slide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A3603D9-BEAC-407D-B23B-F7372071F008}"/>
              </a:ext>
            </a:extLst>
          </p:cNvPr>
          <p:cNvSpPr>
            <a:spLocks xmlns:a="http://schemas.openxmlformats.org/drawingml/2006/main" noGrp="1"/>
          </p:cNvSpPr>
          <p:nvPr/>
        </p:nvSpPr>
        <p:spPr>
          <a:xfrm xmlns:a="http://schemas.openxmlformats.org/drawingml/2006/main">
            <a:off x="514350" y="400050"/>
            <a:ext cx="76200" cy="78105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C6EFA45-BFF6-433C-B127-F4A235AED9A5}"/>
              </a:ext>
            </a:extLst>
          </p:cNvPr>
          <p:cNvSpPr>
            <a:spLocks xmlns:a="http://schemas.openxmlformats.org/drawingml/2006/main" noGrp="1"/>
          </p:cNvSpPr>
          <p:nvPr/>
        </p:nvSpPr>
        <p:spPr>
          <a:xfrm xmlns:a="http://schemas.openxmlformats.org/drawingml/2006/main">
            <a:off x="781050" y="333375"/>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225" b="1" i="0">
                <a:solidFill>
                  <a:srgbClr val="102A43"/>
                </a:solidFill>
                <a:latin typeface="Nimbus Sans"/>
                <a:ea typeface="Nimbus Sans"/>
                <a:cs typeface="Nimbus Sans"/>
              </a:defRPr>
            </a:pPr>
            <a:r>
              <a:rPr sz="3225" b="1" i="0">
                <a:solidFill>
                  <a:srgbClr val="102A43"/>
                </a:solidFill>
                <a:latin typeface="Nimbus Sans"/>
                <a:ea typeface="Nimbus Sans"/>
                <a:cs typeface="Nimbus Sans"/>
              </a:rPr>
              <a:t>Clinical, workload and fairness risks</a:t>
            </a:r>
          </a:p>
        </p:txBody>
      </p:sp>
      <p:sp>
        <p:nvSpPr>
          <p:cNvPr id="3" name="">
            <a:extLst xmlns:a="http://schemas.openxmlformats.org/drawingml/2006/main">
              <a:ext uri="{FF2B5EF4-FFF2-40B4-BE49-F238E27FC236}">
                <a16:creationId xmlns:a16="http://schemas.microsoft.com/office/drawing/2014/main" id="{89F7E915-7F3A-4DC8-8DF6-502CA18F9C8C}"/>
              </a:ext>
            </a:extLst>
          </p:cNvPr>
          <p:cNvSpPr>
            <a:spLocks xmlns:a="http://schemas.openxmlformats.org/drawingml/2006/main" noGrp="1"/>
          </p:cNvSpPr>
          <p:nvPr/>
        </p:nvSpPr>
        <p:spPr>
          <a:xfrm xmlns:a="http://schemas.openxmlformats.org/drawingml/2006/main">
            <a:off x="800100" y="866775"/>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627D98"/>
                </a:solidFill>
                <a:latin typeface="Nimbus Sans"/>
                <a:ea typeface="Nimbus Sans"/>
                <a:cs typeface="Nimbus Sans"/>
              </a:defRPr>
            </a:pPr>
            <a:r>
              <a:rPr sz="1425" b="0" i="0">
                <a:solidFill>
                  <a:srgbClr val="627D98"/>
                </a:solidFill>
                <a:latin typeface="Nimbus Sans"/>
                <a:ea typeface="Nimbus Sans"/>
                <a:cs typeface="Nimbus Sans"/>
              </a:rPr>
              <a:t>Fairness varies by metric and several protected attributes are unavailable</a:t>
            </a:r>
          </a:p>
        </p:txBody>
      </p:sp>
      <p:sp>
        <p:nvSpPr>
          <p:cNvPr id="4" name="">
            <a:extLst xmlns:a="http://schemas.openxmlformats.org/drawingml/2006/main">
              <a:ext uri="{FF2B5EF4-FFF2-40B4-BE49-F238E27FC236}">
                <a16:creationId xmlns:a16="http://schemas.microsoft.com/office/drawing/2014/main" id="{B5EDE20D-DE8C-4D7D-A969-3D4778F3A2D8}"/>
              </a:ext>
            </a:extLst>
          </p:cNvPr>
          <p:cNvSpPr>
            <a:spLocks xmlns:a="http://schemas.openxmlformats.org/drawingml/2006/main" noGrp="1"/>
          </p:cNvSpPr>
          <p:nvPr/>
        </p:nvSpPr>
        <p:spPr>
          <a:xfrm xmlns:a="http://schemas.openxmlformats.org/drawingml/2006/main">
            <a:off x="628650" y="14287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i="0">
                <a:solidFill>
                  <a:srgbClr val="0E7C7B"/>
                </a:solidFill>
                <a:latin typeface="Nimbus Sans"/>
                <a:ea typeface="Nimbus Sans"/>
                <a:cs typeface="Nimbus Sans"/>
              </a:defRPr>
            </a:pPr>
            <a:r>
              <a:rPr sz="1875" b="1" i="0">
                <a:solidFill>
                  <a:srgbClr val="0E7C7B"/>
                </a:solidFill>
                <a:latin typeface="Nimbus Sans"/>
                <a:ea typeface="Nimbus Sans"/>
                <a:cs typeface="Nimbus Sans"/>
              </a:rPr>
              <a:t>Risk register</a:t>
            </a:r>
          </a:p>
        </p:txBody>
      </p:sp>
      <p:sp>
        <p:nvSpPr>
          <p:cNvPr id="5" name="">
            <a:extLst xmlns:a="http://schemas.openxmlformats.org/drawingml/2006/main">
              <a:ext uri="{FF2B5EF4-FFF2-40B4-BE49-F238E27FC236}">
                <a16:creationId xmlns:a16="http://schemas.microsoft.com/office/drawing/2014/main" id="{40F89DAB-349F-40C9-9C4F-B4260FF2AB0D}"/>
              </a:ext>
            </a:extLst>
          </p:cNvPr>
          <p:cNvSpPr>
            <a:spLocks xmlns:a="http://schemas.openxmlformats.org/drawingml/2006/main" noGrp="1"/>
          </p:cNvSpPr>
          <p:nvPr/>
        </p:nvSpPr>
        <p:spPr>
          <a:xfrm xmlns:a="http://schemas.openxmlformats.org/drawingml/2006/main">
            <a:off x="628650" y="2019300"/>
            <a:ext cx="66675" cy="6858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0BD27CA-6C5A-49D4-BE6D-081F4D5957B3}"/>
              </a:ext>
            </a:extLst>
          </p:cNvPr>
          <p:cNvSpPr>
            <a:spLocks xmlns:a="http://schemas.openxmlformats.org/drawingml/2006/main" noGrp="1"/>
          </p:cNvSpPr>
          <p:nvPr/>
        </p:nvSpPr>
        <p:spPr>
          <a:xfrm xmlns:a="http://schemas.openxmlformats.org/drawingml/2006/main">
            <a:off x="876300" y="1981200"/>
            <a:ext cx="3476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i="0">
                <a:solidFill>
                  <a:srgbClr val="102A43"/>
                </a:solidFill>
                <a:latin typeface="Nimbus Sans"/>
                <a:ea typeface="Nimbus Sans"/>
                <a:cs typeface="Nimbus Sans"/>
              </a:defRPr>
            </a:pPr>
            <a:r>
              <a:rPr sz="1500" b="1" i="0">
                <a:solidFill>
                  <a:srgbClr val="102A43"/>
                </a:solidFill>
                <a:latin typeface="Nimbus Sans"/>
                <a:ea typeface="Nimbus Sans"/>
                <a:cs typeface="Nimbus Sans"/>
              </a:rPr>
              <a:t>Missed high-risk session</a:t>
            </a:r>
          </a:p>
        </p:txBody>
      </p:sp>
      <p:sp>
        <p:nvSpPr>
          <p:cNvPr id="7" name="">
            <a:extLst xmlns:a="http://schemas.openxmlformats.org/drawingml/2006/main">
              <a:ext uri="{FF2B5EF4-FFF2-40B4-BE49-F238E27FC236}">
                <a16:creationId xmlns:a16="http://schemas.microsoft.com/office/drawing/2014/main" id="{F52497E6-035C-4788-B044-A130066D26FD}"/>
              </a:ext>
            </a:extLst>
          </p:cNvPr>
          <p:cNvSpPr>
            <a:spLocks xmlns:a="http://schemas.openxmlformats.org/drawingml/2006/main" noGrp="1"/>
          </p:cNvSpPr>
          <p:nvPr/>
        </p:nvSpPr>
        <p:spPr>
          <a:xfrm xmlns:a="http://schemas.openxmlformats.org/drawingml/2006/main">
            <a:off x="876300" y="2324100"/>
            <a:ext cx="34766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i="0">
                <a:solidFill>
                  <a:srgbClr val="243B53"/>
                </a:solidFill>
                <a:latin typeface="Nimbus Sans"/>
                <a:ea typeface="Nimbus Sans"/>
                <a:cs typeface="Nimbus Sans"/>
              </a:defRPr>
            </a:pPr>
            <a:r>
              <a:rPr sz="1275" b="0" i="0">
                <a:solidFill>
                  <a:srgbClr val="243B53"/>
                </a:solidFill>
                <a:latin typeface="Nimbus Sans"/>
                <a:ea typeface="Nimbus Sans"/>
                <a:cs typeface="Nimbus Sans"/>
              </a:rPr>
              <a:t>False negatives remain at every threshold</a:t>
            </a:r>
          </a:p>
        </p:txBody>
      </p:sp>
      <p:sp>
        <p:nvSpPr>
          <p:cNvPr id="8" name="">
            <a:extLst xmlns:a="http://schemas.openxmlformats.org/drawingml/2006/main">
              <a:ext uri="{FF2B5EF4-FFF2-40B4-BE49-F238E27FC236}">
                <a16:creationId xmlns:a16="http://schemas.microsoft.com/office/drawing/2014/main" id="{6DC22059-879F-4556-9B28-7103588E8E2B}"/>
              </a:ext>
            </a:extLst>
          </p:cNvPr>
          <p:cNvSpPr>
            <a:spLocks xmlns:a="http://schemas.openxmlformats.org/drawingml/2006/main" noGrp="1"/>
          </p:cNvSpPr>
          <p:nvPr/>
        </p:nvSpPr>
        <p:spPr>
          <a:xfrm xmlns:a="http://schemas.openxmlformats.org/drawingml/2006/main">
            <a:off x="628650" y="2971800"/>
            <a:ext cx="66675" cy="6858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C7771EE-E760-4851-AEDE-2FD2F19877FD}"/>
              </a:ext>
            </a:extLst>
          </p:cNvPr>
          <p:cNvSpPr>
            <a:spLocks xmlns:a="http://schemas.openxmlformats.org/drawingml/2006/main" noGrp="1"/>
          </p:cNvSpPr>
          <p:nvPr/>
        </p:nvSpPr>
        <p:spPr>
          <a:xfrm xmlns:a="http://schemas.openxmlformats.org/drawingml/2006/main">
            <a:off x="876300" y="2933700"/>
            <a:ext cx="3476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i="0">
                <a:solidFill>
                  <a:srgbClr val="102A43"/>
                </a:solidFill>
                <a:latin typeface="Nimbus Sans"/>
                <a:ea typeface="Nimbus Sans"/>
                <a:cs typeface="Nimbus Sans"/>
              </a:defRPr>
            </a:pPr>
            <a:r>
              <a:rPr sz="1500" b="1" i="0">
                <a:solidFill>
                  <a:srgbClr val="102A43"/>
                </a:solidFill>
                <a:latin typeface="Nimbus Sans"/>
                <a:ea typeface="Nimbus Sans"/>
                <a:cs typeface="Nimbus Sans"/>
              </a:rPr>
              <a:t>Alert fatigue</a:t>
            </a:r>
          </a:p>
        </p:txBody>
      </p:sp>
      <p:sp>
        <p:nvSpPr>
          <p:cNvPr id="10" name="">
            <a:extLst xmlns:a="http://schemas.openxmlformats.org/drawingml/2006/main">
              <a:ext uri="{FF2B5EF4-FFF2-40B4-BE49-F238E27FC236}">
                <a16:creationId xmlns:a16="http://schemas.microsoft.com/office/drawing/2014/main" id="{B0B4DB67-BC23-4904-8FE9-19BE3DDF1D31}"/>
              </a:ext>
            </a:extLst>
          </p:cNvPr>
          <p:cNvSpPr>
            <a:spLocks xmlns:a="http://schemas.openxmlformats.org/drawingml/2006/main" noGrp="1"/>
          </p:cNvSpPr>
          <p:nvPr/>
        </p:nvSpPr>
        <p:spPr>
          <a:xfrm xmlns:a="http://schemas.openxmlformats.org/drawingml/2006/main">
            <a:off x="876300" y="3276600"/>
            <a:ext cx="34766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i="0">
                <a:solidFill>
                  <a:srgbClr val="243B53"/>
                </a:solidFill>
                <a:latin typeface="Nimbus Sans"/>
                <a:ea typeface="Nimbus Sans"/>
                <a:cs typeface="Nimbus Sans"/>
              </a:defRPr>
            </a:pPr>
            <a:r>
              <a:rPr sz="1275" b="0" i="0">
                <a:solidFill>
                  <a:srgbClr val="243B53"/>
                </a:solidFill>
                <a:latin typeface="Nimbus Sans"/>
                <a:ea typeface="Nimbus Sans"/>
                <a:cs typeface="Nimbus Sans"/>
              </a:rPr>
              <a:t>20% capacity produces 14.1 false alerts per 100 sessions</a:t>
            </a:r>
          </a:p>
        </p:txBody>
      </p:sp>
      <p:sp>
        <p:nvSpPr>
          <p:cNvPr id="11" name="">
            <a:extLst xmlns:a="http://schemas.openxmlformats.org/drawingml/2006/main">
              <a:ext uri="{FF2B5EF4-FFF2-40B4-BE49-F238E27FC236}">
                <a16:creationId xmlns:a16="http://schemas.microsoft.com/office/drawing/2014/main" id="{FBEA6DBC-83BA-4F44-B1B8-DE40A1E85C2F}"/>
              </a:ext>
            </a:extLst>
          </p:cNvPr>
          <p:cNvSpPr>
            <a:spLocks xmlns:a="http://schemas.openxmlformats.org/drawingml/2006/main" noGrp="1"/>
          </p:cNvSpPr>
          <p:nvPr/>
        </p:nvSpPr>
        <p:spPr>
          <a:xfrm xmlns:a="http://schemas.openxmlformats.org/drawingml/2006/main">
            <a:off x="628650" y="3924300"/>
            <a:ext cx="66675" cy="685800"/>
          </a:xfrm>
          <a:prstGeom xmlns:a="http://schemas.openxmlformats.org/drawingml/2006/main" prst="rect">
            <a:avLst/>
          </a:prstGeom>
          <a:solidFill xmlns:a="http://schemas.openxmlformats.org/drawingml/2006/main">
            <a:srgbClr val="765A9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1B48868-B298-4DA8-B4DF-2FB380FF195C}"/>
              </a:ext>
            </a:extLst>
          </p:cNvPr>
          <p:cNvSpPr>
            <a:spLocks xmlns:a="http://schemas.openxmlformats.org/drawingml/2006/main" noGrp="1"/>
          </p:cNvSpPr>
          <p:nvPr/>
        </p:nvSpPr>
        <p:spPr>
          <a:xfrm xmlns:a="http://schemas.openxmlformats.org/drawingml/2006/main">
            <a:off x="876300" y="3886200"/>
            <a:ext cx="3476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i="0">
                <a:solidFill>
                  <a:srgbClr val="102A43"/>
                </a:solidFill>
                <a:latin typeface="Nimbus Sans"/>
                <a:ea typeface="Nimbus Sans"/>
                <a:cs typeface="Nimbus Sans"/>
              </a:defRPr>
            </a:pPr>
            <a:r>
              <a:rPr sz="1500" b="1" i="0">
                <a:solidFill>
                  <a:srgbClr val="102A43"/>
                </a:solidFill>
                <a:latin typeface="Nimbus Sans"/>
                <a:ea typeface="Nimbus Sans"/>
                <a:cs typeface="Nimbus Sans"/>
              </a:rPr>
              <a:t>Unequal performance</a:t>
            </a:r>
          </a:p>
        </p:txBody>
      </p:sp>
      <p:sp>
        <p:nvSpPr>
          <p:cNvPr id="13" name="">
            <a:extLst xmlns:a="http://schemas.openxmlformats.org/drawingml/2006/main">
              <a:ext uri="{FF2B5EF4-FFF2-40B4-BE49-F238E27FC236}">
                <a16:creationId xmlns:a16="http://schemas.microsoft.com/office/drawing/2014/main" id="{ACDA03C7-1C40-4656-AE22-20213A961634}"/>
              </a:ext>
            </a:extLst>
          </p:cNvPr>
          <p:cNvSpPr>
            <a:spLocks xmlns:a="http://schemas.openxmlformats.org/drawingml/2006/main" noGrp="1"/>
          </p:cNvSpPr>
          <p:nvPr/>
        </p:nvSpPr>
        <p:spPr>
          <a:xfrm xmlns:a="http://schemas.openxmlformats.org/drawingml/2006/main">
            <a:off x="876300" y="4229100"/>
            <a:ext cx="34766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i="0">
                <a:solidFill>
                  <a:srgbClr val="243B53"/>
                </a:solidFill>
                <a:latin typeface="Nimbus Sans"/>
                <a:ea typeface="Nimbus Sans"/>
                <a:cs typeface="Nimbus Sans"/>
              </a:defRPr>
            </a:pPr>
            <a:r>
              <a:rPr sz="1275" b="0" i="0">
                <a:solidFill>
                  <a:srgbClr val="243B53"/>
                </a:solidFill>
                <a:latin typeface="Nimbus Sans"/>
                <a:ea typeface="Nimbus Sans"/>
                <a:cs typeface="Nimbus Sans"/>
              </a:rPr>
              <a:t>Recorded sex and age group gaps require review</a:t>
            </a:r>
          </a:p>
        </p:txBody>
      </p:sp>
      <p:sp>
        <p:nvSpPr>
          <p:cNvPr id="14" name="">
            <a:extLst xmlns:a="http://schemas.openxmlformats.org/drawingml/2006/main">
              <a:ext uri="{FF2B5EF4-FFF2-40B4-BE49-F238E27FC236}">
                <a16:creationId xmlns:a16="http://schemas.microsoft.com/office/drawing/2014/main" id="{5B8EE61D-1B2B-4882-B8D6-F28B5BA7DC7C}"/>
              </a:ext>
            </a:extLst>
          </p:cNvPr>
          <p:cNvSpPr>
            <a:spLocks xmlns:a="http://schemas.openxmlformats.org/drawingml/2006/main" noGrp="1"/>
          </p:cNvSpPr>
          <p:nvPr/>
        </p:nvSpPr>
        <p:spPr>
          <a:xfrm xmlns:a="http://schemas.openxmlformats.org/drawingml/2006/main">
            <a:off x="628650" y="4876800"/>
            <a:ext cx="66675" cy="685800"/>
          </a:xfrm>
          <a:prstGeom xmlns:a="http://schemas.openxmlformats.org/drawingml/2006/main" prst="rect">
            <a:avLst/>
          </a:prstGeom>
          <a:solidFill xmlns:a="http://schemas.openxmlformats.org/drawingml/2006/main">
            <a:srgbClr val="765A9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3873AC3-3DE1-4114-B5BC-E4119F1C3939}"/>
              </a:ext>
            </a:extLst>
          </p:cNvPr>
          <p:cNvSpPr>
            <a:spLocks xmlns:a="http://schemas.openxmlformats.org/drawingml/2006/main" noGrp="1"/>
          </p:cNvSpPr>
          <p:nvPr/>
        </p:nvSpPr>
        <p:spPr>
          <a:xfrm xmlns:a="http://schemas.openxmlformats.org/drawingml/2006/main">
            <a:off x="876300" y="4838700"/>
            <a:ext cx="3476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i="0">
                <a:solidFill>
                  <a:srgbClr val="102A43"/>
                </a:solidFill>
                <a:latin typeface="Nimbus Sans"/>
                <a:ea typeface="Nimbus Sans"/>
                <a:cs typeface="Nimbus Sans"/>
              </a:defRPr>
            </a:pPr>
            <a:r>
              <a:rPr sz="1500" b="1" i="0">
                <a:solidFill>
                  <a:srgbClr val="102A43"/>
                </a:solidFill>
                <a:latin typeface="Nimbus Sans"/>
                <a:ea typeface="Nimbus Sans"/>
                <a:cs typeface="Nimbus Sans"/>
              </a:rPr>
              <a:t>Automation and privacy</a:t>
            </a:r>
          </a:p>
        </p:txBody>
      </p:sp>
      <p:sp>
        <p:nvSpPr>
          <p:cNvPr id="16" name="">
            <a:extLst xmlns:a="http://schemas.openxmlformats.org/drawingml/2006/main">
              <a:ext uri="{FF2B5EF4-FFF2-40B4-BE49-F238E27FC236}">
                <a16:creationId xmlns:a16="http://schemas.microsoft.com/office/drawing/2014/main" id="{9AAD739E-C057-46DD-95AA-AE8A72A2976A}"/>
              </a:ext>
            </a:extLst>
          </p:cNvPr>
          <p:cNvSpPr>
            <a:spLocks xmlns:a="http://schemas.openxmlformats.org/drawingml/2006/main" noGrp="1"/>
          </p:cNvSpPr>
          <p:nvPr/>
        </p:nvSpPr>
        <p:spPr>
          <a:xfrm xmlns:a="http://schemas.openxmlformats.org/drawingml/2006/main">
            <a:off x="876300" y="5181600"/>
            <a:ext cx="34766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i="0">
                <a:solidFill>
                  <a:srgbClr val="243B53"/>
                </a:solidFill>
                <a:latin typeface="Nimbus Sans"/>
                <a:ea typeface="Nimbus Sans"/>
                <a:cs typeface="Nimbus Sans"/>
              </a:defRPr>
            </a:pPr>
            <a:r>
              <a:rPr sz="1275" b="0" i="0">
                <a:solidFill>
                  <a:srgbClr val="243B53"/>
                </a:solidFill>
                <a:latin typeface="Nimbus Sans"/>
                <a:ea typeface="Nimbus Sans"/>
                <a:cs typeface="Nimbus Sans"/>
              </a:rPr>
              <a:t>Human override and minimum necessary data are mandatory</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6663d801802144d3"/>
          <a:stretch xmlns:a="http://schemas.openxmlformats.org/drawingml/2006/main"/>
        </p:blipFill>
        <p:spPr>
          <a:xfrm xmlns:a="http://schemas.openxmlformats.org/drawingml/2006/main">
            <a:off x="4762500" y="1696546"/>
            <a:ext cx="6858000" cy="3503007"/>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1648EA8C-2770-4E86-9223-A9C49909E53A}"/>
              </a:ext>
            </a:extLst>
          </p:cNvPr>
          <p:cNvSpPr>
            <a:spLocks xmlns:a="http://schemas.openxmlformats.org/drawingml/2006/main" noGrp="1"/>
          </p:cNvSpPr>
          <p:nvPr/>
        </p:nvSpPr>
        <p:spPr>
          <a:xfrm xmlns:a="http://schemas.openxmlformats.org/drawingml/2006/main">
            <a:off x="4762500" y="5581650"/>
            <a:ext cx="6858000" cy="523875"/>
          </a:xfrm>
          <a:prstGeom xmlns:a="http://schemas.openxmlformats.org/drawingml/2006/main" prst="roundRect">
            <a:avLst>
              <a:gd name="adj" fmla="val 14545"/>
            </a:avLst>
          </a:prstGeom>
          <a:solidFill xmlns:a="http://schemas.openxmlformats.org/drawingml/2006/main">
            <a:srgbClr val="F3E9E3"/>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3E0B958-B072-4302-ABFA-65BD87FF2A35}"/>
              </a:ext>
            </a:extLst>
          </p:cNvPr>
          <p:cNvSpPr>
            <a:spLocks xmlns:a="http://schemas.openxmlformats.org/drawingml/2006/main" noGrp="1"/>
          </p:cNvSpPr>
          <p:nvPr/>
        </p:nvSpPr>
        <p:spPr>
          <a:xfrm xmlns:a="http://schemas.openxmlformats.org/drawingml/2006/main">
            <a:off x="4953000" y="571500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425" b="1" i="0">
                <a:solidFill>
                  <a:srgbClr val="B23A48"/>
                </a:solidFill>
                <a:latin typeface="Nimbus Sans"/>
                <a:ea typeface="Nimbus Sans"/>
                <a:cs typeface="Nimbus Sans"/>
              </a:defRPr>
            </a:pPr>
            <a:r>
              <a:rPr sz="1425" b="1" i="0">
                <a:solidFill>
                  <a:srgbClr val="B23A48"/>
                </a:solidFill>
                <a:latin typeface="Nimbus Sans"/>
                <a:ea typeface="Nimbus Sans"/>
                <a:cs typeface="Nimbus Sans"/>
              </a:rPr>
              <a:t>Race, ethnicity, socioeconomic status, and gender identity cannot be audited from the source data.</a:t>
            </a:r>
          </a:p>
        </p:txBody>
      </p:sp>
      <p:sp>
        <p:nvSpPr>
          <p:cNvPr id="20" name="">
            <a:extLst xmlns:a="http://schemas.openxmlformats.org/drawingml/2006/main">
              <a:ext uri="{FF2B5EF4-FFF2-40B4-BE49-F238E27FC236}">
                <a16:creationId xmlns:a16="http://schemas.microsoft.com/office/drawing/2014/main" id="{6C2E54E9-49A2-480B-A175-17E7DA7E5431}"/>
              </a:ext>
            </a:extLst>
          </p:cNvPr>
          <p:cNvSpPr>
            <a:spLocks xmlns:a="http://schemas.openxmlformats.org/drawingml/2006/main" noGrp="1"/>
          </p:cNvSpPr>
          <p:nvPr/>
        </p:nvSpPr>
        <p:spPr>
          <a:xfrm xmlns:a="http://schemas.openxmlformats.org/drawingml/2006/main">
            <a:off x="552450" y="6229350"/>
            <a:ext cx="10668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i="1">
                <a:solidFill>
                  <a:srgbClr val="627D98"/>
                </a:solidFill>
                <a:latin typeface="Nimbus Sans"/>
                <a:ea typeface="Nimbus Sans"/>
                <a:cs typeface="Nimbus Sans"/>
              </a:defRPr>
            </a:pPr>
            <a:r>
              <a:rPr sz="975" b="0" i="1">
                <a:solidFill>
                  <a:srgbClr val="627D98"/>
                </a:solidFill>
                <a:latin typeface="Nimbus Sans"/>
                <a:ea typeface="Nimbus Sans"/>
                <a:cs typeface="Nimbus Sans"/>
              </a:rPr>
              <a:t>Source: Step 5 ethical AI and bias audit</a:t>
            </a:r>
          </a:p>
        </p:txBody>
      </p:sp>
      <p:sp>
        <p:nvSpPr>
          <p:cNvPr id="21" name="">
            <a:extLst xmlns:a="http://schemas.openxmlformats.org/drawingml/2006/main">
              <a:ext uri="{FF2B5EF4-FFF2-40B4-BE49-F238E27FC236}">
                <a16:creationId xmlns:a16="http://schemas.microsoft.com/office/drawing/2014/main" id="{05BC8004-2392-422E-95F1-A0D49EE0C0EE}"/>
              </a:ext>
            </a:extLst>
          </p:cNvPr>
          <p:cNvSpPr>
            <a:spLocks xmlns:a="http://schemas.openxmlformats.org/drawingml/2006/main" noGrp="1"/>
          </p:cNvSpPr>
          <p:nvPr/>
        </p:nvSpPr>
        <p:spPr>
          <a:xfrm xmlns:a="http://schemas.openxmlformats.org/drawingml/2006/main">
            <a:off x="514350" y="6496050"/>
            <a:ext cx="111633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22" name="">
            <a:extLst xmlns:a="http://schemas.openxmlformats.org/drawingml/2006/main">
              <a:ext uri="{FF2B5EF4-FFF2-40B4-BE49-F238E27FC236}">
                <a16:creationId xmlns:a16="http://schemas.microsoft.com/office/drawing/2014/main" id="{A6D1A136-A12B-474C-B918-6D057126D850}"/>
              </a:ext>
            </a:extLst>
          </p:cNvPr>
          <p:cNvSpPr>
            <a:spLocks xmlns:a="http://schemas.openxmlformats.org/drawingml/2006/main" noGrp="1"/>
          </p:cNvSpPr>
          <p:nvPr/>
        </p:nvSpPr>
        <p:spPr>
          <a:xfrm xmlns:a="http://schemas.openxmlformats.org/drawingml/2006/main">
            <a:off x="514350" y="6562725"/>
            <a:ext cx="11163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i="0">
                <a:solidFill>
                  <a:srgbClr val="627D98"/>
                </a:solidFill>
                <a:latin typeface="Nimbus Sans"/>
                <a:ea typeface="Nimbus Sans"/>
                <a:cs typeface="Nimbus Sans"/>
              </a:defRPr>
            </a:pPr>
            <a:r>
              <a:rPr sz="975" b="0" i="0">
                <a:solidFill>
                  <a:srgbClr val="627D98"/>
                </a:solidFill>
                <a:latin typeface="Nimbus Sans"/>
                <a:ea typeface="Nimbus Sans"/>
                <a:cs typeface="Nimbus Sans"/>
              </a:rPr>
              <a:t>DIAL-ALERT executive presentation  /  07</a:t>
            </a:r>
          </a:p>
        </p:txBody>
      </p:sp>
    </p:spTree>
    <p:extLst>
      <p:ext uri="{BB962C8B-B14F-4D97-AF65-F5344CB8AC3E}">
        <p14:creationId xmlns:p14="http://schemas.microsoft.com/office/powerpoint/2010/main" val="195772669"/>
      </p:ext>
    </p:extLst>
  </p:cSld>
</p:sld>
</file>

<file path=ppt/slides/slide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2A4FE0B6-5B34-4F21-98BF-106C4D7E569F}"/>
              </a:ext>
            </a:extLst>
          </p:cNvPr>
          <p:cNvSpPr>
            <a:spLocks xmlns:a="http://schemas.openxmlformats.org/drawingml/2006/main" noGrp="1"/>
          </p:cNvSpPr>
          <p:nvPr/>
        </p:nvSpPr>
        <p:spPr>
          <a:xfrm xmlns:a="http://schemas.openxmlformats.org/drawingml/2006/main">
            <a:off x="514350" y="400050"/>
            <a:ext cx="76200" cy="78105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3C055AB-4154-42EE-8DD8-0EC4989AF482}"/>
              </a:ext>
            </a:extLst>
          </p:cNvPr>
          <p:cNvSpPr>
            <a:spLocks xmlns:a="http://schemas.openxmlformats.org/drawingml/2006/main" noGrp="1"/>
          </p:cNvSpPr>
          <p:nvPr/>
        </p:nvSpPr>
        <p:spPr>
          <a:xfrm xmlns:a="http://schemas.openxmlformats.org/drawingml/2006/main">
            <a:off x="781050" y="333375"/>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225" b="1" i="0">
                <a:solidFill>
                  <a:srgbClr val="102A43"/>
                </a:solidFill>
                <a:latin typeface="Nimbus Sans"/>
                <a:ea typeface="Nimbus Sans"/>
                <a:cs typeface="Nimbus Sans"/>
              </a:defRPr>
            </a:pPr>
            <a:r>
              <a:rPr sz="3225" b="1" i="0">
                <a:solidFill>
                  <a:srgbClr val="102A43"/>
                </a:solidFill>
                <a:latin typeface="Nimbus Sans"/>
                <a:ea typeface="Nimbus Sans"/>
                <a:cs typeface="Nimbus Sans"/>
              </a:rPr>
              <a:t>Governance controls must precede live alerts</a:t>
            </a:r>
          </a:p>
        </p:txBody>
      </p:sp>
      <p:sp>
        <p:nvSpPr>
          <p:cNvPr id="3" name="">
            <a:extLst xmlns:a="http://schemas.openxmlformats.org/drawingml/2006/main">
              <a:ext uri="{FF2B5EF4-FFF2-40B4-BE49-F238E27FC236}">
                <a16:creationId xmlns:a16="http://schemas.microsoft.com/office/drawing/2014/main" id="{8C7192DC-2CBF-4D03-9E06-3A64E6B3E5AB}"/>
              </a:ext>
            </a:extLst>
          </p:cNvPr>
          <p:cNvSpPr>
            <a:spLocks xmlns:a="http://schemas.openxmlformats.org/drawingml/2006/main" noGrp="1"/>
          </p:cNvSpPr>
          <p:nvPr/>
        </p:nvSpPr>
        <p:spPr>
          <a:xfrm xmlns:a="http://schemas.openxmlformats.org/drawingml/2006/main">
            <a:off x="800100" y="866775"/>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627D98"/>
                </a:solidFill>
                <a:latin typeface="Nimbus Sans"/>
                <a:ea typeface="Nimbus Sans"/>
                <a:cs typeface="Nimbus Sans"/>
              </a:defRPr>
            </a:pPr>
            <a:r>
              <a:rPr sz="1425" b="0" i="0">
                <a:solidFill>
                  <a:srgbClr val="627D98"/>
                </a:solidFill>
                <a:latin typeface="Nimbus Sans"/>
                <a:ea typeface="Nimbus Sans"/>
                <a:cs typeface="Nimbus Sans"/>
              </a:rPr>
              <a:t>Each gate requires documented evidence and an accountable owner</a:t>
            </a:r>
          </a:p>
        </p:txBody>
      </p:sp>
      <p:sp>
        <p:nvSpPr>
          <p:cNvPr id="4" name="">
            <a:extLst xmlns:a="http://schemas.openxmlformats.org/drawingml/2006/main">
              <a:ext uri="{FF2B5EF4-FFF2-40B4-BE49-F238E27FC236}">
                <a16:creationId xmlns:a16="http://schemas.microsoft.com/office/drawing/2014/main" id="{CA3B5700-440C-44D9-B249-127B057F114D}"/>
              </a:ext>
            </a:extLst>
          </p:cNvPr>
          <p:cNvSpPr>
            <a:spLocks xmlns:a="http://schemas.openxmlformats.org/drawingml/2006/main" noGrp="1"/>
          </p:cNvSpPr>
          <p:nvPr/>
        </p:nvSpPr>
        <p:spPr>
          <a:xfrm xmlns:a="http://schemas.openxmlformats.org/drawingml/2006/main">
            <a:off x="723900" y="148590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i="0">
                <a:solidFill>
                  <a:srgbClr val="627D98"/>
                </a:solidFill>
                <a:latin typeface="Nimbus Sans"/>
                <a:ea typeface="Nimbus Sans"/>
                <a:cs typeface="Nimbus Sans"/>
              </a:defRPr>
            </a:pPr>
            <a:r>
              <a:rPr sz="1125" b="1" i="0">
                <a:solidFill>
                  <a:srgbClr val="627D98"/>
                </a:solidFill>
                <a:latin typeface="Nimbus Sans"/>
                <a:ea typeface="Nimbus Sans"/>
                <a:cs typeface="Nimbus Sans"/>
              </a:rPr>
              <a:t>Gate</a:t>
            </a:r>
          </a:p>
        </p:txBody>
      </p:sp>
      <p:sp>
        <p:nvSpPr>
          <p:cNvPr id="5" name="">
            <a:extLst xmlns:a="http://schemas.openxmlformats.org/drawingml/2006/main">
              <a:ext uri="{FF2B5EF4-FFF2-40B4-BE49-F238E27FC236}">
                <a16:creationId xmlns:a16="http://schemas.microsoft.com/office/drawing/2014/main" id="{4D5F3EE8-171F-4157-9A93-77B1BB205621}"/>
              </a:ext>
            </a:extLst>
          </p:cNvPr>
          <p:cNvSpPr>
            <a:spLocks xmlns:a="http://schemas.openxmlformats.org/drawingml/2006/main" noGrp="1"/>
          </p:cNvSpPr>
          <p:nvPr/>
        </p:nvSpPr>
        <p:spPr>
          <a:xfrm xmlns:a="http://schemas.openxmlformats.org/drawingml/2006/main">
            <a:off x="2476500" y="1485900"/>
            <a:ext cx="619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i="0">
                <a:solidFill>
                  <a:srgbClr val="627D98"/>
                </a:solidFill>
                <a:latin typeface="Nimbus Sans"/>
                <a:ea typeface="Nimbus Sans"/>
                <a:cs typeface="Nimbus Sans"/>
              </a:defRPr>
            </a:pPr>
            <a:r>
              <a:rPr sz="1125" b="1" i="0">
                <a:solidFill>
                  <a:srgbClr val="627D98"/>
                </a:solidFill>
                <a:latin typeface="Nimbus Sans"/>
                <a:ea typeface="Nimbus Sans"/>
                <a:cs typeface="Nimbus Sans"/>
              </a:rPr>
              <a:t>Evidence required</a:t>
            </a:r>
          </a:p>
        </p:txBody>
      </p:sp>
      <p:sp>
        <p:nvSpPr>
          <p:cNvPr id="6" name="">
            <a:extLst xmlns:a="http://schemas.openxmlformats.org/drawingml/2006/main">
              <a:ext uri="{FF2B5EF4-FFF2-40B4-BE49-F238E27FC236}">
                <a16:creationId xmlns:a16="http://schemas.microsoft.com/office/drawing/2014/main" id="{5209AFE8-A359-44EC-93BC-C101F83D4A50}"/>
              </a:ext>
            </a:extLst>
          </p:cNvPr>
          <p:cNvSpPr>
            <a:spLocks xmlns:a="http://schemas.openxmlformats.org/drawingml/2006/main" noGrp="1"/>
          </p:cNvSpPr>
          <p:nvPr/>
        </p:nvSpPr>
        <p:spPr>
          <a:xfrm xmlns:a="http://schemas.openxmlformats.org/drawingml/2006/main">
            <a:off x="9239250" y="1485900"/>
            <a:ext cx="219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i="0">
                <a:solidFill>
                  <a:srgbClr val="627D98"/>
                </a:solidFill>
                <a:latin typeface="Nimbus Sans"/>
                <a:ea typeface="Nimbus Sans"/>
                <a:cs typeface="Nimbus Sans"/>
              </a:defRPr>
            </a:pPr>
            <a:r>
              <a:rPr sz="1125" b="1" i="0">
                <a:solidFill>
                  <a:srgbClr val="627D98"/>
                </a:solidFill>
                <a:latin typeface="Nimbus Sans"/>
                <a:ea typeface="Nimbus Sans"/>
                <a:cs typeface="Nimbus Sans"/>
              </a:rPr>
              <a:t>Accountable owner</a:t>
            </a:r>
          </a:p>
        </p:txBody>
      </p:sp>
      <p:sp>
        <p:nvSpPr>
          <p:cNvPr id="7" name="">
            <a:extLst xmlns:a="http://schemas.openxmlformats.org/drawingml/2006/main">
              <a:ext uri="{FF2B5EF4-FFF2-40B4-BE49-F238E27FC236}">
                <a16:creationId xmlns:a16="http://schemas.microsoft.com/office/drawing/2014/main" id="{5635CB5B-9938-4FD3-86D9-EA6D838F0809}"/>
              </a:ext>
            </a:extLst>
          </p:cNvPr>
          <p:cNvSpPr>
            <a:spLocks xmlns:a="http://schemas.openxmlformats.org/drawingml/2006/main" noGrp="1"/>
          </p:cNvSpPr>
          <p:nvPr/>
        </p:nvSpPr>
        <p:spPr>
          <a:xfrm xmlns:a="http://schemas.openxmlformats.org/drawingml/2006/main">
            <a:off x="723900" y="1771650"/>
            <a:ext cx="107061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8" name="">
            <a:extLst xmlns:a="http://schemas.openxmlformats.org/drawingml/2006/main">
              <a:ext uri="{FF2B5EF4-FFF2-40B4-BE49-F238E27FC236}">
                <a16:creationId xmlns:a16="http://schemas.microsoft.com/office/drawing/2014/main" id="{4917A908-D049-4C69-B701-08DF94CED107}"/>
              </a:ext>
            </a:extLst>
          </p:cNvPr>
          <p:cNvSpPr>
            <a:spLocks xmlns:a="http://schemas.openxmlformats.org/drawingml/2006/main" noGrp="1"/>
          </p:cNvSpPr>
          <p:nvPr/>
        </p:nvSpPr>
        <p:spPr>
          <a:xfrm xmlns:a="http://schemas.openxmlformats.org/drawingml/2006/main">
            <a:off x="723900" y="1866900"/>
            <a:ext cx="419100" cy="41910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txBody>
          <a:bodyPr xmlns:a="http://schemas.openxmlformats.org/drawingml/2006/main" wrap="square" lIns="0" tIns="47625" rIns="0" bIns="0" anchor="ctr">
            <a:noAutofit/>
          </a:bodyPr>
          <a:lstStyle xmlns:a="http://schemas.openxmlformats.org/drawingml/2006/main"/>
          <a:p xmlns:a="http://schemas.openxmlformats.org/drawingml/2006/main">
            <a:pPr algn="ctr">
              <a:defRPr sz="1650" b="1" i="0">
                <a:solidFill>
                  <a:srgbClr val="FFFFFF"/>
                </a:solidFill>
                <a:latin typeface="Nimbus Sans"/>
                <a:ea typeface="Nimbus Sans"/>
                <a:cs typeface="Nimbus Sans"/>
              </a:defRPr>
            </a:pPr>
            <a:r>
              <a:rPr sz="1650" b="1" i="0">
                <a:solidFill>
                  <a:srgbClr val="FFFFFF"/>
                </a:solidFill>
                <a:latin typeface="Nimbus Sans"/>
                <a:ea typeface="Nimbus Sans"/>
                <a:cs typeface="Nimbus Sans"/>
              </a:rPr>
              <a:t>1</a:t>
            </a:r>
          </a:p>
        </p:txBody>
      </p:sp>
      <p:sp>
        <p:nvSpPr>
          <p:cNvPr id="9" name="">
            <a:extLst xmlns:a="http://schemas.openxmlformats.org/drawingml/2006/main">
              <a:ext uri="{FF2B5EF4-FFF2-40B4-BE49-F238E27FC236}">
                <a16:creationId xmlns:a16="http://schemas.microsoft.com/office/drawing/2014/main" id="{0008268A-B394-4E5F-8B34-FB1E9678BA50}"/>
              </a:ext>
            </a:extLst>
          </p:cNvPr>
          <p:cNvSpPr>
            <a:spLocks xmlns:a="http://schemas.openxmlformats.org/drawingml/2006/main" noGrp="1"/>
          </p:cNvSpPr>
          <p:nvPr/>
        </p:nvSpPr>
        <p:spPr>
          <a:xfrm xmlns:a="http://schemas.openxmlformats.org/drawingml/2006/main">
            <a:off x="1352550" y="1885950"/>
            <a:ext cx="1000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i="0">
                <a:solidFill>
                  <a:srgbClr val="102A43"/>
                </a:solidFill>
                <a:latin typeface="Nimbus Sans"/>
                <a:ea typeface="Nimbus Sans"/>
                <a:cs typeface="Nimbus Sans"/>
              </a:defRPr>
            </a:pPr>
            <a:r>
              <a:rPr sz="1500" b="1" i="0">
                <a:solidFill>
                  <a:srgbClr val="102A43"/>
                </a:solidFill>
                <a:latin typeface="Nimbus Sans"/>
                <a:ea typeface="Nimbus Sans"/>
                <a:cs typeface="Nimbus Sans"/>
              </a:rPr>
              <a:t>External validity</a:t>
            </a:r>
          </a:p>
        </p:txBody>
      </p:sp>
      <p:sp>
        <p:nvSpPr>
          <p:cNvPr id="10" name="">
            <a:extLst xmlns:a="http://schemas.openxmlformats.org/drawingml/2006/main">
              <a:ext uri="{FF2B5EF4-FFF2-40B4-BE49-F238E27FC236}">
                <a16:creationId xmlns:a16="http://schemas.microsoft.com/office/drawing/2014/main" id="{41966999-B939-4933-92D3-085ABA7608BD}"/>
              </a:ext>
            </a:extLst>
          </p:cNvPr>
          <p:cNvSpPr>
            <a:spLocks xmlns:a="http://schemas.openxmlformats.org/drawingml/2006/main" noGrp="1"/>
          </p:cNvSpPr>
          <p:nvPr/>
        </p:nvSpPr>
        <p:spPr>
          <a:xfrm xmlns:a="http://schemas.openxmlformats.org/drawingml/2006/main">
            <a:off x="2476500" y="1885950"/>
            <a:ext cx="628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i="0">
                <a:solidFill>
                  <a:srgbClr val="243B53"/>
                </a:solidFill>
                <a:latin typeface="Nimbus Sans"/>
                <a:ea typeface="Nimbus Sans"/>
                <a:cs typeface="Nimbus Sans"/>
              </a:defRPr>
            </a:pPr>
            <a:r>
              <a:rPr sz="1350" b="0" i="0">
                <a:solidFill>
                  <a:srgbClr val="243B53"/>
                </a:solidFill>
                <a:latin typeface="Nimbus Sans"/>
                <a:ea typeface="Nimbus Sans"/>
                <a:cs typeface="Nimbus Sans"/>
              </a:rPr>
              <a:t>Performance and calibration on current local patients</a:t>
            </a:r>
          </a:p>
        </p:txBody>
      </p:sp>
      <p:sp>
        <p:nvSpPr>
          <p:cNvPr id="11" name="">
            <a:extLst xmlns:a="http://schemas.openxmlformats.org/drawingml/2006/main">
              <a:ext uri="{FF2B5EF4-FFF2-40B4-BE49-F238E27FC236}">
                <a16:creationId xmlns:a16="http://schemas.microsoft.com/office/drawing/2014/main" id="{C045BED7-547F-4269-B38F-6B198B492BC8}"/>
              </a:ext>
            </a:extLst>
          </p:cNvPr>
          <p:cNvSpPr>
            <a:spLocks xmlns:a="http://schemas.openxmlformats.org/drawingml/2006/main" noGrp="1"/>
          </p:cNvSpPr>
          <p:nvPr/>
        </p:nvSpPr>
        <p:spPr>
          <a:xfrm xmlns:a="http://schemas.openxmlformats.org/drawingml/2006/main">
            <a:off x="9239250" y="188595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i="0">
                <a:solidFill>
                  <a:srgbClr val="765A9E"/>
                </a:solidFill>
                <a:latin typeface="Nimbus Sans"/>
                <a:ea typeface="Nimbus Sans"/>
                <a:cs typeface="Nimbus Sans"/>
              </a:defRPr>
            </a:pPr>
            <a:r>
              <a:rPr sz="1350" b="1" i="0">
                <a:solidFill>
                  <a:srgbClr val="765A9E"/>
                </a:solidFill>
                <a:latin typeface="Nimbus Sans"/>
                <a:ea typeface="Nimbus Sans"/>
                <a:cs typeface="Nimbus Sans"/>
              </a:rPr>
              <a:t>Clinical analytics lead</a:t>
            </a:r>
          </a:p>
        </p:txBody>
      </p:sp>
      <p:sp>
        <p:nvSpPr>
          <p:cNvPr id="12" name="">
            <a:extLst xmlns:a="http://schemas.openxmlformats.org/drawingml/2006/main">
              <a:ext uri="{FF2B5EF4-FFF2-40B4-BE49-F238E27FC236}">
                <a16:creationId xmlns:a16="http://schemas.microsoft.com/office/drawing/2014/main" id="{3F61E5A8-850F-43B9-B1BC-C31D7B787F24}"/>
              </a:ext>
            </a:extLst>
          </p:cNvPr>
          <p:cNvSpPr>
            <a:spLocks xmlns:a="http://schemas.openxmlformats.org/drawingml/2006/main" noGrp="1"/>
          </p:cNvSpPr>
          <p:nvPr/>
        </p:nvSpPr>
        <p:spPr>
          <a:xfrm xmlns:a="http://schemas.openxmlformats.org/drawingml/2006/main">
            <a:off x="723900" y="2590800"/>
            <a:ext cx="107061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13" name="">
            <a:extLst xmlns:a="http://schemas.openxmlformats.org/drawingml/2006/main">
              <a:ext uri="{FF2B5EF4-FFF2-40B4-BE49-F238E27FC236}">
                <a16:creationId xmlns:a16="http://schemas.microsoft.com/office/drawing/2014/main" id="{E0B8FED3-6540-421D-BC72-D5449123ED83}"/>
              </a:ext>
            </a:extLst>
          </p:cNvPr>
          <p:cNvSpPr>
            <a:spLocks xmlns:a="http://schemas.openxmlformats.org/drawingml/2006/main" noGrp="1"/>
          </p:cNvSpPr>
          <p:nvPr/>
        </p:nvSpPr>
        <p:spPr>
          <a:xfrm xmlns:a="http://schemas.openxmlformats.org/drawingml/2006/main">
            <a:off x="723900" y="2686050"/>
            <a:ext cx="419100" cy="41910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txBody>
          <a:bodyPr xmlns:a="http://schemas.openxmlformats.org/drawingml/2006/main" wrap="square" lIns="0" tIns="47625" rIns="0" bIns="0" anchor="ctr">
            <a:noAutofit/>
          </a:bodyPr>
          <a:lstStyle xmlns:a="http://schemas.openxmlformats.org/drawingml/2006/main"/>
          <a:p xmlns:a="http://schemas.openxmlformats.org/drawingml/2006/main">
            <a:pPr algn="ctr">
              <a:defRPr sz="1650" b="1" i="0">
                <a:solidFill>
                  <a:srgbClr val="FFFFFF"/>
                </a:solidFill>
                <a:latin typeface="Nimbus Sans"/>
                <a:ea typeface="Nimbus Sans"/>
                <a:cs typeface="Nimbus Sans"/>
              </a:defRPr>
            </a:pPr>
            <a:r>
              <a:rPr sz="1650" b="1" i="0">
                <a:solidFill>
                  <a:srgbClr val="FFFFFF"/>
                </a:solidFill>
                <a:latin typeface="Nimbus Sans"/>
                <a:ea typeface="Nimbus Sans"/>
                <a:cs typeface="Nimbus Sans"/>
              </a:rPr>
              <a:t>2</a:t>
            </a:r>
          </a:p>
        </p:txBody>
      </p:sp>
      <p:sp>
        <p:nvSpPr>
          <p:cNvPr id="14" name="">
            <a:extLst xmlns:a="http://schemas.openxmlformats.org/drawingml/2006/main">
              <a:ext uri="{FF2B5EF4-FFF2-40B4-BE49-F238E27FC236}">
                <a16:creationId xmlns:a16="http://schemas.microsoft.com/office/drawing/2014/main" id="{B8CA4367-BC39-48FF-8135-904C4EB03862}"/>
              </a:ext>
            </a:extLst>
          </p:cNvPr>
          <p:cNvSpPr>
            <a:spLocks xmlns:a="http://schemas.openxmlformats.org/drawingml/2006/main" noGrp="1"/>
          </p:cNvSpPr>
          <p:nvPr/>
        </p:nvSpPr>
        <p:spPr>
          <a:xfrm xmlns:a="http://schemas.openxmlformats.org/drawingml/2006/main">
            <a:off x="1352550" y="2705100"/>
            <a:ext cx="1000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i="0">
                <a:solidFill>
                  <a:srgbClr val="102A43"/>
                </a:solidFill>
                <a:latin typeface="Nimbus Sans"/>
                <a:ea typeface="Nimbus Sans"/>
                <a:cs typeface="Nimbus Sans"/>
              </a:defRPr>
            </a:pPr>
            <a:r>
              <a:rPr sz="1500" b="1" i="0">
                <a:solidFill>
                  <a:srgbClr val="102A43"/>
                </a:solidFill>
                <a:latin typeface="Nimbus Sans"/>
                <a:ea typeface="Nimbus Sans"/>
                <a:cs typeface="Nimbus Sans"/>
              </a:rPr>
              <a:t>Silent workflow</a:t>
            </a:r>
          </a:p>
        </p:txBody>
      </p:sp>
      <p:sp>
        <p:nvSpPr>
          <p:cNvPr id="15" name="">
            <a:extLst xmlns:a="http://schemas.openxmlformats.org/drawingml/2006/main">
              <a:ext uri="{FF2B5EF4-FFF2-40B4-BE49-F238E27FC236}">
                <a16:creationId xmlns:a16="http://schemas.microsoft.com/office/drawing/2014/main" id="{8183C210-0193-4211-8063-1F49F1D14888}"/>
              </a:ext>
            </a:extLst>
          </p:cNvPr>
          <p:cNvSpPr>
            <a:spLocks xmlns:a="http://schemas.openxmlformats.org/drawingml/2006/main" noGrp="1"/>
          </p:cNvSpPr>
          <p:nvPr/>
        </p:nvSpPr>
        <p:spPr>
          <a:xfrm xmlns:a="http://schemas.openxmlformats.org/drawingml/2006/main">
            <a:off x="2476500" y="2705100"/>
            <a:ext cx="628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i="0">
                <a:solidFill>
                  <a:srgbClr val="243B53"/>
                </a:solidFill>
                <a:latin typeface="Nimbus Sans"/>
                <a:ea typeface="Nimbus Sans"/>
                <a:cs typeface="Nimbus Sans"/>
              </a:defRPr>
            </a:pPr>
            <a:r>
              <a:rPr sz="1350" b="0" i="0">
                <a:solidFill>
                  <a:srgbClr val="243B53"/>
                </a:solidFill>
                <a:latin typeface="Nimbus Sans"/>
                <a:ea typeface="Nimbus Sans"/>
                <a:cs typeface="Nimbus Sans"/>
              </a:rPr>
              <a:t>Alert volume, timing, data quality, and drift without influencing care</a:t>
            </a:r>
          </a:p>
        </p:txBody>
      </p:sp>
      <p:sp>
        <p:nvSpPr>
          <p:cNvPr id="16" name="">
            <a:extLst xmlns:a="http://schemas.openxmlformats.org/drawingml/2006/main">
              <a:ext uri="{FF2B5EF4-FFF2-40B4-BE49-F238E27FC236}">
                <a16:creationId xmlns:a16="http://schemas.microsoft.com/office/drawing/2014/main" id="{77CC7975-0E17-4615-96DB-1D6E9D9046FE}"/>
              </a:ext>
            </a:extLst>
          </p:cNvPr>
          <p:cNvSpPr>
            <a:spLocks xmlns:a="http://schemas.openxmlformats.org/drawingml/2006/main" noGrp="1"/>
          </p:cNvSpPr>
          <p:nvPr/>
        </p:nvSpPr>
        <p:spPr>
          <a:xfrm xmlns:a="http://schemas.openxmlformats.org/drawingml/2006/main">
            <a:off x="9239250" y="27051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i="0">
                <a:solidFill>
                  <a:srgbClr val="765A9E"/>
                </a:solidFill>
                <a:latin typeface="Nimbus Sans"/>
                <a:ea typeface="Nimbus Sans"/>
                <a:cs typeface="Nimbus Sans"/>
              </a:defRPr>
            </a:pPr>
            <a:r>
              <a:rPr sz="1350" b="1" i="0">
                <a:solidFill>
                  <a:srgbClr val="765A9E"/>
                </a:solidFill>
                <a:latin typeface="Nimbus Sans"/>
                <a:ea typeface="Nimbus Sans"/>
                <a:cs typeface="Nimbus Sans"/>
              </a:rPr>
              <a:t>Dialysis operations</a:t>
            </a:r>
          </a:p>
        </p:txBody>
      </p:sp>
      <p:sp>
        <p:nvSpPr>
          <p:cNvPr id="17" name="">
            <a:extLst xmlns:a="http://schemas.openxmlformats.org/drawingml/2006/main">
              <a:ext uri="{FF2B5EF4-FFF2-40B4-BE49-F238E27FC236}">
                <a16:creationId xmlns:a16="http://schemas.microsoft.com/office/drawing/2014/main" id="{685AD252-E2D2-4754-A902-B9A319F1B7B5}"/>
              </a:ext>
            </a:extLst>
          </p:cNvPr>
          <p:cNvSpPr>
            <a:spLocks xmlns:a="http://schemas.openxmlformats.org/drawingml/2006/main" noGrp="1"/>
          </p:cNvSpPr>
          <p:nvPr/>
        </p:nvSpPr>
        <p:spPr>
          <a:xfrm xmlns:a="http://schemas.openxmlformats.org/drawingml/2006/main">
            <a:off x="723900" y="3409950"/>
            <a:ext cx="107061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18" name="">
            <a:extLst xmlns:a="http://schemas.openxmlformats.org/drawingml/2006/main">
              <a:ext uri="{FF2B5EF4-FFF2-40B4-BE49-F238E27FC236}">
                <a16:creationId xmlns:a16="http://schemas.microsoft.com/office/drawing/2014/main" id="{4EC7F442-C7E7-479F-8F5F-23613128215C}"/>
              </a:ext>
            </a:extLst>
          </p:cNvPr>
          <p:cNvSpPr>
            <a:spLocks xmlns:a="http://schemas.openxmlformats.org/drawingml/2006/main" noGrp="1"/>
          </p:cNvSpPr>
          <p:nvPr/>
        </p:nvSpPr>
        <p:spPr>
          <a:xfrm xmlns:a="http://schemas.openxmlformats.org/drawingml/2006/main">
            <a:off x="723900" y="3505200"/>
            <a:ext cx="419100" cy="41910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txBody>
          <a:bodyPr xmlns:a="http://schemas.openxmlformats.org/drawingml/2006/main" wrap="square" lIns="0" tIns="47625" rIns="0" bIns="0" anchor="ctr">
            <a:noAutofit/>
          </a:bodyPr>
          <a:lstStyle xmlns:a="http://schemas.openxmlformats.org/drawingml/2006/main"/>
          <a:p xmlns:a="http://schemas.openxmlformats.org/drawingml/2006/main">
            <a:pPr algn="ctr">
              <a:defRPr sz="1650" b="1" i="0">
                <a:solidFill>
                  <a:srgbClr val="FFFFFF"/>
                </a:solidFill>
                <a:latin typeface="Nimbus Sans"/>
                <a:ea typeface="Nimbus Sans"/>
                <a:cs typeface="Nimbus Sans"/>
              </a:defRPr>
            </a:pPr>
            <a:r>
              <a:rPr sz="1650" b="1" i="0">
                <a:solidFill>
                  <a:srgbClr val="FFFFFF"/>
                </a:solidFill>
                <a:latin typeface="Nimbus Sans"/>
                <a:ea typeface="Nimbus Sans"/>
                <a:cs typeface="Nimbus Sans"/>
              </a:rPr>
              <a:t>3</a:t>
            </a:r>
          </a:p>
        </p:txBody>
      </p:sp>
      <p:sp>
        <p:nvSpPr>
          <p:cNvPr id="19" name="">
            <a:extLst xmlns:a="http://schemas.openxmlformats.org/drawingml/2006/main">
              <a:ext uri="{FF2B5EF4-FFF2-40B4-BE49-F238E27FC236}">
                <a16:creationId xmlns:a16="http://schemas.microsoft.com/office/drawing/2014/main" id="{08EB3F6D-77F0-47BF-969F-0B3D8006B086}"/>
              </a:ext>
            </a:extLst>
          </p:cNvPr>
          <p:cNvSpPr>
            <a:spLocks xmlns:a="http://schemas.openxmlformats.org/drawingml/2006/main" noGrp="1"/>
          </p:cNvSpPr>
          <p:nvPr/>
        </p:nvSpPr>
        <p:spPr>
          <a:xfrm xmlns:a="http://schemas.openxmlformats.org/drawingml/2006/main">
            <a:off x="1352550" y="3524250"/>
            <a:ext cx="1000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i="0">
                <a:solidFill>
                  <a:srgbClr val="102A43"/>
                </a:solidFill>
                <a:latin typeface="Nimbus Sans"/>
                <a:ea typeface="Nimbus Sans"/>
                <a:cs typeface="Nimbus Sans"/>
              </a:defRPr>
            </a:pPr>
            <a:r>
              <a:rPr sz="1500" b="1" i="0">
                <a:solidFill>
                  <a:srgbClr val="102A43"/>
                </a:solidFill>
                <a:latin typeface="Nimbus Sans"/>
                <a:ea typeface="Nimbus Sans"/>
                <a:cs typeface="Nimbus Sans"/>
              </a:rPr>
              <a:t>Human factors</a:t>
            </a:r>
          </a:p>
        </p:txBody>
      </p:sp>
      <p:sp>
        <p:nvSpPr>
          <p:cNvPr id="20" name="">
            <a:extLst xmlns:a="http://schemas.openxmlformats.org/drawingml/2006/main">
              <a:ext uri="{FF2B5EF4-FFF2-40B4-BE49-F238E27FC236}">
                <a16:creationId xmlns:a16="http://schemas.microsoft.com/office/drawing/2014/main" id="{78CB4152-AB4A-4CDA-B373-57DC2F2A18F6}"/>
              </a:ext>
            </a:extLst>
          </p:cNvPr>
          <p:cNvSpPr>
            <a:spLocks xmlns:a="http://schemas.openxmlformats.org/drawingml/2006/main" noGrp="1"/>
          </p:cNvSpPr>
          <p:nvPr/>
        </p:nvSpPr>
        <p:spPr>
          <a:xfrm xmlns:a="http://schemas.openxmlformats.org/drawingml/2006/main">
            <a:off x="2476500" y="3524250"/>
            <a:ext cx="628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i="0">
                <a:solidFill>
                  <a:srgbClr val="243B53"/>
                </a:solidFill>
                <a:latin typeface="Nimbus Sans"/>
                <a:ea typeface="Nimbus Sans"/>
                <a:cs typeface="Nimbus Sans"/>
              </a:defRPr>
            </a:pPr>
            <a:r>
              <a:rPr sz="1350" b="0" i="0">
                <a:solidFill>
                  <a:srgbClr val="243B53"/>
                </a:solidFill>
                <a:latin typeface="Nimbus Sans"/>
                <a:ea typeface="Nimbus Sans"/>
                <a:cs typeface="Nimbus Sans"/>
              </a:rPr>
              <a:t>Comprehension, overrides, action patterns, and automation bias</a:t>
            </a:r>
          </a:p>
        </p:txBody>
      </p:sp>
      <p:sp>
        <p:nvSpPr>
          <p:cNvPr id="21" name="">
            <a:extLst xmlns:a="http://schemas.openxmlformats.org/drawingml/2006/main">
              <a:ext uri="{FF2B5EF4-FFF2-40B4-BE49-F238E27FC236}">
                <a16:creationId xmlns:a16="http://schemas.microsoft.com/office/drawing/2014/main" id="{1162B53D-1FB7-4D14-A9D1-471903F8BCCA}"/>
              </a:ext>
            </a:extLst>
          </p:cNvPr>
          <p:cNvSpPr>
            <a:spLocks xmlns:a="http://schemas.openxmlformats.org/drawingml/2006/main" noGrp="1"/>
          </p:cNvSpPr>
          <p:nvPr/>
        </p:nvSpPr>
        <p:spPr>
          <a:xfrm xmlns:a="http://schemas.openxmlformats.org/drawingml/2006/main">
            <a:off x="9239250" y="352425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i="0">
                <a:solidFill>
                  <a:srgbClr val="765A9E"/>
                </a:solidFill>
                <a:latin typeface="Nimbus Sans"/>
                <a:ea typeface="Nimbus Sans"/>
                <a:cs typeface="Nimbus Sans"/>
              </a:defRPr>
            </a:pPr>
            <a:r>
              <a:rPr sz="1350" b="1" i="0">
                <a:solidFill>
                  <a:srgbClr val="765A9E"/>
                </a:solidFill>
                <a:latin typeface="Nimbus Sans"/>
                <a:ea typeface="Nimbus Sans"/>
                <a:cs typeface="Nimbus Sans"/>
              </a:rPr>
              <a:t>Clinical safety lead</a:t>
            </a:r>
          </a:p>
        </p:txBody>
      </p:sp>
      <p:sp>
        <p:nvSpPr>
          <p:cNvPr id="22" name="">
            <a:extLst xmlns:a="http://schemas.openxmlformats.org/drawingml/2006/main">
              <a:ext uri="{FF2B5EF4-FFF2-40B4-BE49-F238E27FC236}">
                <a16:creationId xmlns:a16="http://schemas.microsoft.com/office/drawing/2014/main" id="{2F2C475E-CBE7-4B42-8A29-DDD232C4D7AB}"/>
              </a:ext>
            </a:extLst>
          </p:cNvPr>
          <p:cNvSpPr>
            <a:spLocks xmlns:a="http://schemas.openxmlformats.org/drawingml/2006/main" noGrp="1"/>
          </p:cNvSpPr>
          <p:nvPr/>
        </p:nvSpPr>
        <p:spPr>
          <a:xfrm xmlns:a="http://schemas.openxmlformats.org/drawingml/2006/main">
            <a:off x="723900" y="4229100"/>
            <a:ext cx="107061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23" name="">
            <a:extLst xmlns:a="http://schemas.openxmlformats.org/drawingml/2006/main">
              <a:ext uri="{FF2B5EF4-FFF2-40B4-BE49-F238E27FC236}">
                <a16:creationId xmlns:a16="http://schemas.microsoft.com/office/drawing/2014/main" id="{CBB18F73-B6DE-4908-87A9-8C477E0A71B2}"/>
              </a:ext>
            </a:extLst>
          </p:cNvPr>
          <p:cNvSpPr>
            <a:spLocks xmlns:a="http://schemas.openxmlformats.org/drawingml/2006/main" noGrp="1"/>
          </p:cNvSpPr>
          <p:nvPr/>
        </p:nvSpPr>
        <p:spPr>
          <a:xfrm xmlns:a="http://schemas.openxmlformats.org/drawingml/2006/main">
            <a:off x="723900" y="4324350"/>
            <a:ext cx="419100" cy="41910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txBody>
          <a:bodyPr xmlns:a="http://schemas.openxmlformats.org/drawingml/2006/main" wrap="square" lIns="0" tIns="47625" rIns="0" bIns="0" anchor="ctr">
            <a:noAutofit/>
          </a:bodyPr>
          <a:lstStyle xmlns:a="http://schemas.openxmlformats.org/drawingml/2006/main"/>
          <a:p xmlns:a="http://schemas.openxmlformats.org/drawingml/2006/main">
            <a:pPr algn="ctr">
              <a:defRPr sz="1650" b="1" i="0">
                <a:solidFill>
                  <a:srgbClr val="FFFFFF"/>
                </a:solidFill>
                <a:latin typeface="Nimbus Sans"/>
                <a:ea typeface="Nimbus Sans"/>
                <a:cs typeface="Nimbus Sans"/>
              </a:defRPr>
            </a:pPr>
            <a:r>
              <a:rPr sz="1650" b="1" i="0">
                <a:solidFill>
                  <a:srgbClr val="FFFFFF"/>
                </a:solidFill>
                <a:latin typeface="Nimbus Sans"/>
                <a:ea typeface="Nimbus Sans"/>
                <a:cs typeface="Nimbus Sans"/>
              </a:rPr>
              <a:t>4</a:t>
            </a:r>
          </a:p>
        </p:txBody>
      </p:sp>
      <p:sp>
        <p:nvSpPr>
          <p:cNvPr id="24" name="">
            <a:extLst xmlns:a="http://schemas.openxmlformats.org/drawingml/2006/main">
              <a:ext uri="{FF2B5EF4-FFF2-40B4-BE49-F238E27FC236}">
                <a16:creationId xmlns:a16="http://schemas.microsoft.com/office/drawing/2014/main" id="{97B865E2-7BFB-4861-8682-B49BC6579984}"/>
              </a:ext>
            </a:extLst>
          </p:cNvPr>
          <p:cNvSpPr>
            <a:spLocks xmlns:a="http://schemas.openxmlformats.org/drawingml/2006/main" noGrp="1"/>
          </p:cNvSpPr>
          <p:nvPr/>
        </p:nvSpPr>
        <p:spPr>
          <a:xfrm xmlns:a="http://schemas.openxmlformats.org/drawingml/2006/main">
            <a:off x="1352550" y="4343400"/>
            <a:ext cx="1000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i="0">
                <a:solidFill>
                  <a:srgbClr val="102A43"/>
                </a:solidFill>
                <a:latin typeface="Nimbus Sans"/>
                <a:ea typeface="Nimbus Sans"/>
                <a:cs typeface="Nimbus Sans"/>
              </a:defRPr>
            </a:pPr>
            <a:r>
              <a:rPr sz="1500" b="1" i="0">
                <a:solidFill>
                  <a:srgbClr val="102A43"/>
                </a:solidFill>
                <a:latin typeface="Nimbus Sans"/>
                <a:ea typeface="Nimbus Sans"/>
                <a:cs typeface="Nimbus Sans"/>
              </a:rPr>
              <a:t>Equity and privacy</a:t>
            </a:r>
          </a:p>
        </p:txBody>
      </p:sp>
      <p:sp>
        <p:nvSpPr>
          <p:cNvPr id="25" name="">
            <a:extLst xmlns:a="http://schemas.openxmlformats.org/drawingml/2006/main">
              <a:ext uri="{FF2B5EF4-FFF2-40B4-BE49-F238E27FC236}">
                <a16:creationId xmlns:a16="http://schemas.microsoft.com/office/drawing/2014/main" id="{95CE0E8B-B513-41B4-BE41-0E51298094CB}"/>
              </a:ext>
            </a:extLst>
          </p:cNvPr>
          <p:cNvSpPr>
            <a:spLocks xmlns:a="http://schemas.openxmlformats.org/drawingml/2006/main" noGrp="1"/>
          </p:cNvSpPr>
          <p:nvPr/>
        </p:nvSpPr>
        <p:spPr>
          <a:xfrm xmlns:a="http://schemas.openxmlformats.org/drawingml/2006/main">
            <a:off x="2476500" y="4343400"/>
            <a:ext cx="628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i="0">
                <a:solidFill>
                  <a:srgbClr val="243B53"/>
                </a:solidFill>
                <a:latin typeface="Nimbus Sans"/>
                <a:ea typeface="Nimbus Sans"/>
                <a:cs typeface="Nimbus Sans"/>
              </a:defRPr>
            </a:pPr>
            <a:r>
              <a:rPr sz="1350" b="0" i="0">
                <a:solidFill>
                  <a:srgbClr val="243B53"/>
                </a:solidFill>
                <a:latin typeface="Nimbus Sans"/>
                <a:ea typeface="Nimbus Sans"/>
                <a:cs typeface="Nimbus Sans"/>
              </a:rPr>
              <a:t>Subgroup errors, broader attributes, access controls, and retention</a:t>
            </a:r>
          </a:p>
        </p:txBody>
      </p:sp>
      <p:sp>
        <p:nvSpPr>
          <p:cNvPr id="26" name="">
            <a:extLst xmlns:a="http://schemas.openxmlformats.org/drawingml/2006/main">
              <a:ext uri="{FF2B5EF4-FFF2-40B4-BE49-F238E27FC236}">
                <a16:creationId xmlns:a16="http://schemas.microsoft.com/office/drawing/2014/main" id="{77AD757B-6605-423D-9BF2-9D1271103C98}"/>
              </a:ext>
            </a:extLst>
          </p:cNvPr>
          <p:cNvSpPr>
            <a:spLocks xmlns:a="http://schemas.openxmlformats.org/drawingml/2006/main" noGrp="1"/>
          </p:cNvSpPr>
          <p:nvPr/>
        </p:nvSpPr>
        <p:spPr>
          <a:xfrm xmlns:a="http://schemas.openxmlformats.org/drawingml/2006/main">
            <a:off x="9239250" y="43434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i="0">
                <a:solidFill>
                  <a:srgbClr val="765A9E"/>
                </a:solidFill>
                <a:latin typeface="Nimbus Sans"/>
                <a:ea typeface="Nimbus Sans"/>
                <a:cs typeface="Nimbus Sans"/>
              </a:defRPr>
            </a:pPr>
            <a:r>
              <a:rPr sz="1350" b="1" i="0">
                <a:solidFill>
                  <a:srgbClr val="765A9E"/>
                </a:solidFill>
                <a:latin typeface="Nimbus Sans"/>
                <a:ea typeface="Nimbus Sans"/>
                <a:cs typeface="Nimbus Sans"/>
              </a:rPr>
              <a:t>Governance board</a:t>
            </a:r>
          </a:p>
        </p:txBody>
      </p:sp>
      <p:sp>
        <p:nvSpPr>
          <p:cNvPr id="27" name="">
            <a:extLst xmlns:a="http://schemas.openxmlformats.org/drawingml/2006/main">
              <a:ext uri="{FF2B5EF4-FFF2-40B4-BE49-F238E27FC236}">
                <a16:creationId xmlns:a16="http://schemas.microsoft.com/office/drawing/2014/main" id="{F7A47D79-2FD5-4E5E-AFFD-E4BE3231990C}"/>
              </a:ext>
            </a:extLst>
          </p:cNvPr>
          <p:cNvSpPr>
            <a:spLocks xmlns:a="http://schemas.openxmlformats.org/drawingml/2006/main" noGrp="1"/>
          </p:cNvSpPr>
          <p:nvPr/>
        </p:nvSpPr>
        <p:spPr>
          <a:xfrm xmlns:a="http://schemas.openxmlformats.org/drawingml/2006/main">
            <a:off x="723900" y="5048250"/>
            <a:ext cx="107061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28" name="">
            <a:extLst xmlns:a="http://schemas.openxmlformats.org/drawingml/2006/main">
              <a:ext uri="{FF2B5EF4-FFF2-40B4-BE49-F238E27FC236}">
                <a16:creationId xmlns:a16="http://schemas.microsoft.com/office/drawing/2014/main" id="{D1571F2A-34A2-4242-8A81-7A69826CE97F}"/>
              </a:ext>
            </a:extLst>
          </p:cNvPr>
          <p:cNvSpPr>
            <a:spLocks xmlns:a="http://schemas.openxmlformats.org/drawingml/2006/main" noGrp="1"/>
          </p:cNvSpPr>
          <p:nvPr/>
        </p:nvSpPr>
        <p:spPr>
          <a:xfrm xmlns:a="http://schemas.openxmlformats.org/drawingml/2006/main">
            <a:off x="723900" y="5143500"/>
            <a:ext cx="419100" cy="4191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txBody>
          <a:bodyPr xmlns:a="http://schemas.openxmlformats.org/drawingml/2006/main" wrap="square" lIns="0" tIns="47625" rIns="0" bIns="0" anchor="ctr">
            <a:noAutofit/>
          </a:bodyPr>
          <a:lstStyle xmlns:a="http://schemas.openxmlformats.org/drawingml/2006/main"/>
          <a:p xmlns:a="http://schemas.openxmlformats.org/drawingml/2006/main">
            <a:pPr algn="ctr">
              <a:defRPr sz="1650" b="1" i="0">
                <a:solidFill>
                  <a:srgbClr val="FFFFFF"/>
                </a:solidFill>
                <a:latin typeface="Nimbus Sans"/>
                <a:ea typeface="Nimbus Sans"/>
                <a:cs typeface="Nimbus Sans"/>
              </a:defRPr>
            </a:pPr>
            <a:r>
              <a:rPr sz="1650" b="1" i="0">
                <a:solidFill>
                  <a:srgbClr val="FFFFFF"/>
                </a:solidFill>
                <a:latin typeface="Nimbus Sans"/>
                <a:ea typeface="Nimbus Sans"/>
                <a:cs typeface="Nimbus Sans"/>
              </a:rPr>
              <a:t>5</a:t>
            </a:r>
          </a:p>
        </p:txBody>
      </p:sp>
      <p:sp>
        <p:nvSpPr>
          <p:cNvPr id="29" name="">
            <a:extLst xmlns:a="http://schemas.openxmlformats.org/drawingml/2006/main">
              <a:ext uri="{FF2B5EF4-FFF2-40B4-BE49-F238E27FC236}">
                <a16:creationId xmlns:a16="http://schemas.microsoft.com/office/drawing/2014/main" id="{380569CC-922A-4ABE-AB92-8E024869954E}"/>
              </a:ext>
            </a:extLst>
          </p:cNvPr>
          <p:cNvSpPr>
            <a:spLocks xmlns:a="http://schemas.openxmlformats.org/drawingml/2006/main" noGrp="1"/>
          </p:cNvSpPr>
          <p:nvPr/>
        </p:nvSpPr>
        <p:spPr>
          <a:xfrm xmlns:a="http://schemas.openxmlformats.org/drawingml/2006/main">
            <a:off x="1352550" y="5162550"/>
            <a:ext cx="1000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i="0">
                <a:solidFill>
                  <a:srgbClr val="102A43"/>
                </a:solidFill>
                <a:latin typeface="Nimbus Sans"/>
                <a:ea typeface="Nimbus Sans"/>
                <a:cs typeface="Nimbus Sans"/>
              </a:defRPr>
            </a:pPr>
            <a:r>
              <a:rPr sz="1500" b="1" i="0">
                <a:solidFill>
                  <a:srgbClr val="102A43"/>
                </a:solidFill>
                <a:latin typeface="Nimbus Sans"/>
                <a:ea typeface="Nimbus Sans"/>
                <a:cs typeface="Nimbus Sans"/>
              </a:rPr>
              <a:t>Monitoring and rollback</a:t>
            </a:r>
          </a:p>
        </p:txBody>
      </p:sp>
      <p:sp>
        <p:nvSpPr>
          <p:cNvPr id="30" name="">
            <a:extLst xmlns:a="http://schemas.openxmlformats.org/drawingml/2006/main">
              <a:ext uri="{FF2B5EF4-FFF2-40B4-BE49-F238E27FC236}">
                <a16:creationId xmlns:a16="http://schemas.microsoft.com/office/drawing/2014/main" id="{C58A28BE-6B15-4927-B324-3A5141B91AB8}"/>
              </a:ext>
            </a:extLst>
          </p:cNvPr>
          <p:cNvSpPr>
            <a:spLocks xmlns:a="http://schemas.openxmlformats.org/drawingml/2006/main" noGrp="1"/>
          </p:cNvSpPr>
          <p:nvPr/>
        </p:nvSpPr>
        <p:spPr>
          <a:xfrm xmlns:a="http://schemas.openxmlformats.org/drawingml/2006/main">
            <a:off x="2476500" y="5162550"/>
            <a:ext cx="628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i="0">
                <a:solidFill>
                  <a:srgbClr val="243B53"/>
                </a:solidFill>
                <a:latin typeface="Nimbus Sans"/>
                <a:ea typeface="Nimbus Sans"/>
                <a:cs typeface="Nimbus Sans"/>
              </a:defRPr>
            </a:pPr>
            <a:r>
              <a:rPr sz="1350" b="0" i="0">
                <a:solidFill>
                  <a:srgbClr val="243B53"/>
                </a:solidFill>
                <a:latin typeface="Nimbus Sans"/>
                <a:ea typeface="Nimbus Sans"/>
                <a:cs typeface="Nimbus Sans"/>
              </a:rPr>
              <a:t>Thresholds for drift, harm, downtime, and model withdrawal</a:t>
            </a:r>
          </a:p>
        </p:txBody>
      </p:sp>
      <p:sp>
        <p:nvSpPr>
          <p:cNvPr id="31" name="">
            <a:extLst xmlns:a="http://schemas.openxmlformats.org/drawingml/2006/main">
              <a:ext uri="{FF2B5EF4-FFF2-40B4-BE49-F238E27FC236}">
                <a16:creationId xmlns:a16="http://schemas.microsoft.com/office/drawing/2014/main" id="{927E8E57-F455-4C20-936A-5E422CD42579}"/>
              </a:ext>
            </a:extLst>
          </p:cNvPr>
          <p:cNvSpPr>
            <a:spLocks xmlns:a="http://schemas.openxmlformats.org/drawingml/2006/main" noGrp="1"/>
          </p:cNvSpPr>
          <p:nvPr/>
        </p:nvSpPr>
        <p:spPr>
          <a:xfrm xmlns:a="http://schemas.openxmlformats.org/drawingml/2006/main">
            <a:off x="9239250" y="516255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i="0">
                <a:solidFill>
                  <a:srgbClr val="765A9E"/>
                </a:solidFill>
                <a:latin typeface="Nimbus Sans"/>
                <a:ea typeface="Nimbus Sans"/>
                <a:cs typeface="Nimbus Sans"/>
              </a:defRPr>
            </a:pPr>
            <a:r>
              <a:rPr sz="1350" b="1" i="0">
                <a:solidFill>
                  <a:srgbClr val="765A9E"/>
                </a:solidFill>
                <a:latin typeface="Nimbus Sans"/>
                <a:ea typeface="Nimbus Sans"/>
                <a:cs typeface="Nimbus Sans"/>
              </a:rPr>
              <a:t>Model owner</a:t>
            </a:r>
          </a:p>
        </p:txBody>
      </p:sp>
      <p:sp>
        <p:nvSpPr>
          <p:cNvPr id="32" name="">
            <a:extLst xmlns:a="http://schemas.openxmlformats.org/drawingml/2006/main">
              <a:ext uri="{FF2B5EF4-FFF2-40B4-BE49-F238E27FC236}">
                <a16:creationId xmlns:a16="http://schemas.microsoft.com/office/drawing/2014/main" id="{B91A7371-26CF-4765-BD71-4031005ED493}"/>
              </a:ext>
            </a:extLst>
          </p:cNvPr>
          <p:cNvSpPr>
            <a:spLocks xmlns:a="http://schemas.openxmlformats.org/drawingml/2006/main" noGrp="1"/>
          </p:cNvSpPr>
          <p:nvPr/>
        </p:nvSpPr>
        <p:spPr>
          <a:xfrm xmlns:a="http://schemas.openxmlformats.org/drawingml/2006/main">
            <a:off x="552450" y="6229350"/>
            <a:ext cx="10668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i="1">
                <a:solidFill>
                  <a:srgbClr val="627D98"/>
                </a:solidFill>
                <a:latin typeface="Nimbus Sans"/>
                <a:ea typeface="Nimbus Sans"/>
                <a:cs typeface="Nimbus Sans"/>
              </a:defRPr>
            </a:pPr>
            <a:r>
              <a:rPr sz="975" b="0" i="1">
                <a:solidFill>
                  <a:srgbClr val="627D98"/>
                </a:solidFill>
                <a:latin typeface="Nimbus Sans"/>
                <a:ea typeface="Nimbus Sans"/>
                <a:cs typeface="Nimbus Sans"/>
              </a:rPr>
              <a:t>Governance position from the Step 5 ethical risk register</a:t>
            </a:r>
          </a:p>
        </p:txBody>
      </p:sp>
      <p:sp>
        <p:nvSpPr>
          <p:cNvPr id="33" name="">
            <a:extLst xmlns:a="http://schemas.openxmlformats.org/drawingml/2006/main">
              <a:ext uri="{FF2B5EF4-FFF2-40B4-BE49-F238E27FC236}">
                <a16:creationId xmlns:a16="http://schemas.microsoft.com/office/drawing/2014/main" id="{57C52E3C-54AF-4639-B7F9-A09E2B881565}"/>
              </a:ext>
            </a:extLst>
          </p:cNvPr>
          <p:cNvSpPr>
            <a:spLocks xmlns:a="http://schemas.openxmlformats.org/drawingml/2006/main" noGrp="1"/>
          </p:cNvSpPr>
          <p:nvPr/>
        </p:nvSpPr>
        <p:spPr>
          <a:xfrm xmlns:a="http://schemas.openxmlformats.org/drawingml/2006/main">
            <a:off x="514350" y="6496050"/>
            <a:ext cx="111633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34" name="">
            <a:extLst xmlns:a="http://schemas.openxmlformats.org/drawingml/2006/main">
              <a:ext uri="{FF2B5EF4-FFF2-40B4-BE49-F238E27FC236}">
                <a16:creationId xmlns:a16="http://schemas.microsoft.com/office/drawing/2014/main" id="{2EE26CBB-D9F4-4CBB-94AA-5B5272F5460B}"/>
              </a:ext>
            </a:extLst>
          </p:cNvPr>
          <p:cNvSpPr>
            <a:spLocks xmlns:a="http://schemas.openxmlformats.org/drawingml/2006/main" noGrp="1"/>
          </p:cNvSpPr>
          <p:nvPr/>
        </p:nvSpPr>
        <p:spPr>
          <a:xfrm xmlns:a="http://schemas.openxmlformats.org/drawingml/2006/main">
            <a:off x="514350" y="6562725"/>
            <a:ext cx="11163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i="0">
                <a:solidFill>
                  <a:srgbClr val="627D98"/>
                </a:solidFill>
                <a:latin typeface="Nimbus Sans"/>
                <a:ea typeface="Nimbus Sans"/>
                <a:cs typeface="Nimbus Sans"/>
              </a:defRPr>
            </a:pPr>
            <a:r>
              <a:rPr sz="975" b="0" i="0">
                <a:solidFill>
                  <a:srgbClr val="627D98"/>
                </a:solidFill>
                <a:latin typeface="Nimbus Sans"/>
                <a:ea typeface="Nimbus Sans"/>
                <a:cs typeface="Nimbus Sans"/>
              </a:rPr>
              <a:t>DIAL-ALERT executive presentation  /  08</a:t>
            </a:r>
          </a:p>
        </p:txBody>
      </p:sp>
    </p:spTree>
    <p:extLst>
      <p:ext uri="{BB962C8B-B14F-4D97-AF65-F5344CB8AC3E}">
        <p14:creationId xmlns:p14="http://schemas.microsoft.com/office/powerpoint/2010/main" val="665553368"/>
      </p:ext>
    </p:extLst>
  </p:cSld>
</p:sld>
</file>

<file path=ppt/slides/slide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2573216-D3D0-4BFD-80FC-11883B6EE025}"/>
              </a:ext>
            </a:extLst>
          </p:cNvPr>
          <p:cNvSpPr>
            <a:spLocks xmlns:a="http://schemas.openxmlformats.org/drawingml/2006/main" noGrp="1"/>
          </p:cNvSpPr>
          <p:nvPr/>
        </p:nvSpPr>
        <p:spPr>
          <a:xfrm xmlns:a="http://schemas.openxmlformats.org/drawingml/2006/main">
            <a:off x="514350" y="400050"/>
            <a:ext cx="76200" cy="781050"/>
          </a:xfrm>
          <a:prstGeom xmlns:a="http://schemas.openxmlformats.org/drawingml/2006/main" prst="rect">
            <a:avLst/>
          </a:prstGeom>
          <a:solidFill xmlns:a="http://schemas.openxmlformats.org/drawingml/2006/main">
            <a:srgbClr val="0E7C7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502C982-D549-48CE-BCAC-FFA3940B8883}"/>
              </a:ext>
            </a:extLst>
          </p:cNvPr>
          <p:cNvSpPr>
            <a:spLocks xmlns:a="http://schemas.openxmlformats.org/drawingml/2006/main" noGrp="1"/>
          </p:cNvSpPr>
          <p:nvPr/>
        </p:nvSpPr>
        <p:spPr>
          <a:xfrm xmlns:a="http://schemas.openxmlformats.org/drawingml/2006/main">
            <a:off x="781050" y="333375"/>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225" b="1" i="0">
                <a:solidFill>
                  <a:srgbClr val="102A43"/>
                </a:solidFill>
                <a:latin typeface="Nimbus Sans"/>
                <a:ea typeface="Nimbus Sans"/>
                <a:cs typeface="Nimbus Sans"/>
              </a:defRPr>
            </a:pPr>
            <a:r>
              <a:rPr sz="3225" b="1" i="0">
                <a:solidFill>
                  <a:srgbClr val="102A43"/>
                </a:solidFill>
                <a:latin typeface="Nimbus Sans"/>
                <a:ea typeface="Nimbus Sans"/>
                <a:cs typeface="Nimbus Sans"/>
              </a:rPr>
              <a:t>Proposed pilot phases and feasibility targets</a:t>
            </a:r>
          </a:p>
        </p:txBody>
      </p:sp>
      <p:sp>
        <p:nvSpPr>
          <p:cNvPr id="3" name="">
            <a:extLst xmlns:a="http://schemas.openxmlformats.org/drawingml/2006/main">
              <a:ext uri="{FF2B5EF4-FFF2-40B4-BE49-F238E27FC236}">
                <a16:creationId xmlns:a16="http://schemas.microsoft.com/office/drawing/2014/main" id="{93205C26-3B7B-4973-8E8C-EAC4D2E587A6}"/>
              </a:ext>
            </a:extLst>
          </p:cNvPr>
          <p:cNvSpPr>
            <a:spLocks xmlns:a="http://schemas.openxmlformats.org/drawingml/2006/main" noGrp="1"/>
          </p:cNvSpPr>
          <p:nvPr/>
        </p:nvSpPr>
        <p:spPr>
          <a:xfrm xmlns:a="http://schemas.openxmlformats.org/drawingml/2006/main">
            <a:off x="800100" y="866775"/>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627D98"/>
                </a:solidFill>
                <a:latin typeface="Nimbus Sans"/>
                <a:ea typeface="Nimbus Sans"/>
                <a:cs typeface="Nimbus Sans"/>
              </a:defRPr>
            </a:pPr>
            <a:r>
              <a:rPr sz="1425" b="0" i="0">
                <a:solidFill>
                  <a:srgbClr val="627D98"/>
                </a:solidFill>
                <a:latin typeface="Nimbus Sans"/>
                <a:ea typeface="Nimbus Sans"/>
                <a:cs typeface="Nimbus Sans"/>
              </a:rPr>
              <a:t>Progression depends on evidence at the end of each phase</a:t>
            </a:r>
          </a:p>
        </p:txBody>
      </p:sp>
      <p:sp>
        <p:nvSpPr>
          <p:cNvPr id="4" name="">
            <a:extLst xmlns:a="http://schemas.openxmlformats.org/drawingml/2006/main">
              <a:ext uri="{FF2B5EF4-FFF2-40B4-BE49-F238E27FC236}">
                <a16:creationId xmlns:a16="http://schemas.microsoft.com/office/drawing/2014/main" id="{261DDEDE-3D1C-4772-882C-B3A6D883E04D}"/>
              </a:ext>
            </a:extLst>
          </p:cNvPr>
          <p:cNvSpPr>
            <a:spLocks xmlns:a="http://schemas.openxmlformats.org/drawingml/2006/main" noGrp="1"/>
          </p:cNvSpPr>
          <p:nvPr/>
        </p:nvSpPr>
        <p:spPr>
          <a:xfrm xmlns:a="http://schemas.openxmlformats.org/drawingml/2006/main">
            <a:off x="762000" y="1571625"/>
            <a:ext cx="1666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i="0">
                <a:solidFill>
                  <a:srgbClr val="0E7C7B"/>
                </a:solidFill>
                <a:latin typeface="Nimbus Sans"/>
                <a:ea typeface="Nimbus Sans"/>
                <a:cs typeface="Nimbus Sans"/>
              </a:defRPr>
            </a:pPr>
            <a:r>
              <a:rPr sz="1800" b="1" i="0">
                <a:solidFill>
                  <a:srgbClr val="0E7C7B"/>
                </a:solidFill>
                <a:latin typeface="Nimbus Sans"/>
                <a:ea typeface="Nimbus Sans"/>
                <a:cs typeface="Nimbus Sans"/>
              </a:rPr>
              <a:t>Weeks 0–4</a:t>
            </a:r>
          </a:p>
        </p:txBody>
      </p:sp>
      <p:sp>
        <p:nvSpPr>
          <p:cNvPr id="5" name="">
            <a:extLst xmlns:a="http://schemas.openxmlformats.org/drawingml/2006/main">
              <a:ext uri="{FF2B5EF4-FFF2-40B4-BE49-F238E27FC236}">
                <a16:creationId xmlns:a16="http://schemas.microsoft.com/office/drawing/2014/main" id="{65EAEA91-2D03-4E40-82AB-06EEE0E0B358}"/>
              </a:ext>
            </a:extLst>
          </p:cNvPr>
          <p:cNvSpPr>
            <a:spLocks xmlns:a="http://schemas.openxmlformats.org/drawingml/2006/main" noGrp="1"/>
          </p:cNvSpPr>
          <p:nvPr/>
        </p:nvSpPr>
        <p:spPr>
          <a:xfrm xmlns:a="http://schemas.openxmlformats.org/drawingml/2006/main">
            <a:off x="2619375" y="1571625"/>
            <a:ext cx="8477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i="0">
                <a:solidFill>
                  <a:srgbClr val="102A43"/>
                </a:solidFill>
                <a:latin typeface="Nimbus Sans"/>
                <a:ea typeface="Nimbus Sans"/>
                <a:cs typeface="Nimbus Sans"/>
              </a:defRPr>
            </a:pPr>
            <a:r>
              <a:rPr sz="1950" b="1" i="0">
                <a:solidFill>
                  <a:srgbClr val="102A43"/>
                </a:solidFill>
                <a:latin typeface="Nimbus Sans"/>
                <a:ea typeface="Nimbus Sans"/>
                <a:cs typeface="Nimbus Sans"/>
              </a:rPr>
              <a:t>Local validation</a:t>
            </a:r>
          </a:p>
        </p:txBody>
      </p:sp>
      <p:sp>
        <p:nvSpPr>
          <p:cNvPr id="6" name="">
            <a:extLst xmlns:a="http://schemas.openxmlformats.org/drawingml/2006/main">
              <a:ext uri="{FF2B5EF4-FFF2-40B4-BE49-F238E27FC236}">
                <a16:creationId xmlns:a16="http://schemas.microsoft.com/office/drawing/2014/main" id="{BE4A2EEE-D41E-4E45-9DDE-F6265DCD3782}"/>
              </a:ext>
            </a:extLst>
          </p:cNvPr>
          <p:cNvSpPr>
            <a:spLocks xmlns:a="http://schemas.openxmlformats.org/drawingml/2006/main" noGrp="1"/>
          </p:cNvSpPr>
          <p:nvPr/>
        </p:nvSpPr>
        <p:spPr>
          <a:xfrm xmlns:a="http://schemas.openxmlformats.org/drawingml/2006/main">
            <a:off x="2619375" y="1981200"/>
            <a:ext cx="847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243B53"/>
                </a:solidFill>
                <a:latin typeface="Nimbus Sans"/>
                <a:ea typeface="Nimbus Sans"/>
                <a:cs typeface="Nimbus Sans"/>
              </a:defRPr>
            </a:pPr>
            <a:r>
              <a:rPr sz="1650" b="0" i="0">
                <a:solidFill>
                  <a:srgbClr val="243B53"/>
                </a:solidFill>
                <a:latin typeface="Nimbus Sans"/>
                <a:ea typeface="Nimbus Sans"/>
                <a:cs typeface="Nimbus Sans"/>
              </a:rPr>
              <a:t>Check features, calibration, subgroup errors and workload</a:t>
            </a:r>
          </a:p>
        </p:txBody>
      </p:sp>
      <p:sp>
        <p:nvSpPr>
          <p:cNvPr id="7" name="">
            <a:extLst xmlns:a="http://schemas.openxmlformats.org/drawingml/2006/main">
              <a:ext uri="{FF2B5EF4-FFF2-40B4-BE49-F238E27FC236}">
                <a16:creationId xmlns:a16="http://schemas.microsoft.com/office/drawing/2014/main" id="{882763CE-6BB0-483C-B8C1-ADE2E47D82BE}"/>
              </a:ext>
            </a:extLst>
          </p:cNvPr>
          <p:cNvSpPr>
            <a:spLocks xmlns:a="http://schemas.openxmlformats.org/drawingml/2006/main" noGrp="1"/>
          </p:cNvSpPr>
          <p:nvPr/>
        </p:nvSpPr>
        <p:spPr>
          <a:xfrm xmlns:a="http://schemas.openxmlformats.org/drawingml/2006/main">
            <a:off x="762000" y="2552700"/>
            <a:ext cx="1666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i="0">
                <a:solidFill>
                  <a:srgbClr val="0E7C7B"/>
                </a:solidFill>
                <a:latin typeface="Nimbus Sans"/>
                <a:ea typeface="Nimbus Sans"/>
                <a:cs typeface="Nimbus Sans"/>
              </a:defRPr>
            </a:pPr>
            <a:r>
              <a:rPr sz="1800" b="1" i="0">
                <a:solidFill>
                  <a:srgbClr val="0E7C7B"/>
                </a:solidFill>
                <a:latin typeface="Nimbus Sans"/>
                <a:ea typeface="Nimbus Sans"/>
                <a:cs typeface="Nimbus Sans"/>
              </a:rPr>
              <a:t>Weeks 5–8</a:t>
            </a:r>
          </a:p>
        </p:txBody>
      </p:sp>
      <p:sp>
        <p:nvSpPr>
          <p:cNvPr id="8" name="">
            <a:extLst xmlns:a="http://schemas.openxmlformats.org/drawingml/2006/main">
              <a:ext uri="{FF2B5EF4-FFF2-40B4-BE49-F238E27FC236}">
                <a16:creationId xmlns:a16="http://schemas.microsoft.com/office/drawing/2014/main" id="{FA649246-8C1C-4E14-B1D5-79651AFDC65B}"/>
              </a:ext>
            </a:extLst>
          </p:cNvPr>
          <p:cNvSpPr>
            <a:spLocks xmlns:a="http://schemas.openxmlformats.org/drawingml/2006/main" noGrp="1"/>
          </p:cNvSpPr>
          <p:nvPr/>
        </p:nvSpPr>
        <p:spPr>
          <a:xfrm xmlns:a="http://schemas.openxmlformats.org/drawingml/2006/main">
            <a:off x="2619375" y="2552700"/>
            <a:ext cx="8477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i="0">
                <a:solidFill>
                  <a:srgbClr val="102A43"/>
                </a:solidFill>
                <a:latin typeface="Nimbus Sans"/>
                <a:ea typeface="Nimbus Sans"/>
                <a:cs typeface="Nimbus Sans"/>
              </a:defRPr>
            </a:pPr>
            <a:r>
              <a:rPr sz="1950" b="1" i="0">
                <a:solidFill>
                  <a:srgbClr val="102A43"/>
                </a:solidFill>
                <a:latin typeface="Nimbus Sans"/>
                <a:ea typeface="Nimbus Sans"/>
                <a:cs typeface="Nimbus Sans"/>
              </a:rPr>
              <a:t>Silent evaluation</a:t>
            </a:r>
          </a:p>
        </p:txBody>
      </p:sp>
      <p:sp>
        <p:nvSpPr>
          <p:cNvPr id="9" name="">
            <a:extLst xmlns:a="http://schemas.openxmlformats.org/drawingml/2006/main">
              <a:ext uri="{FF2B5EF4-FFF2-40B4-BE49-F238E27FC236}">
                <a16:creationId xmlns:a16="http://schemas.microsoft.com/office/drawing/2014/main" id="{C74F6C67-3520-49A7-9CEB-8ED4DCBADF8C}"/>
              </a:ext>
            </a:extLst>
          </p:cNvPr>
          <p:cNvSpPr>
            <a:spLocks xmlns:a="http://schemas.openxmlformats.org/drawingml/2006/main" noGrp="1"/>
          </p:cNvSpPr>
          <p:nvPr/>
        </p:nvSpPr>
        <p:spPr>
          <a:xfrm xmlns:a="http://schemas.openxmlformats.org/drawingml/2006/main">
            <a:off x="2619375" y="2962275"/>
            <a:ext cx="847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243B53"/>
                </a:solidFill>
                <a:latin typeface="Nimbus Sans"/>
                <a:ea typeface="Nimbus Sans"/>
                <a:cs typeface="Nimbus Sans"/>
              </a:defRPr>
            </a:pPr>
            <a:r>
              <a:rPr sz="1650" b="0" i="0">
                <a:solidFill>
                  <a:srgbClr val="243B53"/>
                </a:solidFill>
                <a:latin typeface="Nimbus Sans"/>
                <a:ea typeface="Nimbus Sans"/>
                <a:cs typeface="Nimbus Sans"/>
              </a:rPr>
              <a:t>Score without displaying alerts; time simulated reviews</a:t>
            </a:r>
          </a:p>
        </p:txBody>
      </p:sp>
      <p:sp>
        <p:nvSpPr>
          <p:cNvPr id="10" name="">
            <a:extLst xmlns:a="http://schemas.openxmlformats.org/drawingml/2006/main">
              <a:ext uri="{FF2B5EF4-FFF2-40B4-BE49-F238E27FC236}">
                <a16:creationId xmlns:a16="http://schemas.microsoft.com/office/drawing/2014/main" id="{6AC9FADE-E2A6-485B-AF31-8B3B321103B9}"/>
              </a:ext>
            </a:extLst>
          </p:cNvPr>
          <p:cNvSpPr>
            <a:spLocks xmlns:a="http://schemas.openxmlformats.org/drawingml/2006/main" noGrp="1"/>
          </p:cNvSpPr>
          <p:nvPr/>
        </p:nvSpPr>
        <p:spPr>
          <a:xfrm xmlns:a="http://schemas.openxmlformats.org/drawingml/2006/main">
            <a:off x="762000" y="3533775"/>
            <a:ext cx="1666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i="0">
                <a:solidFill>
                  <a:srgbClr val="0E7C7B"/>
                </a:solidFill>
                <a:latin typeface="Nimbus Sans"/>
                <a:ea typeface="Nimbus Sans"/>
                <a:cs typeface="Nimbus Sans"/>
              </a:defRPr>
            </a:pPr>
            <a:r>
              <a:rPr sz="1800" b="1" i="0">
                <a:solidFill>
                  <a:srgbClr val="0E7C7B"/>
                </a:solidFill>
                <a:latin typeface="Nimbus Sans"/>
                <a:ea typeface="Nimbus Sans"/>
                <a:cs typeface="Nimbus Sans"/>
              </a:rPr>
              <a:t>Weeks 9–12</a:t>
            </a:r>
          </a:p>
        </p:txBody>
      </p:sp>
      <p:sp>
        <p:nvSpPr>
          <p:cNvPr id="11" name="">
            <a:extLst xmlns:a="http://schemas.openxmlformats.org/drawingml/2006/main">
              <a:ext uri="{FF2B5EF4-FFF2-40B4-BE49-F238E27FC236}">
                <a16:creationId xmlns:a16="http://schemas.microsoft.com/office/drawing/2014/main" id="{EC9935E1-53EF-4BB9-918A-09E820CD0DEB}"/>
              </a:ext>
            </a:extLst>
          </p:cNvPr>
          <p:cNvSpPr>
            <a:spLocks xmlns:a="http://schemas.openxmlformats.org/drawingml/2006/main" noGrp="1"/>
          </p:cNvSpPr>
          <p:nvPr/>
        </p:nvSpPr>
        <p:spPr>
          <a:xfrm xmlns:a="http://schemas.openxmlformats.org/drawingml/2006/main">
            <a:off x="2619375" y="3533775"/>
            <a:ext cx="8477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i="0">
                <a:solidFill>
                  <a:srgbClr val="102A43"/>
                </a:solidFill>
                <a:latin typeface="Nimbus Sans"/>
                <a:ea typeface="Nimbus Sans"/>
                <a:cs typeface="Nimbus Sans"/>
              </a:defRPr>
            </a:pPr>
            <a:r>
              <a:rPr sz="1950" b="1" i="0">
                <a:solidFill>
                  <a:srgbClr val="102A43"/>
                </a:solidFill>
                <a:latin typeface="Nimbus Sans"/>
                <a:ea typeface="Nimbus Sans"/>
                <a:cs typeface="Nimbus Sans"/>
              </a:rPr>
              <a:t>Conditional supervised study</a:t>
            </a:r>
          </a:p>
        </p:txBody>
      </p:sp>
      <p:sp>
        <p:nvSpPr>
          <p:cNvPr id="12" name="">
            <a:extLst xmlns:a="http://schemas.openxmlformats.org/drawingml/2006/main">
              <a:ext uri="{FF2B5EF4-FFF2-40B4-BE49-F238E27FC236}">
                <a16:creationId xmlns:a16="http://schemas.microsoft.com/office/drawing/2014/main" id="{8EE8EA37-B68E-4A2B-8301-67B2C20CCDF7}"/>
              </a:ext>
            </a:extLst>
          </p:cNvPr>
          <p:cNvSpPr>
            <a:spLocks xmlns:a="http://schemas.openxmlformats.org/drawingml/2006/main" noGrp="1"/>
          </p:cNvSpPr>
          <p:nvPr/>
        </p:nvSpPr>
        <p:spPr>
          <a:xfrm xmlns:a="http://schemas.openxmlformats.org/drawingml/2006/main">
            <a:off x="2619375" y="3943350"/>
            <a:ext cx="847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243B53"/>
                </a:solidFill>
                <a:latin typeface="Nimbus Sans"/>
                <a:ea typeface="Nimbus Sans"/>
                <a:cs typeface="Nimbus Sans"/>
              </a:defRPr>
            </a:pPr>
            <a:r>
              <a:rPr sz="1650" b="0" i="0">
                <a:solidFill>
                  <a:srgbClr val="243B53"/>
                </a:solidFill>
                <a:latin typeface="Nimbus Sans"/>
                <a:ea typeface="Nimbus Sans"/>
                <a:cs typeface="Nimbus Sans"/>
              </a:rPr>
              <a:t>Proceed only after agreed safety and governance gates</a:t>
            </a:r>
          </a:p>
        </p:txBody>
      </p:sp>
      <p:sp>
        <p:nvSpPr>
          <p:cNvPr id="13" name="">
            <a:extLst xmlns:a="http://schemas.openxmlformats.org/drawingml/2006/main">
              <a:ext uri="{FF2B5EF4-FFF2-40B4-BE49-F238E27FC236}">
                <a16:creationId xmlns:a16="http://schemas.microsoft.com/office/drawing/2014/main" id="{3E440BB8-18E6-46B2-8E8C-56D7D11536F4}"/>
              </a:ext>
            </a:extLst>
          </p:cNvPr>
          <p:cNvSpPr>
            <a:spLocks xmlns:a="http://schemas.openxmlformats.org/drawingml/2006/main" noGrp="1"/>
          </p:cNvSpPr>
          <p:nvPr/>
        </p:nvSpPr>
        <p:spPr>
          <a:xfrm xmlns:a="http://schemas.openxmlformats.org/drawingml/2006/main">
            <a:off x="762000" y="471487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i="0">
                <a:solidFill>
                  <a:srgbClr val="0E7C7B"/>
                </a:solidFill>
                <a:latin typeface="Nimbus Sans"/>
                <a:ea typeface="Nimbus Sans"/>
                <a:cs typeface="Nimbus Sans"/>
              </a:defRPr>
            </a:pPr>
            <a:r>
              <a:rPr sz="1875" b="1" i="0">
                <a:solidFill>
                  <a:srgbClr val="0E7C7B"/>
                </a:solidFill>
                <a:latin typeface="Nimbus Sans"/>
                <a:ea typeface="Nimbus Sans"/>
                <a:cs typeface="Nimbus Sans"/>
              </a:rPr>
              <a:t>Draft targets for a future fixed-threshold evaluation</a:t>
            </a:r>
          </a:p>
        </p:txBody>
      </p:sp>
      <p:sp>
        <p:nvSpPr>
          <p:cNvPr id="14" name="">
            <a:extLst xmlns:a="http://schemas.openxmlformats.org/drawingml/2006/main">
              <a:ext uri="{FF2B5EF4-FFF2-40B4-BE49-F238E27FC236}">
                <a16:creationId xmlns:a16="http://schemas.microsoft.com/office/drawing/2014/main" id="{24522E40-0056-4FA0-AC59-8B71EE7E036A}"/>
              </a:ext>
            </a:extLst>
          </p:cNvPr>
          <p:cNvSpPr>
            <a:spLocks xmlns:a="http://schemas.openxmlformats.org/drawingml/2006/main" noGrp="1"/>
          </p:cNvSpPr>
          <p:nvPr/>
        </p:nvSpPr>
        <p:spPr>
          <a:xfrm xmlns:a="http://schemas.openxmlformats.org/drawingml/2006/main">
            <a:off x="762000" y="5162550"/>
            <a:ext cx="1047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i="0">
                <a:solidFill>
                  <a:srgbClr val="102A43"/>
                </a:solidFill>
                <a:latin typeface="Nimbus Sans"/>
                <a:ea typeface="Nimbus Sans"/>
                <a:cs typeface="Nimbus Sans"/>
              </a:defRPr>
            </a:pPr>
            <a:r>
              <a:rPr sz="1725" b="0" i="0">
                <a:solidFill>
                  <a:srgbClr val="102A43"/>
                </a:solidFill>
                <a:latin typeface="Nimbus Sans"/>
                <a:ea typeface="Nimbus Sans"/>
                <a:cs typeface="Nimbus Sans"/>
              </a:rPr>
              <a:t>Sensitivity ≥65%, ≤20 alerts and ≤15 false alerts per 100 sessions</a:t>
            </a:r>
          </a:p>
        </p:txBody>
      </p:sp>
      <p:sp>
        <p:nvSpPr>
          <p:cNvPr id="15" name="">
            <a:extLst xmlns:a="http://schemas.openxmlformats.org/drawingml/2006/main">
              <a:ext uri="{FF2B5EF4-FFF2-40B4-BE49-F238E27FC236}">
                <a16:creationId xmlns:a16="http://schemas.microsoft.com/office/drawing/2014/main" id="{320D0578-5437-4A4E-A880-B0D063943CAF}"/>
              </a:ext>
            </a:extLst>
          </p:cNvPr>
          <p:cNvSpPr>
            <a:spLocks xmlns:a="http://schemas.openxmlformats.org/drawingml/2006/main" noGrp="1"/>
          </p:cNvSpPr>
          <p:nvPr/>
        </p:nvSpPr>
        <p:spPr>
          <a:xfrm xmlns:a="http://schemas.openxmlformats.org/drawingml/2006/main">
            <a:off x="762000" y="5543550"/>
            <a:ext cx="10668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243B53"/>
                </a:solidFill>
                <a:latin typeface="Nimbus Sans"/>
                <a:ea typeface="Nimbus Sans"/>
                <a:cs typeface="Nimbus Sans"/>
              </a:defRPr>
            </a:pPr>
            <a:r>
              <a:rPr sz="1650" b="0" i="0">
                <a:solidFill>
                  <a:srgbClr val="243B53"/>
                </a:solidFill>
                <a:latin typeface="Nimbus Sans"/>
                <a:ea typeface="Nimbus Sans"/>
                <a:cs typeface="Nimbus Sans"/>
              </a:rPr>
              <a:t>Median active review ≤2 min per alert; local approval and uncertainty review required</a:t>
            </a:r>
          </a:p>
        </p:txBody>
      </p:sp>
      <p:sp>
        <p:nvSpPr>
          <p:cNvPr id="16" name="">
            <a:extLst xmlns:a="http://schemas.openxmlformats.org/drawingml/2006/main">
              <a:ext uri="{FF2B5EF4-FFF2-40B4-BE49-F238E27FC236}">
                <a16:creationId xmlns:a16="http://schemas.microsoft.com/office/drawing/2014/main" id="{9E12C2A4-8B85-4714-BD09-48459286201F}"/>
              </a:ext>
            </a:extLst>
          </p:cNvPr>
          <p:cNvSpPr>
            <a:spLocks xmlns:a="http://schemas.openxmlformats.org/drawingml/2006/main" noGrp="1"/>
          </p:cNvSpPr>
          <p:nvPr/>
        </p:nvSpPr>
        <p:spPr>
          <a:xfrm xmlns:a="http://schemas.openxmlformats.org/drawingml/2006/main">
            <a:off x="552450" y="6229350"/>
            <a:ext cx="10668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i="1">
                <a:solidFill>
                  <a:srgbClr val="627D98"/>
                </a:solidFill>
                <a:latin typeface="Nimbus Sans"/>
                <a:ea typeface="Nimbus Sans"/>
                <a:cs typeface="Nimbus Sans"/>
              </a:defRPr>
            </a:pPr>
            <a:r>
              <a:rPr sz="975" b="0" i="1">
                <a:solidFill>
                  <a:srgbClr val="627D98"/>
                </a:solidFill>
                <a:latin typeface="Nimbus Sans"/>
                <a:ea typeface="Nimbus Sans"/>
                <a:cs typeface="Nimbus Sans"/>
              </a:rPr>
              <a:t>Post-study proposals, not achieved results or approved standards; docs/evaluation_protocol.md</a:t>
            </a:r>
          </a:p>
        </p:txBody>
      </p:sp>
      <p:sp>
        <p:nvSpPr>
          <p:cNvPr id="17" name="">
            <a:extLst xmlns:a="http://schemas.openxmlformats.org/drawingml/2006/main">
              <a:ext uri="{FF2B5EF4-FFF2-40B4-BE49-F238E27FC236}">
                <a16:creationId xmlns:a16="http://schemas.microsoft.com/office/drawing/2014/main" id="{E7855972-2ECA-4330-A2E4-336A1F7897CD}"/>
              </a:ext>
            </a:extLst>
          </p:cNvPr>
          <p:cNvSpPr>
            <a:spLocks xmlns:a="http://schemas.openxmlformats.org/drawingml/2006/main" noGrp="1"/>
          </p:cNvSpPr>
          <p:nvPr/>
        </p:nvSpPr>
        <p:spPr>
          <a:xfrm xmlns:a="http://schemas.openxmlformats.org/drawingml/2006/main">
            <a:off x="514350" y="6496050"/>
            <a:ext cx="11163300" cy="0"/>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18" name="">
            <a:extLst xmlns:a="http://schemas.openxmlformats.org/drawingml/2006/main">
              <a:ext uri="{FF2B5EF4-FFF2-40B4-BE49-F238E27FC236}">
                <a16:creationId xmlns:a16="http://schemas.microsoft.com/office/drawing/2014/main" id="{DF9CF2BF-FEF4-49CF-BEF8-CD2ACBE3A95C}"/>
              </a:ext>
            </a:extLst>
          </p:cNvPr>
          <p:cNvSpPr>
            <a:spLocks xmlns:a="http://schemas.openxmlformats.org/drawingml/2006/main" noGrp="1"/>
          </p:cNvSpPr>
          <p:nvPr/>
        </p:nvSpPr>
        <p:spPr>
          <a:xfrm xmlns:a="http://schemas.openxmlformats.org/drawingml/2006/main">
            <a:off x="514350" y="6562725"/>
            <a:ext cx="11163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i="0">
                <a:solidFill>
                  <a:srgbClr val="627D98"/>
                </a:solidFill>
                <a:latin typeface="Nimbus Sans"/>
                <a:ea typeface="Nimbus Sans"/>
                <a:cs typeface="Nimbus Sans"/>
              </a:defRPr>
            </a:pPr>
            <a:r>
              <a:rPr sz="975" b="0" i="0">
                <a:solidFill>
                  <a:srgbClr val="627D98"/>
                </a:solidFill>
                <a:latin typeface="Nimbus Sans"/>
                <a:ea typeface="Nimbus Sans"/>
                <a:cs typeface="Nimbus Sans"/>
              </a:rPr>
              <a:t>DIAL-ALERT executive presentation  /  09</a:t>
            </a:r>
          </a:p>
        </p:txBody>
      </p:sp>
    </p:spTree>
    <p:extLst>
      <p:ext uri="{BB962C8B-B14F-4D97-AF65-F5344CB8AC3E}">
        <p14:creationId xmlns:p14="http://schemas.microsoft.com/office/powerpoint/2010/main" val="1046665764"/>
      </p:ext>
    </p:extLst>
  </p:cSld>
</p:sld>
</file>

<file path=ppt/slides/slide10.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787598DA-146C-41E8-B3FE-089306A07940}"/>
              </a:ext>
            </a:extLst>
          </p:cNvPr>
          <p:cNvSpPr>
            <a:spLocks xmlns:a="http://schemas.openxmlformats.org/drawingml/2006/main" noGrp="1"/>
          </p:cNvSpPr>
          <p:nvPr/>
        </p:nvSpPr>
        <p:spPr>
          <a:xfrm xmlns:a="http://schemas.openxmlformats.org/drawingml/2006/main">
            <a:off x="514350" y="400050"/>
            <a:ext cx="76200" cy="781050"/>
          </a:xfrm>
          <a:prstGeom xmlns:a="http://schemas.openxmlformats.org/drawingml/2006/main" prst="rect">
            <a:avLst/>
          </a:prstGeom>
          <a:solidFill xmlns:a="http://schemas.openxmlformats.org/drawingml/2006/main">
            <a:srgbClr val="E9C46A"/>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89E779F-9E65-48BB-9A27-4DDD93B2E581}"/>
              </a:ext>
            </a:extLst>
          </p:cNvPr>
          <p:cNvSpPr>
            <a:spLocks xmlns:a="http://schemas.openxmlformats.org/drawingml/2006/main" noGrp="1"/>
          </p:cNvSpPr>
          <p:nvPr/>
        </p:nvSpPr>
        <p:spPr>
          <a:xfrm xmlns:a="http://schemas.openxmlformats.org/drawingml/2006/main">
            <a:off x="781050" y="333375"/>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225" b="1" i="0">
                <a:solidFill>
                  <a:srgbClr val="FFFFFF"/>
                </a:solidFill>
                <a:latin typeface="Nimbus Sans"/>
                <a:ea typeface="Nimbus Sans"/>
                <a:cs typeface="Nimbus Sans"/>
              </a:defRPr>
            </a:pPr>
            <a:r>
              <a:rPr sz="3225" b="1" i="0">
                <a:solidFill>
                  <a:srgbClr val="FFFFFF"/>
                </a:solidFill>
                <a:latin typeface="Nimbus Sans"/>
                <a:ea typeface="Nimbus Sans"/>
                <a:cs typeface="Nimbus Sans"/>
              </a:rPr>
              <a:t>Decision requested: further validation</a:t>
            </a:r>
          </a:p>
        </p:txBody>
      </p:sp>
      <p:sp>
        <p:nvSpPr>
          <p:cNvPr id="3" name="">
            <a:extLst xmlns:a="http://schemas.openxmlformats.org/drawingml/2006/main">
              <a:ext uri="{FF2B5EF4-FFF2-40B4-BE49-F238E27FC236}">
                <a16:creationId xmlns:a16="http://schemas.microsoft.com/office/drawing/2014/main" id="{01D10BA1-27C7-4E2C-B6FA-9AF475E6CFC7}"/>
              </a:ext>
            </a:extLst>
          </p:cNvPr>
          <p:cNvSpPr>
            <a:spLocks xmlns:a="http://schemas.openxmlformats.org/drawingml/2006/main" noGrp="1"/>
          </p:cNvSpPr>
          <p:nvPr/>
        </p:nvSpPr>
        <p:spPr>
          <a:xfrm xmlns:a="http://schemas.openxmlformats.org/drawingml/2006/main">
            <a:off x="800100" y="866775"/>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i="0">
                <a:solidFill>
                  <a:srgbClr val="D9E2EC"/>
                </a:solidFill>
                <a:latin typeface="Nimbus Sans"/>
                <a:ea typeface="Nimbus Sans"/>
                <a:cs typeface="Nimbus Sans"/>
              </a:defRPr>
            </a:pPr>
            <a:r>
              <a:rPr sz="1425" b="0" i="0">
                <a:solidFill>
                  <a:srgbClr val="D9E2EC"/>
                </a:solidFill>
                <a:latin typeface="Nimbus Sans"/>
                <a:ea typeface="Nimbus Sans"/>
                <a:cs typeface="Nimbus Sans"/>
              </a:rPr>
              <a:t>The next investment should reduce uncertainty before introducing live alerts</a:t>
            </a:r>
          </a:p>
        </p:txBody>
      </p:sp>
      <p:sp>
        <p:nvSpPr>
          <p:cNvPr id="4" name="">
            <a:extLst xmlns:a="http://schemas.openxmlformats.org/drawingml/2006/main">
              <a:ext uri="{FF2B5EF4-FFF2-40B4-BE49-F238E27FC236}">
                <a16:creationId xmlns:a16="http://schemas.microsoft.com/office/drawing/2014/main" id="{6B0B09D8-0761-4D92-8F54-F826569A80DF}"/>
              </a:ext>
            </a:extLst>
          </p:cNvPr>
          <p:cNvSpPr>
            <a:spLocks xmlns:a="http://schemas.openxmlformats.org/drawingml/2006/main" noGrp="1"/>
          </p:cNvSpPr>
          <p:nvPr/>
        </p:nvSpPr>
        <p:spPr>
          <a:xfrm xmlns:a="http://schemas.openxmlformats.org/drawingml/2006/main">
            <a:off x="742950" y="1571625"/>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i="0">
                <a:solidFill>
                  <a:srgbClr val="2A9D8F"/>
                </a:solidFill>
                <a:latin typeface="Nimbus Sans"/>
                <a:ea typeface="Nimbus Sans"/>
                <a:cs typeface="Nimbus Sans"/>
              </a:defRPr>
            </a:pPr>
            <a:r>
              <a:rPr sz="2250" b="1" i="0">
                <a:solidFill>
                  <a:srgbClr val="2A9D8F"/>
                </a:solidFill>
                <a:latin typeface="Nimbus Sans"/>
                <a:ea typeface="Nimbus Sans"/>
                <a:cs typeface="Nimbus Sans"/>
              </a:rPr>
              <a:t>Approve</a:t>
            </a:r>
          </a:p>
        </p:txBody>
      </p:sp>
      <p:sp>
        <p:nvSpPr>
          <p:cNvPr id="5" name="">
            <a:extLst xmlns:a="http://schemas.openxmlformats.org/drawingml/2006/main">
              <a:ext uri="{FF2B5EF4-FFF2-40B4-BE49-F238E27FC236}">
                <a16:creationId xmlns:a16="http://schemas.microsoft.com/office/drawing/2014/main" id="{DB8FFEE7-A504-4ECD-888F-1B5309C958AC}"/>
              </a:ext>
            </a:extLst>
          </p:cNvPr>
          <p:cNvSpPr>
            <a:spLocks xmlns:a="http://schemas.openxmlformats.org/drawingml/2006/main" noGrp="1"/>
          </p:cNvSpPr>
          <p:nvPr/>
        </p:nvSpPr>
        <p:spPr>
          <a:xfrm xmlns:a="http://schemas.openxmlformats.org/drawingml/2006/main">
            <a:off x="781050" y="2238375"/>
            <a:ext cx="76200" cy="323850"/>
          </a:xfrm>
          <a:prstGeom xmlns:a="http://schemas.openxmlformats.org/drawingml/2006/main" prst="rect">
            <a:avLst/>
          </a:prstGeom>
          <a:solidFill xmlns:a="http://schemas.openxmlformats.org/drawingml/2006/main">
            <a:srgbClr val="2A9D8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74A50B5-ED2E-4C41-A49F-06C284D5F622}"/>
              </a:ext>
            </a:extLst>
          </p:cNvPr>
          <p:cNvSpPr>
            <a:spLocks xmlns:a="http://schemas.openxmlformats.org/drawingml/2006/main" noGrp="1"/>
          </p:cNvSpPr>
          <p:nvPr/>
        </p:nvSpPr>
        <p:spPr>
          <a:xfrm xmlns:a="http://schemas.openxmlformats.org/drawingml/2006/main">
            <a:off x="1047750" y="2181225"/>
            <a:ext cx="4476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FFFFFF"/>
                </a:solidFill>
                <a:latin typeface="Nimbus Sans"/>
                <a:ea typeface="Nimbus Sans"/>
                <a:cs typeface="Nimbus Sans"/>
              </a:defRPr>
            </a:pPr>
            <a:r>
              <a:rPr sz="1650" b="0" i="0">
                <a:solidFill>
                  <a:srgbClr val="FFFFFF"/>
                </a:solidFill>
                <a:latin typeface="Nimbus Sans"/>
                <a:ea typeface="Nimbus Sans"/>
                <a:cs typeface="Nimbus Sans"/>
              </a:rPr>
              <a:t>A local data and validation partner</a:t>
            </a:r>
          </a:p>
        </p:txBody>
      </p:sp>
      <p:sp>
        <p:nvSpPr>
          <p:cNvPr id="7" name="">
            <a:extLst xmlns:a="http://schemas.openxmlformats.org/drawingml/2006/main">
              <a:ext uri="{FF2B5EF4-FFF2-40B4-BE49-F238E27FC236}">
                <a16:creationId xmlns:a16="http://schemas.microsoft.com/office/drawing/2014/main" id="{E9FEA2F3-0A8E-4A0D-AB63-8F92B270DECA}"/>
              </a:ext>
            </a:extLst>
          </p:cNvPr>
          <p:cNvSpPr>
            <a:spLocks xmlns:a="http://schemas.openxmlformats.org/drawingml/2006/main" noGrp="1"/>
          </p:cNvSpPr>
          <p:nvPr/>
        </p:nvSpPr>
        <p:spPr>
          <a:xfrm xmlns:a="http://schemas.openxmlformats.org/drawingml/2006/main">
            <a:off x="781050" y="2828925"/>
            <a:ext cx="76200" cy="323850"/>
          </a:xfrm>
          <a:prstGeom xmlns:a="http://schemas.openxmlformats.org/drawingml/2006/main" prst="rect">
            <a:avLst/>
          </a:prstGeom>
          <a:solidFill xmlns:a="http://schemas.openxmlformats.org/drawingml/2006/main">
            <a:srgbClr val="2A9D8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0D90F73-83B9-422C-A332-920E7A0BB6B5}"/>
              </a:ext>
            </a:extLst>
          </p:cNvPr>
          <p:cNvSpPr>
            <a:spLocks xmlns:a="http://schemas.openxmlformats.org/drawingml/2006/main" noGrp="1"/>
          </p:cNvSpPr>
          <p:nvPr/>
        </p:nvSpPr>
        <p:spPr>
          <a:xfrm xmlns:a="http://schemas.openxmlformats.org/drawingml/2006/main">
            <a:off x="1047750" y="2771775"/>
            <a:ext cx="4476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FFFFFF"/>
                </a:solidFill>
                <a:latin typeface="Nimbus Sans"/>
                <a:ea typeface="Nimbus Sans"/>
                <a:cs typeface="Nimbus Sans"/>
              </a:defRPr>
            </a:pPr>
            <a:r>
              <a:rPr sz="1650" b="0" i="0">
                <a:solidFill>
                  <a:srgbClr val="FFFFFF"/>
                </a:solidFill>
                <a:latin typeface="Nimbus Sans"/>
                <a:ea typeface="Nimbus Sans"/>
                <a:cs typeface="Nimbus Sans"/>
              </a:rPr>
              <a:t>Clinical, informatics, privacy, and equity owners</a:t>
            </a:r>
          </a:p>
        </p:txBody>
      </p:sp>
      <p:sp>
        <p:nvSpPr>
          <p:cNvPr id="9" name="">
            <a:extLst xmlns:a="http://schemas.openxmlformats.org/drawingml/2006/main">
              <a:ext uri="{FF2B5EF4-FFF2-40B4-BE49-F238E27FC236}">
                <a16:creationId xmlns:a16="http://schemas.microsoft.com/office/drawing/2014/main" id="{16D7CD49-766E-4754-AAB3-EBE0341DCE8E}"/>
              </a:ext>
            </a:extLst>
          </p:cNvPr>
          <p:cNvSpPr>
            <a:spLocks xmlns:a="http://schemas.openxmlformats.org/drawingml/2006/main" noGrp="1"/>
          </p:cNvSpPr>
          <p:nvPr/>
        </p:nvSpPr>
        <p:spPr>
          <a:xfrm xmlns:a="http://schemas.openxmlformats.org/drawingml/2006/main">
            <a:off x="781050" y="3419475"/>
            <a:ext cx="76200" cy="323850"/>
          </a:xfrm>
          <a:prstGeom xmlns:a="http://schemas.openxmlformats.org/drawingml/2006/main" prst="rect">
            <a:avLst/>
          </a:prstGeom>
          <a:solidFill xmlns:a="http://schemas.openxmlformats.org/drawingml/2006/main">
            <a:srgbClr val="2A9D8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851D415-22B3-4BC3-850A-99541307268C}"/>
              </a:ext>
            </a:extLst>
          </p:cNvPr>
          <p:cNvSpPr>
            <a:spLocks xmlns:a="http://schemas.openxmlformats.org/drawingml/2006/main" noGrp="1"/>
          </p:cNvSpPr>
          <p:nvPr/>
        </p:nvSpPr>
        <p:spPr>
          <a:xfrm xmlns:a="http://schemas.openxmlformats.org/drawingml/2006/main">
            <a:off x="1047750" y="3362325"/>
            <a:ext cx="4476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FFFFFF"/>
                </a:solidFill>
                <a:latin typeface="Nimbus Sans"/>
                <a:ea typeface="Nimbus Sans"/>
                <a:cs typeface="Nimbus Sans"/>
              </a:defRPr>
            </a:pPr>
            <a:r>
              <a:rPr sz="1650" b="0" i="0">
                <a:solidFill>
                  <a:srgbClr val="FFFFFF"/>
                </a:solidFill>
                <a:latin typeface="Nimbus Sans"/>
                <a:ea typeface="Nimbus Sans"/>
                <a:cs typeface="Nimbus Sans"/>
              </a:rPr>
              <a:t>A prospective silent mode study</a:t>
            </a:r>
          </a:p>
        </p:txBody>
      </p:sp>
      <p:sp>
        <p:nvSpPr>
          <p:cNvPr id="11" name="">
            <a:extLst xmlns:a="http://schemas.openxmlformats.org/drawingml/2006/main">
              <a:ext uri="{FF2B5EF4-FFF2-40B4-BE49-F238E27FC236}">
                <a16:creationId xmlns:a16="http://schemas.microsoft.com/office/drawing/2014/main" id="{BE7323F4-0544-4262-9B28-96011759C694}"/>
              </a:ext>
            </a:extLst>
          </p:cNvPr>
          <p:cNvSpPr>
            <a:spLocks xmlns:a="http://schemas.openxmlformats.org/drawingml/2006/main" noGrp="1"/>
          </p:cNvSpPr>
          <p:nvPr/>
        </p:nvSpPr>
        <p:spPr>
          <a:xfrm xmlns:a="http://schemas.openxmlformats.org/drawingml/2006/main">
            <a:off x="781050" y="4010025"/>
            <a:ext cx="76200" cy="323850"/>
          </a:xfrm>
          <a:prstGeom xmlns:a="http://schemas.openxmlformats.org/drawingml/2006/main" prst="rect">
            <a:avLst/>
          </a:prstGeom>
          <a:solidFill xmlns:a="http://schemas.openxmlformats.org/drawingml/2006/main">
            <a:srgbClr val="2A9D8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D74C135-20A0-409D-88C6-B47881508205}"/>
              </a:ext>
            </a:extLst>
          </p:cNvPr>
          <p:cNvSpPr>
            <a:spLocks xmlns:a="http://schemas.openxmlformats.org/drawingml/2006/main" noGrp="1"/>
          </p:cNvSpPr>
          <p:nvPr/>
        </p:nvSpPr>
        <p:spPr>
          <a:xfrm xmlns:a="http://schemas.openxmlformats.org/drawingml/2006/main">
            <a:off x="1047750" y="3952875"/>
            <a:ext cx="4476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FFFFFF"/>
                </a:solidFill>
                <a:latin typeface="Nimbus Sans"/>
                <a:ea typeface="Nimbus Sans"/>
                <a:cs typeface="Nimbus Sans"/>
              </a:defRPr>
            </a:pPr>
            <a:r>
              <a:rPr sz="1650" b="0" i="0">
                <a:solidFill>
                  <a:srgbClr val="FFFFFF"/>
                </a:solidFill>
                <a:latin typeface="Nimbus Sans"/>
                <a:ea typeface="Nimbus Sans"/>
                <a:cs typeface="Nimbus Sans"/>
              </a:rPr>
              <a:t>A predefined go or stop review at 90 days</a:t>
            </a:r>
          </a:p>
        </p:txBody>
      </p:sp>
      <p:sp>
        <p:nvSpPr>
          <p:cNvPr id="13" name="">
            <a:extLst xmlns:a="http://schemas.openxmlformats.org/drawingml/2006/main">
              <a:ext uri="{FF2B5EF4-FFF2-40B4-BE49-F238E27FC236}">
                <a16:creationId xmlns:a16="http://schemas.microsoft.com/office/drawing/2014/main" id="{C0E9E804-85EE-4FA3-995E-D2D2633E52F3}"/>
              </a:ext>
            </a:extLst>
          </p:cNvPr>
          <p:cNvSpPr>
            <a:spLocks xmlns:a="http://schemas.openxmlformats.org/drawingml/2006/main" noGrp="1"/>
          </p:cNvSpPr>
          <p:nvPr/>
        </p:nvSpPr>
        <p:spPr>
          <a:xfrm xmlns:a="http://schemas.openxmlformats.org/drawingml/2006/main">
            <a:off x="6038850" y="1581150"/>
            <a:ext cx="0" cy="3238500"/>
          </a:xfrm>
          <a:prstGeom xmlns:a="http://schemas.openxmlformats.org/drawingml/2006/main" prst="line">
            <a:avLst/>
          </a:prstGeom>
          <a:noFill xmlns:a="http://schemas.openxmlformats.org/drawingml/2006/main"/>
          <a:ln xmlns:a="http://schemas.openxmlformats.org/drawingml/2006/main" w="19050">
            <a:solidFill>
              <a:srgbClr val="3A5268"/>
            </a:solidFill>
            <a:prstDash val="solid"/>
          </a:ln>
        </p:spPr>
      </p:sp>
      <p:sp>
        <p:nvSpPr>
          <p:cNvPr id="14" name="">
            <a:extLst xmlns:a="http://schemas.openxmlformats.org/drawingml/2006/main">
              <a:ext uri="{FF2B5EF4-FFF2-40B4-BE49-F238E27FC236}">
                <a16:creationId xmlns:a16="http://schemas.microsoft.com/office/drawing/2014/main" id="{D3293EED-1A66-4A5F-8C80-128C0DE38896}"/>
              </a:ext>
            </a:extLst>
          </p:cNvPr>
          <p:cNvSpPr>
            <a:spLocks xmlns:a="http://schemas.openxmlformats.org/drawingml/2006/main" noGrp="1"/>
          </p:cNvSpPr>
          <p:nvPr/>
        </p:nvSpPr>
        <p:spPr>
          <a:xfrm xmlns:a="http://schemas.openxmlformats.org/drawingml/2006/main">
            <a:off x="6572250" y="1571625"/>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i="0">
                <a:solidFill>
                  <a:srgbClr val="F4A261"/>
                </a:solidFill>
                <a:latin typeface="Nimbus Sans"/>
                <a:ea typeface="Nimbus Sans"/>
                <a:cs typeface="Nimbus Sans"/>
              </a:defRPr>
            </a:pPr>
            <a:r>
              <a:rPr sz="2250" b="1" i="0">
                <a:solidFill>
                  <a:srgbClr val="F4A261"/>
                </a:solidFill>
                <a:latin typeface="Nimbus Sans"/>
                <a:ea typeface="Nimbus Sans"/>
                <a:cs typeface="Nimbus Sans"/>
              </a:rPr>
              <a:t>Stop if</a:t>
            </a:r>
          </a:p>
        </p:txBody>
      </p:sp>
      <p:sp>
        <p:nvSpPr>
          <p:cNvPr id="15" name="">
            <a:extLst xmlns:a="http://schemas.openxmlformats.org/drawingml/2006/main">
              <a:ext uri="{FF2B5EF4-FFF2-40B4-BE49-F238E27FC236}">
                <a16:creationId xmlns:a16="http://schemas.microsoft.com/office/drawing/2014/main" id="{8A4E6919-5B5B-47F0-9499-EFCE22F5473E}"/>
              </a:ext>
            </a:extLst>
          </p:cNvPr>
          <p:cNvSpPr>
            <a:spLocks xmlns:a="http://schemas.openxmlformats.org/drawingml/2006/main" noGrp="1"/>
          </p:cNvSpPr>
          <p:nvPr/>
        </p:nvSpPr>
        <p:spPr>
          <a:xfrm xmlns:a="http://schemas.openxmlformats.org/drawingml/2006/main">
            <a:off x="6610350" y="2238375"/>
            <a:ext cx="76200" cy="3238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74DCCDC-69C0-4E36-A619-80CD27051AA8}"/>
              </a:ext>
            </a:extLst>
          </p:cNvPr>
          <p:cNvSpPr>
            <a:spLocks xmlns:a="http://schemas.openxmlformats.org/drawingml/2006/main" noGrp="1"/>
          </p:cNvSpPr>
          <p:nvPr/>
        </p:nvSpPr>
        <p:spPr>
          <a:xfrm xmlns:a="http://schemas.openxmlformats.org/drawingml/2006/main">
            <a:off x="6877050" y="2181225"/>
            <a:ext cx="4476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FFFFFF"/>
                </a:solidFill>
                <a:latin typeface="Nimbus Sans"/>
                <a:ea typeface="Nimbus Sans"/>
                <a:cs typeface="Nimbus Sans"/>
              </a:defRPr>
            </a:pPr>
            <a:r>
              <a:rPr sz="1650" b="0" i="0">
                <a:solidFill>
                  <a:srgbClr val="FFFFFF"/>
                </a:solidFill>
                <a:latin typeface="Nimbus Sans"/>
                <a:ea typeface="Nimbus Sans"/>
                <a:cs typeface="Nimbus Sans"/>
              </a:rPr>
              <a:t>Performance does not transport locally</a:t>
            </a:r>
          </a:p>
        </p:txBody>
      </p:sp>
      <p:sp>
        <p:nvSpPr>
          <p:cNvPr id="17" name="">
            <a:extLst xmlns:a="http://schemas.openxmlformats.org/drawingml/2006/main">
              <a:ext uri="{FF2B5EF4-FFF2-40B4-BE49-F238E27FC236}">
                <a16:creationId xmlns:a16="http://schemas.microsoft.com/office/drawing/2014/main" id="{7070F01E-B537-4895-8DED-6FA7F540ED0F}"/>
              </a:ext>
            </a:extLst>
          </p:cNvPr>
          <p:cNvSpPr>
            <a:spLocks xmlns:a="http://schemas.openxmlformats.org/drawingml/2006/main" noGrp="1"/>
          </p:cNvSpPr>
          <p:nvPr/>
        </p:nvSpPr>
        <p:spPr>
          <a:xfrm xmlns:a="http://schemas.openxmlformats.org/drawingml/2006/main">
            <a:off x="6610350" y="2828925"/>
            <a:ext cx="76200" cy="3238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587AD21-AEB7-41C4-93BC-2D75B783D126}"/>
              </a:ext>
            </a:extLst>
          </p:cNvPr>
          <p:cNvSpPr>
            <a:spLocks xmlns:a="http://schemas.openxmlformats.org/drawingml/2006/main" noGrp="1"/>
          </p:cNvSpPr>
          <p:nvPr/>
        </p:nvSpPr>
        <p:spPr>
          <a:xfrm xmlns:a="http://schemas.openxmlformats.org/drawingml/2006/main">
            <a:off x="6877050" y="2771775"/>
            <a:ext cx="4476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FFFFFF"/>
                </a:solidFill>
                <a:latin typeface="Nimbus Sans"/>
                <a:ea typeface="Nimbus Sans"/>
                <a:cs typeface="Nimbus Sans"/>
              </a:defRPr>
            </a:pPr>
            <a:r>
              <a:rPr sz="1650" b="0" i="0">
                <a:solidFill>
                  <a:srgbClr val="FFFFFF"/>
                </a:solidFill>
                <a:latin typeface="Nimbus Sans"/>
                <a:ea typeface="Nimbus Sans"/>
                <a:cs typeface="Nimbus Sans"/>
              </a:rPr>
              <a:t>Alert burden exceeds safe staffing capacity</a:t>
            </a:r>
          </a:p>
        </p:txBody>
      </p:sp>
      <p:sp>
        <p:nvSpPr>
          <p:cNvPr id="19" name="">
            <a:extLst xmlns:a="http://schemas.openxmlformats.org/drawingml/2006/main">
              <a:ext uri="{FF2B5EF4-FFF2-40B4-BE49-F238E27FC236}">
                <a16:creationId xmlns:a16="http://schemas.microsoft.com/office/drawing/2014/main" id="{E93C71B1-AB5D-44B5-8235-36CE387894F7}"/>
              </a:ext>
            </a:extLst>
          </p:cNvPr>
          <p:cNvSpPr>
            <a:spLocks xmlns:a="http://schemas.openxmlformats.org/drawingml/2006/main" noGrp="1"/>
          </p:cNvSpPr>
          <p:nvPr/>
        </p:nvSpPr>
        <p:spPr>
          <a:xfrm xmlns:a="http://schemas.openxmlformats.org/drawingml/2006/main">
            <a:off x="6610350" y="3419475"/>
            <a:ext cx="76200" cy="3238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99A619B-5D00-49EE-9A18-5C37ED628A5B}"/>
              </a:ext>
            </a:extLst>
          </p:cNvPr>
          <p:cNvSpPr>
            <a:spLocks xmlns:a="http://schemas.openxmlformats.org/drawingml/2006/main" noGrp="1"/>
          </p:cNvSpPr>
          <p:nvPr/>
        </p:nvSpPr>
        <p:spPr>
          <a:xfrm xmlns:a="http://schemas.openxmlformats.org/drawingml/2006/main">
            <a:off x="6877050" y="3362325"/>
            <a:ext cx="4476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FFFFFF"/>
                </a:solidFill>
                <a:latin typeface="Nimbus Sans"/>
                <a:ea typeface="Nimbus Sans"/>
                <a:cs typeface="Nimbus Sans"/>
              </a:defRPr>
            </a:pPr>
            <a:r>
              <a:rPr sz="1650" b="0" i="0">
                <a:solidFill>
                  <a:srgbClr val="FFFFFF"/>
                </a:solidFill>
                <a:latin typeface="Nimbus Sans"/>
                <a:ea typeface="Nimbus Sans"/>
                <a:cs typeface="Nimbus Sans"/>
              </a:rPr>
              <a:t>Subgroup error or calibration gaps are unacceptable</a:t>
            </a:r>
          </a:p>
        </p:txBody>
      </p:sp>
      <p:sp>
        <p:nvSpPr>
          <p:cNvPr id="21" name="">
            <a:extLst xmlns:a="http://schemas.openxmlformats.org/drawingml/2006/main">
              <a:ext uri="{FF2B5EF4-FFF2-40B4-BE49-F238E27FC236}">
                <a16:creationId xmlns:a16="http://schemas.microsoft.com/office/drawing/2014/main" id="{9F92F5F1-BBA7-4F54-A351-B2865B7D33AF}"/>
              </a:ext>
            </a:extLst>
          </p:cNvPr>
          <p:cNvSpPr>
            <a:spLocks xmlns:a="http://schemas.openxmlformats.org/drawingml/2006/main" noGrp="1"/>
          </p:cNvSpPr>
          <p:nvPr/>
        </p:nvSpPr>
        <p:spPr>
          <a:xfrm xmlns:a="http://schemas.openxmlformats.org/drawingml/2006/main">
            <a:off x="6610350" y="4010025"/>
            <a:ext cx="76200" cy="3238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6BF746C-0B3B-4D9A-8D62-2A1E122C6A47}"/>
              </a:ext>
            </a:extLst>
          </p:cNvPr>
          <p:cNvSpPr>
            <a:spLocks xmlns:a="http://schemas.openxmlformats.org/drawingml/2006/main" noGrp="1"/>
          </p:cNvSpPr>
          <p:nvPr/>
        </p:nvSpPr>
        <p:spPr>
          <a:xfrm xmlns:a="http://schemas.openxmlformats.org/drawingml/2006/main">
            <a:off x="6877050" y="3952875"/>
            <a:ext cx="4476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i="0">
                <a:solidFill>
                  <a:srgbClr val="FFFFFF"/>
                </a:solidFill>
                <a:latin typeface="Nimbus Sans"/>
                <a:ea typeface="Nimbus Sans"/>
                <a:cs typeface="Nimbus Sans"/>
              </a:defRPr>
            </a:pPr>
            <a:r>
              <a:rPr sz="1650" b="0" i="0">
                <a:solidFill>
                  <a:srgbClr val="FFFFFF"/>
                </a:solidFill>
                <a:latin typeface="Nimbus Sans"/>
                <a:ea typeface="Nimbus Sans"/>
                <a:cs typeface="Nimbus Sans"/>
              </a:rPr>
              <a:t>Clinician behavior creates new safety risk</a:t>
            </a:r>
          </a:p>
        </p:txBody>
      </p:sp>
      <p:sp>
        <p:nvSpPr>
          <p:cNvPr id="23" name="">
            <a:extLst xmlns:a="http://schemas.openxmlformats.org/drawingml/2006/main">
              <a:ext uri="{FF2B5EF4-FFF2-40B4-BE49-F238E27FC236}">
                <a16:creationId xmlns:a16="http://schemas.microsoft.com/office/drawing/2014/main" id="{6EBA2182-C16C-484C-8113-A42C9E7B7B6E}"/>
              </a:ext>
            </a:extLst>
          </p:cNvPr>
          <p:cNvSpPr>
            <a:spLocks xmlns:a="http://schemas.openxmlformats.org/drawingml/2006/main" noGrp="1"/>
          </p:cNvSpPr>
          <p:nvPr/>
        </p:nvSpPr>
        <p:spPr>
          <a:xfrm xmlns:a="http://schemas.openxmlformats.org/drawingml/2006/main">
            <a:off x="742950" y="5000625"/>
            <a:ext cx="10572750" cy="0"/>
          </a:xfrm>
          <a:prstGeom xmlns:a="http://schemas.openxmlformats.org/drawingml/2006/main" prst="line">
            <a:avLst/>
          </a:prstGeom>
          <a:noFill xmlns:a="http://schemas.openxmlformats.org/drawingml/2006/main"/>
          <a:ln xmlns:a="http://schemas.openxmlformats.org/drawingml/2006/main" w="19050">
            <a:solidFill>
              <a:srgbClr val="3A5268"/>
            </a:solidFill>
            <a:prstDash val="solid"/>
          </a:ln>
        </p:spPr>
      </p:sp>
      <p:sp>
        <p:nvSpPr>
          <p:cNvPr id="24" name="">
            <a:extLst xmlns:a="http://schemas.openxmlformats.org/drawingml/2006/main">
              <a:ext uri="{FF2B5EF4-FFF2-40B4-BE49-F238E27FC236}">
                <a16:creationId xmlns:a16="http://schemas.microsoft.com/office/drawing/2014/main" id="{328A5EF7-3378-448C-A8C6-CEFDF83A9BEB}"/>
              </a:ext>
            </a:extLst>
          </p:cNvPr>
          <p:cNvSpPr>
            <a:spLocks xmlns:a="http://schemas.openxmlformats.org/drawingml/2006/main" noGrp="1"/>
          </p:cNvSpPr>
          <p:nvPr/>
        </p:nvSpPr>
        <p:spPr>
          <a:xfrm xmlns:a="http://schemas.openxmlformats.org/drawingml/2006/main">
            <a:off x="857250" y="5334000"/>
            <a:ext cx="1038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025" b="1" i="0">
                <a:solidFill>
                  <a:srgbClr val="E9C46A"/>
                </a:solidFill>
                <a:latin typeface="Nimbus Sans"/>
                <a:ea typeface="Nimbus Sans"/>
                <a:cs typeface="Nimbus Sans"/>
              </a:defRPr>
            </a:pPr>
            <a:r>
              <a:rPr sz="2025" b="1" i="0">
                <a:solidFill>
                  <a:srgbClr val="E9C46A"/>
                </a:solidFill>
                <a:latin typeface="Nimbus Sans"/>
                <a:ea typeface="Nimbus Sans"/>
                <a:cs typeface="Nimbus Sans"/>
              </a:rPr>
              <a:t>Until these gates are met, DIAL-ALERT remains an academic decision support prototype and must not determine treatment.</a:t>
            </a:r>
          </a:p>
        </p:txBody>
      </p:sp>
      <p:sp>
        <p:nvSpPr>
          <p:cNvPr id="25" name="">
            <a:extLst xmlns:a="http://schemas.openxmlformats.org/drawingml/2006/main">
              <a:ext uri="{FF2B5EF4-FFF2-40B4-BE49-F238E27FC236}">
                <a16:creationId xmlns:a16="http://schemas.microsoft.com/office/drawing/2014/main" id="{6462ABBE-99BE-43EE-BD96-6205A02B3190}"/>
              </a:ext>
            </a:extLst>
          </p:cNvPr>
          <p:cNvSpPr>
            <a:spLocks xmlns:a="http://schemas.openxmlformats.org/drawingml/2006/main" noGrp="1"/>
          </p:cNvSpPr>
          <p:nvPr/>
        </p:nvSpPr>
        <p:spPr>
          <a:xfrm xmlns:a="http://schemas.openxmlformats.org/drawingml/2006/main">
            <a:off x="514350" y="6496050"/>
            <a:ext cx="11163300" cy="0"/>
          </a:xfrm>
          <a:prstGeom xmlns:a="http://schemas.openxmlformats.org/drawingml/2006/main" prst="line">
            <a:avLst/>
          </a:prstGeom>
          <a:noFill xmlns:a="http://schemas.openxmlformats.org/drawingml/2006/main"/>
          <a:ln xmlns:a="http://schemas.openxmlformats.org/drawingml/2006/main" w="9525">
            <a:solidFill>
              <a:srgbClr val="3A5268"/>
            </a:solidFill>
            <a:prstDash val="solid"/>
          </a:ln>
        </p:spPr>
      </p:sp>
      <p:sp>
        <p:nvSpPr>
          <p:cNvPr id="26" name="">
            <a:extLst xmlns:a="http://schemas.openxmlformats.org/drawingml/2006/main">
              <a:ext uri="{FF2B5EF4-FFF2-40B4-BE49-F238E27FC236}">
                <a16:creationId xmlns:a16="http://schemas.microsoft.com/office/drawing/2014/main" id="{47137AF2-A3F6-4903-82A8-130CC2FF2B98}"/>
              </a:ext>
            </a:extLst>
          </p:cNvPr>
          <p:cNvSpPr>
            <a:spLocks xmlns:a="http://schemas.openxmlformats.org/drawingml/2006/main" noGrp="1"/>
          </p:cNvSpPr>
          <p:nvPr/>
        </p:nvSpPr>
        <p:spPr>
          <a:xfrm xmlns:a="http://schemas.openxmlformats.org/drawingml/2006/main">
            <a:off x="514350" y="6562725"/>
            <a:ext cx="11163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i="0">
                <a:solidFill>
                  <a:srgbClr val="B8C8D6"/>
                </a:solidFill>
                <a:latin typeface="Nimbus Sans"/>
                <a:ea typeface="Nimbus Sans"/>
                <a:cs typeface="Nimbus Sans"/>
              </a:defRPr>
            </a:pPr>
            <a:r>
              <a:rPr sz="975" b="0" i="0">
                <a:solidFill>
                  <a:srgbClr val="B8C8D6"/>
                </a:solidFill>
                <a:latin typeface="Nimbus Sans"/>
                <a:ea typeface="Nimbus Sans"/>
                <a:cs typeface="Nimbus Sans"/>
              </a:rPr>
              <a:t>DIAL-ALERT executive presentation  /  10</a:t>
            </a:r>
          </a:p>
        </p:txBody>
      </p:sp>
    </p:spTree>
    <p:extLst>
      <p:ext uri="{BB962C8B-B14F-4D97-AF65-F5344CB8AC3E}">
        <p14:creationId xmlns:p14="http://schemas.microsoft.com/office/powerpoint/2010/main" val="476067083"/>
      </p:ext>
    </p:extLst>
  </p:cSld>
</p:sld>
</file>

<file path=ppt/theme/theme1.xml><?xml version="1.0" encoding="utf-8"?>
<a:theme xmlns:a="http://schemas.openxmlformats.org/drawingml/2006/main" name="DIAL-ALERT">
  <a:themeElements>
    <a:clrScheme name="DIAL-ALER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DIAL-ALER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Microsoft PowerPoint</ap:Application>
  <ap:PresentationFormat>On-screen Show (16:9)</ap:PresentationFormat>
  <ap:Slides>10</ap:Slides>
  <ap:Notes>10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Franklin B. Guillano</dc:creator>
  <cp:lastModifiedBy>Franklin B. Guillano</cp:lastModifiedBy>
  <dc:title>DIAL-ALERT Business Presentation</dc:title>
  <dcterms:created xsi:type="dcterms:W3CDTF">2026-09-17T00:00:00Z</dcterms:created>
  <dcterms:modified xsi:type="dcterms:W3CDTF">2026-09-17T00:00:00Z</dcterms:modified>
</cp:coreProperties>
</file>