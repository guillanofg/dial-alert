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7"/>
  </p:normalViewPr>
  <p:slideViewPr>
    <p:cSldViewPr snapToGrid="0">
      <p:cViewPr varScale="1">
        <p:scale>
          <a:sx n="136" d="100"/>
          <a:sy n="136" d="100"/>
        </p:scale>
        <p:origin x="6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Observed events</c:v>
          </c:tx>
          <c:dPt>
            <c:idx val="0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1-22E5-494E-B661-3F17CC0CB5E1}"/>
              </c:ext>
            </c:extLst>
          </c:dPt>
          <c:dPt>
            <c:idx val="1"/>
            <c:bubble3D val="0"/>
            <c:spPr>
              <a:solidFill>
                <a:srgbClr val="D9E2EC"/>
              </a:solidFill>
            </c:spPr>
            <c:extLst>
              <c:ext xmlns:c16="http://schemas.microsoft.com/office/drawing/2014/chart" uri="{C3380CC4-5D6E-409C-BE32-E72D297353CC}">
                <c16:uniqueId val="{00000003-22E5-494E-B661-3F17CC0CB5E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75" b="1">
                    <a:solidFill>
                      <a:srgbClr val="102A43"/>
                    </a:solidFill>
                    <a:latin typeface="Nimbus Sans"/>
                    <a:ea typeface="Nimbus Sans"/>
                    <a:cs typeface="Nimbus San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'Chart Data'!$A$2:$A$3</c:f>
              <c:strCache>
                <c:ptCount val="2"/>
                <c:pt idx="0">
                  <c:v>Captured in alert group</c:v>
                </c:pt>
                <c:pt idx="1">
                  <c:v>Outside alert group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5.87</c:v>
                </c:pt>
                <c:pt idx="1">
                  <c:v>2.62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E5-494E-B661-3F17CC0CB5E1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  <c:holeSize val="62"/>
      </c:doughnutChart>
      <c:spPr>
        <a:solidFill>
          <a:srgbClr val="F7F5E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00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7F5E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Alert reviews</c:v>
          </c:tx>
          <c:dPt>
            <c:idx val="0"/>
            <c:bubble3D val="0"/>
            <c:spPr>
              <a:solidFill>
                <a:srgbClr val="E76F51"/>
              </a:solidFill>
            </c:spPr>
            <c:extLst>
              <c:ext xmlns:c16="http://schemas.microsoft.com/office/drawing/2014/chart" uri="{C3380CC4-5D6E-409C-BE32-E72D297353CC}">
                <c16:uniqueId val="{00000001-1E3B-C54C-973A-C1BD7D8C05C7}"/>
              </c:ext>
            </c:extLst>
          </c:dPt>
          <c:dPt>
            <c:idx val="1"/>
            <c:bubble3D val="0"/>
            <c:spPr>
              <a:solidFill>
                <a:srgbClr val="E9C46A"/>
              </a:solidFill>
            </c:spPr>
            <c:extLst>
              <c:ext xmlns:c16="http://schemas.microsoft.com/office/drawing/2014/chart" uri="{C3380CC4-5D6E-409C-BE32-E72D297353CC}">
                <c16:uniqueId val="{00000003-1E3B-C54C-973A-C1BD7D8C05C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75" b="1">
                    <a:solidFill>
                      <a:srgbClr val="102A43"/>
                    </a:solidFill>
                    <a:latin typeface="Nimbus Sans"/>
                    <a:ea typeface="Nimbus Sans"/>
                    <a:cs typeface="Nimbus San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'Chart Data'!$A$2:$A$3</c:f>
              <c:strCache>
                <c:ptCount val="2"/>
                <c:pt idx="0">
                  <c:v>Observed event</c:v>
                </c:pt>
                <c:pt idx="1">
                  <c:v>No observed event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5.87</c:v>
                </c:pt>
                <c:pt idx="1">
                  <c:v>14.13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E3B-C54C-973A-C1BD7D8C05C7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  <c:holeSize val="62"/>
      </c:doughnutChart>
      <c:spPr>
        <a:solidFill>
          <a:srgbClr val="F7F5E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00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7F5E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Frame DIAL-ALERT as a decision support research program, not a finished clinical product.</a:t>
            </a:r>
          </a:p>
          <a:p>
            <a:r>
              <a:t>• The executive question is whether the evidence justifies a controlled local validation and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The 69.1% figure describes retrospective ranking at a fixed review capacity.</a:t>
            </a:r>
          </a:p>
          <a:p>
            <a:r>
              <a:t>• It does not mean that 69.1% of events would be prevented.</a:t>
            </a:r>
          </a:p>
          <a:p>
            <a:r>
              <a:t>• The requested decision is funding for evidence generation, not clinical rollout.</a:t>
            </a:r>
          </a:p>
          <a:p>
            <a:endParaRPr/>
          </a:p>
          <a:p>
            <a:r>
              <a:t>Sources</a:t>
            </a:r>
          </a:p>
          <a:p>
            <a:r>
              <a:t>• Project artifact: artifacts/capacity_metrics.csv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DIAL-ALERT would create a review cue, not a diagnosis or treatment order.</a:t>
            </a:r>
          </a:p>
          <a:p>
            <a:r>
              <a:t>• The pilot must measure how clinicians interpret, override, and act on the score.</a:t>
            </a:r>
          </a:p>
          <a:p>
            <a:r>
              <a:t>• Integration should use the minimum necessary data and preserve an auditable human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The dataset is large enough to compare several tabular models and examine operational ranking.</a:t>
            </a:r>
          </a:p>
          <a:p>
            <a:r>
              <a:t>• Generalisation remains uncertain because the data come from a single public retrospective source and only 170 patients form the test partition.</a:t>
            </a:r>
          </a:p>
          <a:p>
            <a:r>
              <a:t>• The outcome is a blood-pressure threshold and does not include symptoms, interventions, or clinician assessments.</a:t>
            </a:r>
          </a:p>
          <a:p>
            <a:endParaRPr/>
          </a:p>
          <a:p>
            <a:r>
              <a:t>Sources</a:t>
            </a:r>
          </a:p>
          <a:p>
            <a:r>
              <a:t>• Lin CJ et al. Scientific Data. 2019. https://doi.org/10.1038/s41597-019-0319-8</a:t>
            </a:r>
          </a:p>
          <a:p>
            <a:r>
              <a:t>• Project report: reports/Franklin_Guillano_DIAL_ALERT_Data_Collection_and_Understanding_Report.pdf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Per 100 sessions, the model places approximately 5.9 of 8.5 observed events in the 20-session review group.</a:t>
            </a:r>
          </a:p>
          <a:p>
            <a:r>
              <a:t>• The same review group contains approximately 14.1 sessions without the event, which creates staff workload and potential alert fatigue.</a:t>
            </a:r>
          </a:p>
          <a:p>
            <a:r>
              <a:t>• A prospective study must determine whether review changes treatment safely and prevents meaningful outcomes.</a:t>
            </a:r>
          </a:p>
          <a:p>
            <a:endParaRPr/>
          </a:p>
          <a:p>
            <a:r>
              <a:t>Sources</a:t>
            </a:r>
          </a:p>
          <a:p>
            <a:r>
              <a:t>• Project artifacts: artifacts/capacity_metrics.csv and artifacts/final_test_metrics.json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No cost savings are claimed because the retrospective data contain neither intervention effects nor reliable cost data.</a:t>
            </a:r>
          </a:p>
          <a:p>
            <a:r>
              <a:t>• The pilot should record alert review time, action, adverse consequences, and downstream events.</a:t>
            </a:r>
          </a:p>
          <a:p>
            <a:r>
              <a:t>• The economic evaluation must compare DIAL-ALERT with current practice, including implementation and governance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Recorded sex shows a disparate-impact ratio of 0.705 and equalized-odds gap of 0.076 in the original model.</a:t>
            </a:r>
          </a:p>
          <a:p>
            <a:r>
              <a:t>• Sex-outcome reweighting improves these summaries but does not eliminate disparity.</a:t>
            </a:r>
          </a:p>
          <a:p>
            <a:r>
              <a:t>• Age-group disparate impact is 0.541. Diabetes selection rates are similar, but sensitivity differs.</a:t>
            </a:r>
          </a:p>
          <a:p>
            <a:r>
              <a:t>• Unavailable attributes must be collected prospectively with consent and governance rather than inferred through proxies.</a:t>
            </a:r>
          </a:p>
          <a:p>
            <a:endParaRPr/>
          </a:p>
          <a:p>
            <a:r>
              <a:t>Sources</a:t>
            </a:r>
          </a:p>
          <a:p>
            <a:r>
              <a:t>• Project artifacts: artifacts/step5_disparities.csv and artifacts/step5_attribute_availability.csv</a:t>
            </a:r>
          </a:p>
          <a:p>
            <a:r>
              <a:t>• WHO. Ethics and governance of AI for health. 2021. https://www.who.int/publications/i/item/9789240029200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A model should not move to live alerts because a retrospective AUC appears strong.</a:t>
            </a:r>
          </a:p>
          <a:p>
            <a:r>
              <a:t>• Each gate has evidence, ownership, and an explicit stop condition.</a:t>
            </a:r>
          </a:p>
          <a:p>
            <a:r>
              <a:t>• The rollback plan should identify who disables the model, how clinicians are notified, and how affected decisions are reviewed.</a:t>
            </a:r>
          </a:p>
          <a:p>
            <a:endParaRPr/>
          </a:p>
          <a:p>
            <a:r>
              <a:t>Sources</a:t>
            </a:r>
          </a:p>
          <a:p>
            <a:r>
              <a:t>• Project artifact: artifacts/step5_ethical_risk_register.csv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The plan deliberately separates technical validation from clinical exposure.</a:t>
            </a:r>
          </a:p>
          <a:p>
            <a:r>
              <a:t>• Silent mode shows whether data arrive on time and whether the score behaves as expected without creating patient risk.</a:t>
            </a:r>
          </a:p>
          <a:p>
            <a:r>
              <a:t>• The supervised pilot begins only if external validity, operational feasibility, privacy, and equity gates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notes</a:t>
            </a:r>
          </a:p>
          <a:p>
            <a:r>
              <a:t>• Ask leaders to approve the evidence-generating pathway and named governance ownership.</a:t>
            </a:r>
          </a:p>
          <a:p>
            <a:r>
              <a:t>• Do not frame the decision as approval of a clinical tool.</a:t>
            </a:r>
          </a:p>
          <a:p>
            <a:r>
              <a:t>• The 90-day review should decide whether a larger prospective effectiveness study is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B88686C-1600-4B64-B5F4-38356EE8FD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98A010-553B-463D-9161-72CC822B64BA}"/>
              </a:ext>
            </a:extLst>
          </p:cNvPr>
          <p:cNvSpPr>
            <a:spLocks noGrp="1"/>
          </p:cNvSpPr>
          <p:nvPr/>
        </p:nvSpPr>
        <p:spPr>
          <a:xfrm>
            <a:off x="781050" y="762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EXECUTIVE 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FCB1C4-43EE-423B-8461-715D3D05E527}"/>
              </a:ext>
            </a:extLst>
          </p:cNvPr>
          <p:cNvSpPr>
            <a:spLocks noGrp="1"/>
          </p:cNvSpPr>
          <p:nvPr/>
        </p:nvSpPr>
        <p:spPr>
          <a:xfrm>
            <a:off x="742950" y="1381125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DIAL-ALERT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A4F1C3-65A9-4D84-8C68-85469D4300F2}"/>
              </a:ext>
            </a:extLst>
          </p:cNvPr>
          <p:cNvSpPr>
            <a:spLocks noGrp="1"/>
          </p:cNvSpPr>
          <p:nvPr/>
        </p:nvSpPr>
        <p:spPr>
          <a:xfrm>
            <a:off x="781050" y="2524125"/>
            <a:ext cx="904875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A governed path to earlier review of</a:t>
            </a:r>
          </a:p>
          <a:p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intradialytic hypotension risk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AFBB7749-D882-446A-91C9-3CDAAEC4D0A7}"/>
              </a:ext>
            </a:extLst>
          </p:cNvPr>
          <p:cNvSpPr>
            <a:spLocks noGrp="1"/>
          </p:cNvSpPr>
          <p:nvPr/>
        </p:nvSpPr>
        <p:spPr>
          <a:xfrm>
            <a:off x="781050" y="4114800"/>
            <a:ext cx="3429000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698262-16B2-43F1-A35D-01733705DF1E}"/>
              </a:ext>
            </a:extLst>
          </p:cNvPr>
          <p:cNvSpPr>
            <a:spLocks noGrp="1"/>
          </p:cNvSpPr>
          <p:nvPr/>
        </p:nvSpPr>
        <p:spPr>
          <a:xfrm>
            <a:off x="781050" y="4429125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Franklin Guillano</a:t>
            </a:r>
          </a:p>
          <a:p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Capstone Project, Step 6</a:t>
            </a:r>
          </a:p>
          <a:p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September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C64708-45A2-484B-8A2A-9D49CCF94DB7}"/>
              </a:ext>
            </a:extLst>
          </p:cNvPr>
          <p:cNvSpPr>
            <a:spLocks noGrp="1"/>
          </p:cNvSpPr>
          <p:nvPr/>
        </p:nvSpPr>
        <p:spPr>
          <a:xfrm>
            <a:off x="6667500" y="5572125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Decision brief: value, risk, and pilot strategy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EBAA3928-BC60-4BA9-B630-192E5E750735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379BCD-5F10-4327-B79B-B0870098B41B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business presentation  /  01</a:t>
            </a:r>
          </a:p>
        </p:txBody>
      </p:sp>
    </p:spTree>
    <p:extLst>
      <p:ext uri="{BB962C8B-B14F-4D97-AF65-F5344CB8AC3E}">
        <p14:creationId xmlns:p14="http://schemas.microsoft.com/office/powerpoint/2010/main" val="454105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B55384-D7CC-48D9-86A0-FFEAFF58415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E9C46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DF6C1E-E5B3-4D8D-8486-B59F0C40EEE4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The model concentrates risk, but deployment evidence is incomplete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0B1EA3-7C46-4224-88F7-FFFEFDCA850A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170 test patients; 20% capacity recall 95% CI 63.2% to 74.4%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07AAB9-6078-4B04-BC66-08633657B95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4095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6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6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69.1%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4A054-8448-4E2A-850C-73003F8DC716}"/>
              </a:ext>
            </a:extLst>
          </p:cNvPr>
          <p:cNvSpPr>
            <a:spLocks noGrp="1"/>
          </p:cNvSpPr>
          <p:nvPr/>
        </p:nvSpPr>
        <p:spPr>
          <a:xfrm>
            <a:off x="723900" y="264795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of observed events appear in the highest-risk 20% of sessions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8B402B97-ADF0-42FC-96CE-0F5B90C6CC76}"/>
              </a:ext>
            </a:extLst>
          </p:cNvPr>
          <p:cNvSpPr>
            <a:spLocks noGrp="1"/>
          </p:cNvSpPr>
          <p:nvPr/>
        </p:nvSpPr>
        <p:spPr>
          <a:xfrm>
            <a:off x="6076950" y="1504950"/>
            <a:ext cx="0" cy="2190750"/>
          </a:xfrm>
          <a:prstGeom prst="line">
            <a:avLst/>
          </a:prstGeom>
          <a:noFill/>
          <a:ln w="19050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B50885-CE86-4153-ADB7-AE69A545F97A}"/>
              </a:ext>
            </a:extLst>
          </p:cNvPr>
          <p:cNvSpPr>
            <a:spLocks noGrp="1"/>
          </p:cNvSpPr>
          <p:nvPr/>
        </p:nvSpPr>
        <p:spPr>
          <a:xfrm>
            <a:off x="6667500" y="152400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29.4%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64453B-E6D1-48A7-B3CF-5A24D3FEB5BA}"/>
              </a:ext>
            </a:extLst>
          </p:cNvPr>
          <p:cNvSpPr>
            <a:spLocks noGrp="1"/>
          </p:cNvSpPr>
          <p:nvPr/>
        </p:nvSpPr>
        <p:spPr>
          <a:xfrm>
            <a:off x="6667500" y="2209800"/>
            <a:ext cx="400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positive predictive value</a:t>
            </a:r>
          </a:p>
          <a:p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at 20% review capacity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6FA3F6-EC70-4F2E-A422-62653AF88B70}"/>
              </a:ext>
            </a:extLst>
          </p:cNvPr>
          <p:cNvSpPr>
            <a:spLocks noGrp="1"/>
          </p:cNvSpPr>
          <p:nvPr/>
        </p:nvSpPr>
        <p:spPr>
          <a:xfrm>
            <a:off x="6667500" y="285750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3.46×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C00B57-7F63-4020-9B38-57CC2D77A3BC}"/>
              </a:ext>
            </a:extLst>
          </p:cNvPr>
          <p:cNvSpPr>
            <a:spLocks noGrp="1"/>
          </p:cNvSpPr>
          <p:nvPr/>
        </p:nvSpPr>
        <p:spPr>
          <a:xfrm>
            <a:off x="6667500" y="3543300"/>
            <a:ext cx="400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lift over event prevalence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B35C0F9-02E2-4F72-A07D-04DA4A4457D4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10477500" cy="0"/>
          </a:xfrm>
          <a:prstGeom prst="line">
            <a:avLst/>
          </a:prstGeom>
          <a:noFill/>
          <a:ln w="19050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13FAB4-5ED2-4102-88B2-DE4AB2193523}"/>
              </a:ext>
            </a:extLst>
          </p:cNvPr>
          <p:cNvSpPr>
            <a:spLocks noGrp="1"/>
          </p:cNvSpPr>
          <p:nvPr/>
        </p:nvSpPr>
        <p:spPr>
          <a:xfrm>
            <a:off x="723900" y="4476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Recommendation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A78993-5827-4C95-B89F-BB2371BE7342}"/>
              </a:ext>
            </a:extLst>
          </p:cNvPr>
          <p:cNvSpPr>
            <a:spLocks noGrp="1"/>
          </p:cNvSpPr>
          <p:nvPr/>
        </p:nvSpPr>
        <p:spPr>
          <a:xfrm>
            <a:off x="723900" y="4953000"/>
            <a:ext cx="10477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Approve external validation and a prospective silent mode study. Do not use DIAL-ALERT to guide treatment until clinical benefit, workflow safety, and subgroup performance are demonstrated locally.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3B5971CB-85B1-4133-87B6-47A3C96EAEFC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AAD916-8DD1-4CF8-A7BD-E1470C640C6A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business presentation  /  02</a:t>
            </a:r>
          </a:p>
        </p:txBody>
      </p:sp>
    </p:spTree>
    <p:extLst>
      <p:ext uri="{BB962C8B-B14F-4D97-AF65-F5344CB8AC3E}">
        <p14:creationId xmlns:p14="http://schemas.microsoft.com/office/powerpoint/2010/main" val="1817989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CA375FCB-9051-4F35-8D89-44CE6FC81A2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9FC3F9-111B-473E-BEE5-FFD10F7626A7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DIAL-ALERT adds a review signal to the existing dialysis workflow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7152F7-9DA0-46B1-9C83-6BBD2710816D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clinician retains responsibility for assessment and action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DB678B2-058F-4AEC-80A0-B04C38457F5B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2428875" cy="2381250"/>
          </a:xfrm>
          <a:prstGeom prst="roundRect">
            <a:avLst>
              <a:gd name="adj" fmla="val 4800"/>
            </a:avLst>
          </a:prstGeom>
          <a:solidFill>
            <a:srgbClr val="DCEF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15A04E-8C26-46B1-A2DA-4A498BE0AC77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457200" cy="4572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C1E302-CAE6-4BF9-9D91-BB13E69E2000}"/>
              </a:ext>
            </a:extLst>
          </p:cNvPr>
          <p:cNvSpPr>
            <a:spLocks noGrp="1"/>
          </p:cNvSpPr>
          <p:nvPr/>
        </p:nvSpPr>
        <p:spPr>
          <a:xfrm>
            <a:off x="742950" y="2667000"/>
            <a:ext cx="2047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Session begins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BBD1C3-F575-4C89-89EB-880EF1D29327}"/>
              </a:ext>
            </a:extLst>
          </p:cNvPr>
          <p:cNvSpPr>
            <a:spLocks noGrp="1"/>
          </p:cNvSpPr>
          <p:nvPr/>
        </p:nvSpPr>
        <p:spPr>
          <a:xfrm>
            <a:off x="742950" y="3181350"/>
            <a:ext cx="2047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Index data available within the first 30 minutes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C33EE1B-AA16-497B-8513-6B2E9DFE6D3C}"/>
              </a:ext>
            </a:extLst>
          </p:cNvPr>
          <p:cNvSpPr>
            <a:spLocks noGrp="1"/>
          </p:cNvSpPr>
          <p:nvPr/>
        </p:nvSpPr>
        <p:spPr>
          <a:xfrm>
            <a:off x="3457575" y="1809750"/>
            <a:ext cx="2428875" cy="2381250"/>
          </a:xfrm>
          <a:prstGeom prst="roundRect">
            <a:avLst>
              <a:gd name="adj" fmla="val 4800"/>
            </a:avLst>
          </a:prstGeom>
          <a:solidFill>
            <a:srgbClr val="D9E8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3FF392-894C-46D1-BEF0-6D3E999AB4D7}"/>
              </a:ext>
            </a:extLst>
          </p:cNvPr>
          <p:cNvSpPr>
            <a:spLocks noGrp="1"/>
          </p:cNvSpPr>
          <p:nvPr/>
        </p:nvSpPr>
        <p:spPr>
          <a:xfrm>
            <a:off x="3648075" y="2000250"/>
            <a:ext cx="457200" cy="4572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9278F0-86EB-43B8-A549-7660675158EF}"/>
              </a:ext>
            </a:extLst>
          </p:cNvPr>
          <p:cNvSpPr>
            <a:spLocks noGrp="1"/>
          </p:cNvSpPr>
          <p:nvPr/>
        </p:nvSpPr>
        <p:spPr>
          <a:xfrm>
            <a:off x="3648075" y="2667000"/>
            <a:ext cx="2047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Risk score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8EC6D4-1134-47F7-B761-0FAE3F2022A8}"/>
              </a:ext>
            </a:extLst>
          </p:cNvPr>
          <p:cNvSpPr>
            <a:spLocks noGrp="1"/>
          </p:cNvSpPr>
          <p:nvPr/>
        </p:nvSpPr>
        <p:spPr>
          <a:xfrm>
            <a:off x="3648075" y="3181350"/>
            <a:ext cx="2047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Model estimates later SBP below 90 mmHg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BA5EA61-97E3-4F25-B77F-D46E859FB9D3}"/>
              </a:ext>
            </a:extLst>
          </p:cNvPr>
          <p:cNvSpPr>
            <a:spLocks noGrp="1"/>
          </p:cNvSpPr>
          <p:nvPr/>
        </p:nvSpPr>
        <p:spPr>
          <a:xfrm>
            <a:off x="6362700" y="1809750"/>
            <a:ext cx="2428875" cy="2381250"/>
          </a:xfrm>
          <a:prstGeom prst="roundRect">
            <a:avLst>
              <a:gd name="adj" fmla="val 4800"/>
            </a:avLst>
          </a:prstGeom>
          <a:solidFill>
            <a:srgbClr val="F7E5C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BE872-C2FF-4A6C-9A37-7AB96116489A}"/>
              </a:ext>
            </a:extLst>
          </p:cNvPr>
          <p:cNvSpPr>
            <a:spLocks noGrp="1"/>
          </p:cNvSpPr>
          <p:nvPr/>
        </p:nvSpPr>
        <p:spPr>
          <a:xfrm>
            <a:off x="6553200" y="2000250"/>
            <a:ext cx="457200" cy="457200"/>
          </a:xfrm>
          <a:prstGeom prst="rect">
            <a:avLst/>
          </a:prstGeom>
          <a:solidFill>
            <a:srgbClr val="E9C46A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69A916-02BE-48B5-BD4C-47A94DB9059D}"/>
              </a:ext>
            </a:extLst>
          </p:cNvPr>
          <p:cNvSpPr>
            <a:spLocks noGrp="1"/>
          </p:cNvSpPr>
          <p:nvPr/>
        </p:nvSpPr>
        <p:spPr>
          <a:xfrm>
            <a:off x="6553200" y="2667000"/>
            <a:ext cx="2047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Clinical review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B3FB3B-4722-404E-BA41-DB04C2C9104B}"/>
              </a:ext>
            </a:extLst>
          </p:cNvPr>
          <p:cNvSpPr>
            <a:spLocks noGrp="1"/>
          </p:cNvSpPr>
          <p:nvPr/>
        </p:nvSpPr>
        <p:spPr>
          <a:xfrm>
            <a:off x="6553200" y="3181350"/>
            <a:ext cx="2047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Staff confirm context, symptoms, and current treatment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E5AAEA7-4FC7-4EE7-947F-FDA51C62095D}"/>
              </a:ext>
            </a:extLst>
          </p:cNvPr>
          <p:cNvSpPr>
            <a:spLocks noGrp="1"/>
          </p:cNvSpPr>
          <p:nvPr/>
        </p:nvSpPr>
        <p:spPr>
          <a:xfrm>
            <a:off x="9267825" y="1809750"/>
            <a:ext cx="2428875" cy="2381250"/>
          </a:xfrm>
          <a:prstGeom prst="roundRect">
            <a:avLst>
              <a:gd name="adj" fmla="val 4800"/>
            </a:avLst>
          </a:prstGeom>
          <a:solidFill>
            <a:srgbClr val="F8DDC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151388-889D-4A56-AF46-699919811309}"/>
              </a:ext>
            </a:extLst>
          </p:cNvPr>
          <p:cNvSpPr>
            <a:spLocks noGrp="1"/>
          </p:cNvSpPr>
          <p:nvPr/>
        </p:nvSpPr>
        <p:spPr>
          <a:xfrm>
            <a:off x="9458325" y="2000250"/>
            <a:ext cx="457200" cy="45720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D8A80C-DA2E-4315-8A9C-4AD06EDCD33C}"/>
              </a:ext>
            </a:extLst>
          </p:cNvPr>
          <p:cNvSpPr>
            <a:spLocks noGrp="1"/>
          </p:cNvSpPr>
          <p:nvPr/>
        </p:nvSpPr>
        <p:spPr>
          <a:xfrm>
            <a:off x="9458325" y="2667000"/>
            <a:ext cx="2047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Usual protocol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75F7FC-DE51-420E-93D0-7124A77D19C8}"/>
              </a:ext>
            </a:extLst>
          </p:cNvPr>
          <p:cNvSpPr>
            <a:spLocks noGrp="1"/>
          </p:cNvSpPr>
          <p:nvPr/>
        </p:nvSpPr>
        <p:spPr>
          <a:xfrm>
            <a:off x="9458325" y="3181350"/>
            <a:ext cx="2047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Any action follows approved clinical policy</a:t>
            </a:r>
          </a:p>
        </p:txBody>
      </p:sp>
      <p:cxnSp>
        <p:nvCxnSpPr>
          <p:cNvPr id="48" name="Straight Arrow Connector 47"/>
          <p:cNvCxnSpPr>
            <a:stCxn id="4" idx="3"/>
            <a:endCxn id="8" idx="1"/>
          </p:cNvCxnSpPr>
          <p:nvPr/>
        </p:nvCxnSpPr>
        <p:spPr>
          <a:xfrm>
            <a:off x="2981325" y="3000375"/>
            <a:ext cx="476250" cy="0"/>
          </a:xfrm>
          <a:prstGeom prst="straightConnector1">
            <a:avLst/>
          </a:prstGeom>
          <a:ln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49" name="Straight Arrow Connector 48"/>
          <p:cNvCxnSpPr>
            <a:stCxn id="8" idx="3"/>
            <a:endCxn id="12" idx="1"/>
          </p:cNvCxnSpPr>
          <p:nvPr/>
        </p:nvCxnSpPr>
        <p:spPr>
          <a:xfrm>
            <a:off x="5886450" y="3000375"/>
            <a:ext cx="476250" cy="0"/>
          </a:xfrm>
          <a:prstGeom prst="straightConnector1">
            <a:avLst/>
          </a:prstGeom>
          <a:ln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50" name="Straight Arrow Connector 49"/>
          <p:cNvCxnSpPr>
            <a:stCxn id="12" idx="3"/>
            <a:endCxn id="16" idx="1"/>
          </p:cNvCxnSpPr>
          <p:nvPr/>
        </p:nvCxnSpPr>
        <p:spPr>
          <a:xfrm>
            <a:off x="8791575" y="3000375"/>
            <a:ext cx="476250" cy="0"/>
          </a:xfrm>
          <a:prstGeom prst="straightConnector1">
            <a:avLst/>
          </a:prstGeom>
          <a:ln w="19050">
            <a:solidFill>
              <a:srgbClr val="627D98"/>
            </a:solidFill>
            <a:prstDash val="solid"/>
            <a:tailEnd type="triangle" w="sm" len="sm"/>
          </a:ln>
        </p:spPr>
      </p:cxn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9A21D499-D5F8-4B6D-9F1C-B5A8B0C89AB1}"/>
              </a:ext>
            </a:extLst>
          </p:cNvPr>
          <p:cNvSpPr>
            <a:spLocks noGrp="1"/>
          </p:cNvSpPr>
          <p:nvPr/>
        </p:nvSpPr>
        <p:spPr>
          <a:xfrm>
            <a:off x="723900" y="4762500"/>
            <a:ext cx="10744200" cy="0"/>
          </a:xfrm>
          <a:prstGeom prst="line">
            <a:avLst/>
          </a:prstGeom>
          <a:noFill/>
          <a:ln w="1905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C5D219-6D0A-4375-B36C-F7D75ACCC944}"/>
              </a:ext>
            </a:extLst>
          </p:cNvPr>
          <p:cNvSpPr>
            <a:spLocks noGrp="1"/>
          </p:cNvSpPr>
          <p:nvPr/>
        </p:nvSpPr>
        <p:spPr>
          <a:xfrm>
            <a:off x="723900" y="50292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Human controls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5DA148-AA93-4BC2-8426-FA089BFC40CB}"/>
              </a:ext>
            </a:extLst>
          </p:cNvPr>
          <p:cNvSpPr>
            <a:spLocks noGrp="1"/>
          </p:cNvSpPr>
          <p:nvPr/>
        </p:nvSpPr>
        <p:spPr>
          <a:xfrm>
            <a:off x="723900" y="5467350"/>
            <a:ext cx="10744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Decision support label, clinician override, reason for override, no autonomous prescription, and an audit trail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901006-F36F-4A24-98DC-37B9716304D1}"/>
              </a:ext>
            </a:extLst>
          </p:cNvPr>
          <p:cNvSpPr>
            <a:spLocks noGrp="1"/>
          </p:cNvSpPr>
          <p:nvPr/>
        </p:nvSpPr>
        <p:spPr>
          <a:xfrm>
            <a:off x="552450" y="6229350"/>
            <a:ext cx="10668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Proposed workflow for evaluation, not an approved clinical process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03638A67-1E25-4CAE-8CE0-80334AE29F7E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67ED3B-26A1-410E-A05F-6140759C72BD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03</a:t>
            </a:r>
          </a:p>
        </p:txBody>
      </p:sp>
    </p:spTree>
    <p:extLst>
      <p:ext uri="{BB962C8B-B14F-4D97-AF65-F5344CB8AC3E}">
        <p14:creationId xmlns:p14="http://schemas.microsoft.com/office/powerpoint/2010/main" val="1025238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6588818-7AF2-4182-899A-757C8D2AB80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158A59-7F20-4ECC-9CD7-727D29F837F3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evidence base is large by session count and narrow by setting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E078D-B95F-411E-8429-528C9BABCE6C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Public HEMOBP data provide strong longitudinal depth from one retrospective source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350" y="1751263"/>
            <a:ext cx="6572250" cy="3707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87EF7ED-2FED-4A02-BD34-6E36ED51626A}"/>
              </a:ext>
            </a:extLst>
          </p:cNvPr>
          <p:cNvSpPr>
            <a:spLocks noGrp="1"/>
          </p:cNvSpPr>
          <p:nvPr/>
        </p:nvSpPr>
        <p:spPr>
          <a:xfrm>
            <a:off x="7677150" y="1428750"/>
            <a:ext cx="314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106,758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7E91C5-2417-438D-8EE7-EF47C3AA880E}"/>
              </a:ext>
            </a:extLst>
          </p:cNvPr>
          <p:cNvSpPr>
            <a:spLocks noGrp="1"/>
          </p:cNvSpPr>
          <p:nvPr/>
        </p:nvSpPr>
        <p:spPr>
          <a:xfrm>
            <a:off x="7677150" y="2114550"/>
            <a:ext cx="314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eligible sessions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8718F-7613-4217-8AED-FFFA7924F0D9}"/>
              </a:ext>
            </a:extLst>
          </p:cNvPr>
          <p:cNvSpPr>
            <a:spLocks noGrp="1"/>
          </p:cNvSpPr>
          <p:nvPr/>
        </p:nvSpPr>
        <p:spPr>
          <a:xfrm>
            <a:off x="7677150" y="2533650"/>
            <a:ext cx="314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830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E25EF6-E2AE-4055-B9A7-5A27D89A87C1}"/>
              </a:ext>
            </a:extLst>
          </p:cNvPr>
          <p:cNvSpPr>
            <a:spLocks noGrp="1"/>
          </p:cNvSpPr>
          <p:nvPr/>
        </p:nvSpPr>
        <p:spPr>
          <a:xfrm>
            <a:off x="7677150" y="3219450"/>
            <a:ext cx="314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unique patients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0E5546-15CA-43C1-8ECF-128E4F9FB277}"/>
              </a:ext>
            </a:extLst>
          </p:cNvPr>
          <p:cNvSpPr>
            <a:spLocks noGrp="1"/>
          </p:cNvSpPr>
          <p:nvPr/>
        </p:nvSpPr>
        <p:spPr>
          <a:xfrm>
            <a:off x="7677150" y="3638550"/>
            <a:ext cx="314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8.49%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11F8DD-32A6-43DE-A7F0-062EEFDD6FA5}"/>
              </a:ext>
            </a:extLst>
          </p:cNvPr>
          <p:cNvSpPr>
            <a:spLocks noGrp="1"/>
          </p:cNvSpPr>
          <p:nvPr/>
        </p:nvSpPr>
        <p:spPr>
          <a:xfrm>
            <a:off x="7677150" y="4324350"/>
            <a:ext cx="314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event prevalence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D4FC805-8A2E-407B-AF6F-86C837034CB0}"/>
              </a:ext>
            </a:extLst>
          </p:cNvPr>
          <p:cNvSpPr>
            <a:spLocks noGrp="1"/>
          </p:cNvSpPr>
          <p:nvPr/>
        </p:nvSpPr>
        <p:spPr>
          <a:xfrm>
            <a:off x="7677150" y="4857750"/>
            <a:ext cx="3143250" cy="0"/>
          </a:xfrm>
          <a:prstGeom prst="line">
            <a:avLst/>
          </a:prstGeom>
          <a:noFill/>
          <a:ln w="1905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07A655-37E8-4E0F-AB92-B796D3DA38DC}"/>
              </a:ext>
            </a:extLst>
          </p:cNvPr>
          <p:cNvSpPr>
            <a:spLocks noGrp="1"/>
          </p:cNvSpPr>
          <p:nvPr/>
        </p:nvSpPr>
        <p:spPr>
          <a:xfrm>
            <a:off x="7677150" y="50482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Test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9677BD-4A08-4404-94E9-79A9626C0AC9}"/>
              </a:ext>
            </a:extLst>
          </p:cNvPr>
          <p:cNvSpPr>
            <a:spLocks noGrp="1"/>
          </p:cNvSpPr>
          <p:nvPr/>
        </p:nvSpPr>
        <p:spPr>
          <a:xfrm>
            <a:off x="7677150" y="5391150"/>
            <a:ext cx="33337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21,354 sessions from 170 patients with zero overlap with development patients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7E0BF3-0DBB-4439-979E-386331D8ECBE}"/>
              </a:ext>
            </a:extLst>
          </p:cNvPr>
          <p:cNvSpPr>
            <a:spLocks noGrp="1"/>
          </p:cNvSpPr>
          <p:nvPr/>
        </p:nvSpPr>
        <p:spPr>
          <a:xfrm>
            <a:off x="552450" y="6229350"/>
            <a:ext cx="10668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HEMOBP v3 and DIAL-ALERT cohort audit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686D70F0-9C68-4981-868E-05F7333595DA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63B7CF-5E5D-4ECC-8DDF-7B5588DB683F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04</a:t>
            </a:r>
          </a:p>
        </p:txBody>
      </p:sp>
    </p:spTree>
    <p:extLst>
      <p:ext uri="{BB962C8B-B14F-4D97-AF65-F5344CB8AC3E}">
        <p14:creationId xmlns:p14="http://schemas.microsoft.com/office/powerpoint/2010/main" val="876567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07752AC-0014-4DB2-9989-2FD1343D596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46DDD8-56A1-4928-8B4B-0D4A34625C4D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At 20% review capacity, 5.9 observed events concentrate in the alert group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FD3178-AB05-4D45-86DA-F72932A55475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Expected counts per 100 sessions in the internal test population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619125" y="1619250"/>
          <a:ext cx="4762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Chart"/>
          <p:cNvGraphicFramePr/>
          <p:nvPr/>
        </p:nvGraphicFramePr>
        <p:xfrm>
          <a:off x="6810375" y="1619250"/>
          <a:ext cx="4762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BEFE700-46B9-4B0E-9E71-05B457564B44}"/>
              </a:ext>
            </a:extLst>
          </p:cNvPr>
          <p:cNvSpPr>
            <a:spLocks noGrp="1"/>
          </p:cNvSpPr>
          <p:nvPr/>
        </p:nvSpPr>
        <p:spPr>
          <a:xfrm>
            <a:off x="1143000" y="504825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8.5 observed events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0F2E77-059D-4E78-827D-797CDF97311A}"/>
              </a:ext>
            </a:extLst>
          </p:cNvPr>
          <p:cNvSpPr>
            <a:spLocks noGrp="1"/>
          </p:cNvSpPr>
          <p:nvPr/>
        </p:nvSpPr>
        <p:spPr>
          <a:xfrm>
            <a:off x="7334250" y="504825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20 alert reviews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2210A7-7A32-4C6E-BCB2-7DECC20170BF}"/>
              </a:ext>
            </a:extLst>
          </p:cNvPr>
          <p:cNvSpPr>
            <a:spLocks noGrp="1"/>
          </p:cNvSpPr>
          <p:nvPr/>
        </p:nvSpPr>
        <p:spPr>
          <a:xfrm>
            <a:off x="1238250" y="5638800"/>
            <a:ext cx="971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57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These counts describe retrospective concentration of events. They do not estimate events prevented by clinical action.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6751A5-90CC-460B-BED4-FF2241E7A3F7}"/>
              </a:ext>
            </a:extLst>
          </p:cNvPr>
          <p:cNvSpPr>
            <a:spLocks noGrp="1"/>
          </p:cNvSpPr>
          <p:nvPr/>
        </p:nvSpPr>
        <p:spPr>
          <a:xfrm>
            <a:off x="552450" y="6229350"/>
            <a:ext cx="10668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Calculated from 8.49% prevalence, 69.13% recall, and 20% review capacity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0DE89FF-66A3-41DE-B801-216FF5CC5700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98C372-2360-4CE8-AF60-1051E1068C1F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05</a:t>
            </a:r>
          </a:p>
        </p:txBody>
      </p:sp>
    </p:spTree>
    <p:extLst>
      <p:ext uri="{BB962C8B-B14F-4D97-AF65-F5344CB8AC3E}">
        <p14:creationId xmlns:p14="http://schemas.microsoft.com/office/powerpoint/2010/main" val="1388446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4AF8819-D6BB-47E8-899D-942CDB2B617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7B3602-0E34-4A7A-851A-68FB1E5184F6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ROI depends on clinical effect, not model accuracy alone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9FCAE9-6907-4260-9778-AAEB3DD7AD32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pilot should estimate benefits and costs before any investment claim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6BBA583-E307-4825-8588-1AB9E71E4A00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10820400" cy="990600"/>
          </a:xfrm>
          <a:prstGeom prst="roundRect">
            <a:avLst>
              <a:gd name="adj" fmla="val 9615"/>
            </a:avLst>
          </a:prstGeom>
          <a:solidFill>
            <a:srgbClr val="E8F2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7F3497-658F-45F6-A5D1-1A110F70F070}"/>
              </a:ext>
            </a:extLst>
          </p:cNvPr>
          <p:cNvSpPr>
            <a:spLocks noGrp="1"/>
          </p:cNvSpPr>
          <p:nvPr/>
        </p:nvSpPr>
        <p:spPr>
          <a:xfrm>
            <a:off x="1000125" y="1676400"/>
            <a:ext cx="1019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21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Net value = events avoided × cost of an avoidable event − review labor − intervention cost − integration and monitoring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5139C8-BA07-4EDC-82E9-5A524385174D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Benefit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A114DA-3FD6-4326-B40E-35E3FAAECDF2}"/>
              </a:ext>
            </a:extLst>
          </p:cNvPr>
          <p:cNvSpPr>
            <a:spLocks noGrp="1"/>
          </p:cNvSpPr>
          <p:nvPr/>
        </p:nvSpPr>
        <p:spPr>
          <a:xfrm>
            <a:off x="781050" y="3390900"/>
            <a:ext cx="57150" cy="2857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FBF7C5-917A-436D-B4D6-0A7489D56F79}"/>
              </a:ext>
            </a:extLst>
          </p:cNvPr>
          <p:cNvSpPr>
            <a:spLocks noGrp="1"/>
          </p:cNvSpPr>
          <p:nvPr/>
        </p:nvSpPr>
        <p:spPr>
          <a:xfrm>
            <a:off x="1009650" y="33337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Change in clinically meaningful IDH events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87BB12-E935-472E-91BB-BD4C6F8D35B0}"/>
              </a:ext>
            </a:extLst>
          </p:cNvPr>
          <p:cNvSpPr>
            <a:spLocks noGrp="1"/>
          </p:cNvSpPr>
          <p:nvPr/>
        </p:nvSpPr>
        <p:spPr>
          <a:xfrm>
            <a:off x="781050" y="3914775"/>
            <a:ext cx="57150" cy="2857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3EBDF8-A9B4-4156-83E4-723D1D234FED}"/>
              </a:ext>
            </a:extLst>
          </p:cNvPr>
          <p:cNvSpPr>
            <a:spLocks noGrp="1"/>
          </p:cNvSpPr>
          <p:nvPr/>
        </p:nvSpPr>
        <p:spPr>
          <a:xfrm>
            <a:off x="1009650" y="3857625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Avoided treatment interruption or escalation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FE2C61-919C-4B03-868F-6EC85AA67E07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57150" cy="2857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F3FA00-BE85-43F8-BAEE-337C98E310B2}"/>
              </a:ext>
            </a:extLst>
          </p:cNvPr>
          <p:cNvSpPr>
            <a:spLocks noGrp="1"/>
          </p:cNvSpPr>
          <p:nvPr/>
        </p:nvSpPr>
        <p:spPr>
          <a:xfrm>
            <a:off x="1009650" y="43815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Downstream utilisation linked to the event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359373-E8E8-4093-81CB-2816CC844291}"/>
              </a:ext>
            </a:extLst>
          </p:cNvPr>
          <p:cNvSpPr>
            <a:spLocks noGrp="1"/>
          </p:cNvSpPr>
          <p:nvPr/>
        </p:nvSpPr>
        <p:spPr>
          <a:xfrm>
            <a:off x="781050" y="4962525"/>
            <a:ext cx="57150" cy="2857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6BDFEC-4487-405E-9DAA-CEAA08ACE45B}"/>
              </a:ext>
            </a:extLst>
          </p:cNvPr>
          <p:cNvSpPr>
            <a:spLocks noGrp="1"/>
          </p:cNvSpPr>
          <p:nvPr/>
        </p:nvSpPr>
        <p:spPr>
          <a:xfrm>
            <a:off x="1009650" y="4905375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Patient experience and recovery time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21232FF0-D94C-436B-A423-9597A73815AC}"/>
              </a:ext>
            </a:extLst>
          </p:cNvPr>
          <p:cNvSpPr>
            <a:spLocks noGrp="1"/>
          </p:cNvSpPr>
          <p:nvPr/>
        </p:nvSpPr>
        <p:spPr>
          <a:xfrm>
            <a:off x="6096000" y="2857500"/>
            <a:ext cx="0" cy="2571750"/>
          </a:xfrm>
          <a:prstGeom prst="line">
            <a:avLst/>
          </a:prstGeom>
          <a:noFill/>
          <a:ln w="1905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B48C6D-5F9D-4BC5-A7F7-14A1A0148591}"/>
              </a:ext>
            </a:extLst>
          </p:cNvPr>
          <p:cNvSpPr>
            <a:spLocks noGrp="1"/>
          </p:cNvSpPr>
          <p:nvPr/>
        </p:nvSpPr>
        <p:spPr>
          <a:xfrm>
            <a:off x="6553200" y="2857500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Cost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146333-F731-401D-AB48-D12A5FA6AFD4}"/>
              </a:ext>
            </a:extLst>
          </p:cNvPr>
          <p:cNvSpPr>
            <a:spLocks noGrp="1"/>
          </p:cNvSpPr>
          <p:nvPr/>
        </p:nvSpPr>
        <p:spPr>
          <a:xfrm>
            <a:off x="6553200" y="3390900"/>
            <a:ext cx="57150" cy="2857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B9D8EB-9121-4982-A957-598B2D5A8CBE}"/>
              </a:ext>
            </a:extLst>
          </p:cNvPr>
          <p:cNvSpPr>
            <a:spLocks noGrp="1"/>
          </p:cNvSpPr>
          <p:nvPr/>
        </p:nvSpPr>
        <p:spPr>
          <a:xfrm>
            <a:off x="6781800" y="33337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Minutes of clinical review per alert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8367D4-CA62-40E6-A313-C546120E9EAA}"/>
              </a:ext>
            </a:extLst>
          </p:cNvPr>
          <p:cNvSpPr>
            <a:spLocks noGrp="1"/>
          </p:cNvSpPr>
          <p:nvPr/>
        </p:nvSpPr>
        <p:spPr>
          <a:xfrm>
            <a:off x="6553200" y="3914775"/>
            <a:ext cx="57150" cy="2857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4821E6-EB73-4745-8CF9-5FA9B667E99E}"/>
              </a:ext>
            </a:extLst>
          </p:cNvPr>
          <p:cNvSpPr>
            <a:spLocks noGrp="1"/>
          </p:cNvSpPr>
          <p:nvPr/>
        </p:nvSpPr>
        <p:spPr>
          <a:xfrm>
            <a:off x="6781800" y="3857625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Action rate and unintended intervention burden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1BCDA6-BE27-4D02-98A7-CF42EE2D73A2}"/>
              </a:ext>
            </a:extLst>
          </p:cNvPr>
          <p:cNvSpPr>
            <a:spLocks noGrp="1"/>
          </p:cNvSpPr>
          <p:nvPr/>
        </p:nvSpPr>
        <p:spPr>
          <a:xfrm>
            <a:off x="6553200" y="4438650"/>
            <a:ext cx="57150" cy="2857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9AB711-2CCB-4B46-8AB1-08A1579488A7}"/>
              </a:ext>
            </a:extLst>
          </p:cNvPr>
          <p:cNvSpPr>
            <a:spLocks noGrp="1"/>
          </p:cNvSpPr>
          <p:nvPr/>
        </p:nvSpPr>
        <p:spPr>
          <a:xfrm>
            <a:off x="6781800" y="43815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Data integration, training, and support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1977EC-AFD7-4CAF-9552-8551D1211AE3}"/>
              </a:ext>
            </a:extLst>
          </p:cNvPr>
          <p:cNvSpPr>
            <a:spLocks noGrp="1"/>
          </p:cNvSpPr>
          <p:nvPr/>
        </p:nvSpPr>
        <p:spPr>
          <a:xfrm>
            <a:off x="6553200" y="4962525"/>
            <a:ext cx="57150" cy="2857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0AC1D9-0CAD-4A4A-8943-BBFFE43C83A3}"/>
              </a:ext>
            </a:extLst>
          </p:cNvPr>
          <p:cNvSpPr>
            <a:spLocks noGrp="1"/>
          </p:cNvSpPr>
          <p:nvPr/>
        </p:nvSpPr>
        <p:spPr>
          <a:xfrm>
            <a:off x="6781800" y="4905375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Ongoing monitoring, audit, and incident response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124B722B-F26B-43EE-882A-3228152A51BF}"/>
              </a:ext>
            </a:extLst>
          </p:cNvPr>
          <p:cNvSpPr>
            <a:spLocks noGrp="1"/>
          </p:cNvSpPr>
          <p:nvPr/>
        </p:nvSpPr>
        <p:spPr>
          <a:xfrm>
            <a:off x="781050" y="5772150"/>
            <a:ext cx="10477500" cy="0"/>
          </a:xfrm>
          <a:prstGeom prst="line">
            <a:avLst/>
          </a:prstGeom>
          <a:noFill/>
          <a:ln w="1905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A6D297-CE07-4BF7-B199-FE8F9CC18EBA}"/>
              </a:ext>
            </a:extLst>
          </p:cNvPr>
          <p:cNvSpPr>
            <a:spLocks noGrp="1"/>
          </p:cNvSpPr>
          <p:nvPr/>
        </p:nvSpPr>
        <p:spPr>
          <a:xfrm>
            <a:off x="781050" y="592455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Break-even decision: proceed only when measured benefit exceeds the full operating cost at an acceptable safety and equity profile.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680D339B-FFAF-4B2E-9F7B-32D6E0FE4344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C74A598-063C-4D01-BCDA-B5C3733E95AE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06</a:t>
            </a:r>
          </a:p>
        </p:txBody>
      </p:sp>
    </p:spTree>
    <p:extLst>
      <p:ext uri="{BB962C8B-B14F-4D97-AF65-F5344CB8AC3E}">
        <p14:creationId xmlns:p14="http://schemas.microsoft.com/office/powerpoint/2010/main" val="1238003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D6D315E-78C5-4FE3-A7C7-D98A4A14EED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3B3770-AFCC-4063-AB06-D58420A40F1C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main risks are clinical, operational, and equity related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59914F-8D1D-4CD6-87C4-045B29ABFAE8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Fairness varies by metric and several protected attributes are unavailable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6F768D-9621-4A6D-9435-F4C1F6DC8FF5}"/>
              </a:ext>
            </a:extLst>
          </p:cNvPr>
          <p:cNvSpPr>
            <a:spLocks noGrp="1"/>
          </p:cNvSpPr>
          <p:nvPr/>
        </p:nvSpPr>
        <p:spPr>
          <a:xfrm>
            <a:off x="628650" y="14287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Risk register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299E6-7A8D-4762-A1FB-A338C9E7F32A}"/>
              </a:ext>
            </a:extLst>
          </p:cNvPr>
          <p:cNvSpPr>
            <a:spLocks noGrp="1"/>
          </p:cNvSpPr>
          <p:nvPr/>
        </p:nvSpPr>
        <p:spPr>
          <a:xfrm>
            <a:off x="628650" y="2019300"/>
            <a:ext cx="66675" cy="68580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FBE4EE-CF31-48E4-BC3E-EFA867B00882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Missed high-risk session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7EE5DA-6D34-4873-9C66-9C7ACED266F4}"/>
              </a:ext>
            </a:extLst>
          </p:cNvPr>
          <p:cNvSpPr>
            <a:spLocks noGrp="1"/>
          </p:cNvSpPr>
          <p:nvPr/>
        </p:nvSpPr>
        <p:spPr>
          <a:xfrm>
            <a:off x="876300" y="2324100"/>
            <a:ext cx="3476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False negatives remain at every threshold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736ADA-A043-46A4-9B1C-913B77C2BED5}"/>
              </a:ext>
            </a:extLst>
          </p:cNvPr>
          <p:cNvSpPr>
            <a:spLocks noGrp="1"/>
          </p:cNvSpPr>
          <p:nvPr/>
        </p:nvSpPr>
        <p:spPr>
          <a:xfrm>
            <a:off x="628650" y="2971800"/>
            <a:ext cx="66675" cy="68580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D067EA-B4B8-4975-9BF5-F9FA196B0624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Alert fatigue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93BD1-D212-4CA8-A97E-BA7AB612D462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3476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20% capacity produces 14.1 false alerts per 100 sessions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FE8398-24C9-42AF-A342-5A9ADBE78C67}"/>
              </a:ext>
            </a:extLst>
          </p:cNvPr>
          <p:cNvSpPr>
            <a:spLocks noGrp="1"/>
          </p:cNvSpPr>
          <p:nvPr/>
        </p:nvSpPr>
        <p:spPr>
          <a:xfrm>
            <a:off x="628650" y="3924300"/>
            <a:ext cx="66675" cy="685800"/>
          </a:xfrm>
          <a:prstGeom prst="rect">
            <a:avLst/>
          </a:prstGeom>
          <a:solidFill>
            <a:srgbClr val="765A9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2B103C-2922-4728-861C-572347A53BE1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Unequal performance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DC2E79-3A24-47DB-846B-28FCC8C7858E}"/>
              </a:ext>
            </a:extLst>
          </p:cNvPr>
          <p:cNvSpPr>
            <a:spLocks noGrp="1"/>
          </p:cNvSpPr>
          <p:nvPr/>
        </p:nvSpPr>
        <p:spPr>
          <a:xfrm>
            <a:off x="876300" y="4229100"/>
            <a:ext cx="3476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Recorded sex and age group gaps require review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B63D34-B196-47A3-8CA6-90959849E128}"/>
              </a:ext>
            </a:extLst>
          </p:cNvPr>
          <p:cNvSpPr>
            <a:spLocks noGrp="1"/>
          </p:cNvSpPr>
          <p:nvPr/>
        </p:nvSpPr>
        <p:spPr>
          <a:xfrm>
            <a:off x="628650" y="4876800"/>
            <a:ext cx="66675" cy="685800"/>
          </a:xfrm>
          <a:prstGeom prst="rect">
            <a:avLst/>
          </a:prstGeom>
          <a:solidFill>
            <a:srgbClr val="765A9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A55E7B-5F89-4AA8-BBDA-760CFBB6087F}"/>
              </a:ext>
            </a:extLst>
          </p:cNvPr>
          <p:cNvSpPr>
            <a:spLocks noGrp="1"/>
          </p:cNvSpPr>
          <p:nvPr/>
        </p:nvSpPr>
        <p:spPr>
          <a:xfrm>
            <a:off x="876300" y="48387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Automation and privacy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35C238-71C2-479A-B72A-76E1DF5189F2}"/>
              </a:ext>
            </a:extLst>
          </p:cNvPr>
          <p:cNvSpPr>
            <a:spLocks noGrp="1"/>
          </p:cNvSpPr>
          <p:nvPr/>
        </p:nvSpPr>
        <p:spPr>
          <a:xfrm>
            <a:off x="876300" y="5181600"/>
            <a:ext cx="3476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Human override and minimum necessary data are mandatory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D66CED-F5D4-4A5B-94EE-FAB4DCE32845}"/>
              </a:ext>
            </a:extLst>
          </p:cNvPr>
          <p:cNvSpPr>
            <a:spLocks noGrp="1"/>
          </p:cNvSpPr>
          <p:nvPr/>
        </p:nvSpPr>
        <p:spPr>
          <a:xfrm>
            <a:off x="4762500" y="5581650"/>
            <a:ext cx="6858000" cy="523875"/>
          </a:xfrm>
          <a:prstGeom prst="roundRect">
            <a:avLst>
              <a:gd name="adj" fmla="val 14545"/>
            </a:avLst>
          </a:prstGeom>
          <a:solidFill>
            <a:srgbClr val="F3E9E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1F2F1F-BA86-45B0-B38D-B3AD42CCF50F}"/>
              </a:ext>
            </a:extLst>
          </p:cNvPr>
          <p:cNvSpPr>
            <a:spLocks noGrp="1"/>
          </p:cNvSpPr>
          <p:nvPr/>
        </p:nvSpPr>
        <p:spPr>
          <a:xfrm>
            <a:off x="4953000" y="5715000"/>
            <a:ext cx="647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Race, ethnicity, socioeconomic status, and gender identity cannot be audited from the source data.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F27438-A1A9-43BC-A740-86B40E114972}"/>
              </a:ext>
            </a:extLst>
          </p:cNvPr>
          <p:cNvSpPr>
            <a:spLocks noGrp="1"/>
          </p:cNvSpPr>
          <p:nvPr/>
        </p:nvSpPr>
        <p:spPr>
          <a:xfrm>
            <a:off x="552450" y="6229350"/>
            <a:ext cx="10668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Step 5 ethical AI and bias audit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B3351C57-D430-4E9E-82B0-C6EAA3C045BF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B261A2-1B20-4290-9D10-25126B7EDE20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645920"/>
            <a:ext cx="61264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300" b="1">
                <a:solidFill>
                  <a:srgbClr val="0E7C7B"/>
                </a:solidFill>
                <a:latin typeface="Nimbus Sans"/>
              </a:rPr>
              <a:t>Exploratory fairness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2286000"/>
            <a:ext cx="612648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300" b="0">
                <a:solidFill>
                  <a:srgbClr val="102A43"/>
                </a:solidFill>
                <a:latin typeface="Nimbus Sans"/>
              </a:rPr>
              <a:t>Recorded-sex selection ratio: 0.705</a:t>
            </a:r>
            <a:br/>
            <a:r>
              <a:rPr sz="2300" b="0">
                <a:solidFill>
                  <a:srgbClr val="102A43"/>
                </a:solidFill>
                <a:latin typeface="Nimbus Sans"/>
              </a:rPr>
              <a:t>Reweighting candidate: 0.764</a:t>
            </a:r>
            <a:br/>
            <a:r>
              <a:rPr sz="2300" b="0">
                <a:solidFill>
                  <a:srgbClr val="102A43"/>
                </a:solidFill>
                <a:latin typeface="Nimbus Sans"/>
              </a:rPr>
              <a:t>Age-group selection ratio: 0.541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114800"/>
            <a:ext cx="585216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imbus Sans"/>
              </a:rPr>
              <a:t>Confirm on fresh patients before adopting mitigation.</a:t>
            </a:r>
          </a:p>
        </p:txBody>
      </p:sp>
    </p:spTree>
    <p:extLst>
      <p:ext uri="{BB962C8B-B14F-4D97-AF65-F5344CB8AC3E}">
        <p14:creationId xmlns:p14="http://schemas.microsoft.com/office/powerpoint/2010/main" val="1239906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895FBE0-A1AB-4496-AEB6-E63848E19DB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8CC68B-F807-43E1-A6F8-A0D4B083E6FE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Governance controls must precede live alerts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9B891-8266-4CFB-8C50-7C2A1C5FAE19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Each gate requires documented evidence and an accountable owner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892CCC-73E8-4598-B739-CA78914A53BC}"/>
              </a:ext>
            </a:extLst>
          </p:cNvPr>
          <p:cNvSpPr>
            <a:spLocks noGrp="1"/>
          </p:cNvSpPr>
          <p:nvPr/>
        </p:nvSpPr>
        <p:spPr>
          <a:xfrm>
            <a:off x="723900" y="1485900"/>
            <a:ext cx="85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Gate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6EC87E-5DFB-4EBB-A94F-2D16F1262D3E}"/>
              </a:ext>
            </a:extLst>
          </p:cNvPr>
          <p:cNvSpPr>
            <a:spLocks noGrp="1"/>
          </p:cNvSpPr>
          <p:nvPr/>
        </p:nvSpPr>
        <p:spPr>
          <a:xfrm>
            <a:off x="2476500" y="1485900"/>
            <a:ext cx="619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Evidence required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9A9AE6-6AE8-441F-A808-28B37D2357CF}"/>
              </a:ext>
            </a:extLst>
          </p:cNvPr>
          <p:cNvSpPr>
            <a:spLocks noGrp="1"/>
          </p:cNvSpPr>
          <p:nvPr/>
        </p:nvSpPr>
        <p:spPr>
          <a:xfrm>
            <a:off x="9239250" y="14859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Accountable owner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BA7D1CB5-84F5-4CD2-A3E3-04A265B3A4FC}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107061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0A9C67-1DBF-4FB9-B171-36D16BDC7C18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419100" cy="4191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306C18-AF64-4FD1-B7AA-A06B9A599C06}"/>
              </a:ext>
            </a:extLst>
          </p:cNvPr>
          <p:cNvSpPr>
            <a:spLocks noGrp="1"/>
          </p:cNvSpPr>
          <p:nvPr/>
        </p:nvSpPr>
        <p:spPr>
          <a:xfrm>
            <a:off x="1352550" y="188595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External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9C3055-36DB-4E40-AFF2-422E5BAE8AF7}"/>
              </a:ext>
            </a:extLst>
          </p:cNvPr>
          <p:cNvSpPr>
            <a:spLocks noGrp="1"/>
          </p:cNvSpPr>
          <p:nvPr/>
        </p:nvSpPr>
        <p:spPr>
          <a:xfrm>
            <a:off x="2476500" y="1885950"/>
            <a:ext cx="6286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Performance and calibration on current local patients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3029C2-D13A-4837-B663-5C77DF01E485}"/>
              </a:ext>
            </a:extLst>
          </p:cNvPr>
          <p:cNvSpPr>
            <a:spLocks noGrp="1"/>
          </p:cNvSpPr>
          <p:nvPr/>
        </p:nvSpPr>
        <p:spPr>
          <a:xfrm>
            <a:off x="9239250" y="18859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Clinical analytics lead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A69E5B9A-355E-4F7D-AB3F-EEDA4B3B62AC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107061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793FD-FD1C-40CA-B276-00656551611A}"/>
              </a:ext>
            </a:extLst>
          </p:cNvPr>
          <p:cNvSpPr>
            <a:spLocks noGrp="1"/>
          </p:cNvSpPr>
          <p:nvPr/>
        </p:nvSpPr>
        <p:spPr>
          <a:xfrm>
            <a:off x="723900" y="2686050"/>
            <a:ext cx="419100" cy="4191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880115-EF71-4459-9617-7922D94661A3}"/>
              </a:ext>
            </a:extLst>
          </p:cNvPr>
          <p:cNvSpPr>
            <a:spLocks noGrp="1"/>
          </p:cNvSpPr>
          <p:nvPr/>
        </p:nvSpPr>
        <p:spPr>
          <a:xfrm>
            <a:off x="1352550" y="270510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Silent workflow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7964CD-1240-4CD7-B9F9-BD54CFBD8370}"/>
              </a:ext>
            </a:extLst>
          </p:cNvPr>
          <p:cNvSpPr>
            <a:spLocks noGrp="1"/>
          </p:cNvSpPr>
          <p:nvPr/>
        </p:nvSpPr>
        <p:spPr>
          <a:xfrm>
            <a:off x="2476500" y="2705100"/>
            <a:ext cx="6286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Alert volume, timing, data quality, and drift without influencing care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C70E8F-628A-488B-B52A-309697D21807}"/>
              </a:ext>
            </a:extLst>
          </p:cNvPr>
          <p:cNvSpPr>
            <a:spLocks noGrp="1"/>
          </p:cNvSpPr>
          <p:nvPr/>
        </p:nvSpPr>
        <p:spPr>
          <a:xfrm>
            <a:off x="9239250" y="27051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Dialysis operations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05FCD3D4-D9CD-4B2A-AA7C-56B74FB17F82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107061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05DD50-9C92-4DDE-87F7-2FA922F05066}"/>
              </a:ext>
            </a:extLst>
          </p:cNvPr>
          <p:cNvSpPr>
            <a:spLocks noGrp="1"/>
          </p:cNvSpPr>
          <p:nvPr/>
        </p:nvSpPr>
        <p:spPr>
          <a:xfrm>
            <a:off x="723900" y="3505200"/>
            <a:ext cx="419100" cy="4191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42EE59-103C-41E5-A4C5-FD70C78514AA}"/>
              </a:ext>
            </a:extLst>
          </p:cNvPr>
          <p:cNvSpPr>
            <a:spLocks noGrp="1"/>
          </p:cNvSpPr>
          <p:nvPr/>
        </p:nvSpPr>
        <p:spPr>
          <a:xfrm>
            <a:off x="1352550" y="352425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Human factors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CD63A0-48B6-49C6-B18F-CF426E1B3FF0}"/>
              </a:ext>
            </a:extLst>
          </p:cNvPr>
          <p:cNvSpPr>
            <a:spLocks noGrp="1"/>
          </p:cNvSpPr>
          <p:nvPr/>
        </p:nvSpPr>
        <p:spPr>
          <a:xfrm>
            <a:off x="2476500" y="3524250"/>
            <a:ext cx="6286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Comprehension, overrides, action patterns, and automation bias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3AACC1-C042-484D-AE02-74A1435D9BF8}"/>
              </a:ext>
            </a:extLst>
          </p:cNvPr>
          <p:cNvSpPr>
            <a:spLocks noGrp="1"/>
          </p:cNvSpPr>
          <p:nvPr/>
        </p:nvSpPr>
        <p:spPr>
          <a:xfrm>
            <a:off x="9239250" y="35242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Clinical safety lead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1FBBFDC0-3702-4E80-8A53-B55D7C3E6DC5}"/>
              </a:ext>
            </a:extLst>
          </p:cNvPr>
          <p:cNvSpPr>
            <a:spLocks noGrp="1"/>
          </p:cNvSpPr>
          <p:nvPr/>
        </p:nvSpPr>
        <p:spPr>
          <a:xfrm>
            <a:off x="723900" y="4229100"/>
            <a:ext cx="107061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835A59-7843-4854-8F92-2988AEA77FCB}"/>
              </a:ext>
            </a:extLst>
          </p:cNvPr>
          <p:cNvSpPr>
            <a:spLocks noGrp="1"/>
          </p:cNvSpPr>
          <p:nvPr/>
        </p:nvSpPr>
        <p:spPr>
          <a:xfrm>
            <a:off x="723900" y="4324350"/>
            <a:ext cx="419100" cy="4191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00DE9E-EBE0-4106-BD6E-834F129AB71C}"/>
              </a:ext>
            </a:extLst>
          </p:cNvPr>
          <p:cNvSpPr>
            <a:spLocks noGrp="1"/>
          </p:cNvSpPr>
          <p:nvPr/>
        </p:nvSpPr>
        <p:spPr>
          <a:xfrm>
            <a:off x="1352550" y="434340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Equity and privacy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CCC7C83-FDD9-4F22-9FB9-F2E1184DB18A}"/>
              </a:ext>
            </a:extLst>
          </p:cNvPr>
          <p:cNvSpPr>
            <a:spLocks noGrp="1"/>
          </p:cNvSpPr>
          <p:nvPr/>
        </p:nvSpPr>
        <p:spPr>
          <a:xfrm>
            <a:off x="2476500" y="4343400"/>
            <a:ext cx="6286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Subgroup errors, broader attributes, access controls, and retention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3F4245-85FD-45EE-8A4C-607DF810C54D}"/>
              </a:ext>
            </a:extLst>
          </p:cNvPr>
          <p:cNvSpPr>
            <a:spLocks noGrp="1"/>
          </p:cNvSpPr>
          <p:nvPr/>
        </p:nvSpPr>
        <p:spPr>
          <a:xfrm>
            <a:off x="9239250" y="43434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Governance board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FEA8558A-6E75-40C2-9595-5A343AEA2F27}"/>
              </a:ext>
            </a:extLst>
          </p:cNvPr>
          <p:cNvSpPr>
            <a:spLocks noGrp="1"/>
          </p:cNvSpPr>
          <p:nvPr/>
        </p:nvSpPr>
        <p:spPr>
          <a:xfrm>
            <a:off x="723900" y="5048250"/>
            <a:ext cx="107061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009970-708B-4A91-AFCF-6BACAF414324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419100" cy="41910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 wrap="square" lIns="0" tIns="47625" rIns="0" bIns="0" anchor="ctr">
            <a:noAutofit/>
          </a:bodyPr>
          <a:lstStyle/>
          <a:p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4B0A0A-EFC4-4067-9E2C-B52396904154}"/>
              </a:ext>
            </a:extLst>
          </p:cNvPr>
          <p:cNvSpPr>
            <a:spLocks noGrp="1"/>
          </p:cNvSpPr>
          <p:nvPr/>
        </p:nvSpPr>
        <p:spPr>
          <a:xfrm>
            <a:off x="1352550" y="516255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Monitoring and rollback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31B926-E6BE-49BA-A078-ECAE30AD81D8}"/>
              </a:ext>
            </a:extLst>
          </p:cNvPr>
          <p:cNvSpPr>
            <a:spLocks noGrp="1"/>
          </p:cNvSpPr>
          <p:nvPr/>
        </p:nvSpPr>
        <p:spPr>
          <a:xfrm>
            <a:off x="2476500" y="5162550"/>
            <a:ext cx="6286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Thresholds for drift, harm, downtime, and model withdrawal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658718C-0F48-452B-BE83-4781CB905D1F}"/>
              </a:ext>
            </a:extLst>
          </p:cNvPr>
          <p:cNvSpPr>
            <a:spLocks noGrp="1"/>
          </p:cNvSpPr>
          <p:nvPr/>
        </p:nvSpPr>
        <p:spPr>
          <a:xfrm>
            <a:off x="9239250" y="51625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Model owner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C00AB9-3D97-4D23-98D3-1872330A35E0}"/>
              </a:ext>
            </a:extLst>
          </p:cNvPr>
          <p:cNvSpPr>
            <a:spLocks noGrp="1"/>
          </p:cNvSpPr>
          <p:nvPr/>
        </p:nvSpPr>
        <p:spPr>
          <a:xfrm>
            <a:off x="552450" y="6229350"/>
            <a:ext cx="10668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Governance position from the Step 5 ethical risk register</a:t>
            </a:r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E7806194-3B75-401A-BE84-C072458CD810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DDD657-733C-4679-8F3D-FDEAFB965BB1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08</a:t>
            </a:r>
          </a:p>
        </p:txBody>
      </p:sp>
    </p:spTree>
    <p:extLst>
      <p:ext uri="{BB962C8B-B14F-4D97-AF65-F5344CB8AC3E}">
        <p14:creationId xmlns:p14="http://schemas.microsoft.com/office/powerpoint/2010/main" val="1576508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D2BC197-957D-4EFB-AC32-84909A5E62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703339-2F73-42A6-ADE5-66859832135F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 staged pilot should assess feasibility and safety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CB2A02-6FC7-4B06-9BC0-FC0EAF75C15B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Illustrative timing; progression requires evidence and safety review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1D1F170-7B22-44A3-88D5-42C6157B9969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3476625" cy="4038600"/>
          </a:xfrm>
          <a:prstGeom prst="roundRect">
            <a:avLst>
              <a:gd name="adj" fmla="val 2740"/>
            </a:avLst>
          </a:prstGeom>
          <a:solidFill>
            <a:srgbClr val="E8F2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61FC47-F6E4-41A2-BFEC-5FC93144A67E}"/>
              </a:ext>
            </a:extLst>
          </p:cNvPr>
          <p:cNvSpPr>
            <a:spLocks noGrp="1"/>
          </p:cNvSpPr>
          <p:nvPr/>
        </p:nvSpPr>
        <p:spPr>
          <a:xfrm>
            <a:off x="857250" y="18478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Weeks 0–4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B438CB-02E4-4F8E-ADD3-B6EDA0CC36FB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29051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Local retrospective validation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23B9D25F-48BD-40E6-9F42-529533C126DC}"/>
              </a:ext>
            </a:extLst>
          </p:cNvPr>
          <p:cNvSpPr>
            <a:spLocks noGrp="1"/>
          </p:cNvSpPr>
          <p:nvPr/>
        </p:nvSpPr>
        <p:spPr>
          <a:xfrm>
            <a:off x="857250" y="3105150"/>
            <a:ext cx="2905125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084D94-1C3D-473F-ACFD-C78E86D09602}"/>
              </a:ext>
            </a:extLst>
          </p:cNvPr>
          <p:cNvSpPr>
            <a:spLocks noGrp="1"/>
          </p:cNvSpPr>
          <p:nvPr/>
        </p:nvSpPr>
        <p:spPr>
          <a:xfrm>
            <a:off x="857250" y="3333750"/>
            <a:ext cx="29051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Rebuild features, check data quality, assess calibration, capacity, subgroups, and missingness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9E2626-49AD-4A80-AB3D-6AA4BC6AB403}"/>
              </a:ext>
            </a:extLst>
          </p:cNvPr>
          <p:cNvSpPr>
            <a:spLocks noGrp="1"/>
          </p:cNvSpPr>
          <p:nvPr/>
        </p:nvSpPr>
        <p:spPr>
          <a:xfrm>
            <a:off x="857250" y="4876800"/>
            <a:ext cx="29051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Gate: model and data fit for observation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960F53C-2F66-477A-B7AC-59F8915A0D45}"/>
              </a:ext>
            </a:extLst>
          </p:cNvPr>
          <p:cNvSpPr>
            <a:spLocks noGrp="1"/>
          </p:cNvSpPr>
          <p:nvPr/>
        </p:nvSpPr>
        <p:spPr>
          <a:xfrm>
            <a:off x="4448175" y="1600200"/>
            <a:ext cx="3476625" cy="4038600"/>
          </a:xfrm>
          <a:prstGeom prst="roundRect">
            <a:avLst>
              <a:gd name="adj" fmla="val 2740"/>
            </a:avLst>
          </a:prstGeom>
          <a:solidFill>
            <a:srgbClr val="E8EEF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56A8ED-7169-465E-A4A9-8E4541D0163D}"/>
              </a:ext>
            </a:extLst>
          </p:cNvPr>
          <p:cNvSpPr>
            <a:spLocks noGrp="1"/>
          </p:cNvSpPr>
          <p:nvPr/>
        </p:nvSpPr>
        <p:spPr>
          <a:xfrm>
            <a:off x="4714875" y="18478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Weeks 5–8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10EB36-3F50-4D10-AD24-07C2EFFB4E4B}"/>
              </a:ext>
            </a:extLst>
          </p:cNvPr>
          <p:cNvSpPr>
            <a:spLocks noGrp="1"/>
          </p:cNvSpPr>
          <p:nvPr/>
        </p:nvSpPr>
        <p:spPr>
          <a:xfrm>
            <a:off x="4714875" y="2305050"/>
            <a:ext cx="29051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Prospective silent mode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1A311AFF-B9F2-40ED-81A1-F65822A31B4B}"/>
              </a:ext>
            </a:extLst>
          </p:cNvPr>
          <p:cNvSpPr>
            <a:spLocks noGrp="1"/>
          </p:cNvSpPr>
          <p:nvPr/>
        </p:nvSpPr>
        <p:spPr>
          <a:xfrm>
            <a:off x="4714875" y="3105150"/>
            <a:ext cx="2905125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12797E-207A-46EE-A4D2-1B3DCBE05EC8}"/>
              </a:ext>
            </a:extLst>
          </p:cNvPr>
          <p:cNvSpPr>
            <a:spLocks noGrp="1"/>
          </p:cNvSpPr>
          <p:nvPr/>
        </p:nvSpPr>
        <p:spPr>
          <a:xfrm>
            <a:off x="4714875" y="3333750"/>
            <a:ext cx="29051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Generate scores without showing clinicians. Measure volume, latency, drift, and workflow timing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F81E33-9A08-483A-B5F2-396478D887DF}"/>
              </a:ext>
            </a:extLst>
          </p:cNvPr>
          <p:cNvSpPr>
            <a:spLocks noGrp="1"/>
          </p:cNvSpPr>
          <p:nvPr/>
        </p:nvSpPr>
        <p:spPr>
          <a:xfrm>
            <a:off x="4714875" y="4876800"/>
            <a:ext cx="29051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Gate: technically reliable and operationally feasible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942EC49-D94C-4017-8AE6-276A637EE24B}"/>
              </a:ext>
            </a:extLst>
          </p:cNvPr>
          <p:cNvSpPr>
            <a:spLocks noGrp="1"/>
          </p:cNvSpPr>
          <p:nvPr/>
        </p:nvSpPr>
        <p:spPr>
          <a:xfrm>
            <a:off x="8305800" y="1600200"/>
            <a:ext cx="3476625" cy="4038600"/>
          </a:xfrm>
          <a:prstGeom prst="roundRect">
            <a:avLst>
              <a:gd name="adj" fmla="val 2740"/>
            </a:avLst>
          </a:prstGeom>
          <a:solidFill>
            <a:srgbClr val="F7E8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775435-83F4-41CB-99CC-943B439CE181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Weeks 9–12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EE1036-20A4-413C-92E8-156385D2A688}"/>
              </a:ext>
            </a:extLst>
          </p:cNvPr>
          <p:cNvSpPr>
            <a:spLocks noGrp="1"/>
          </p:cNvSpPr>
          <p:nvPr/>
        </p:nvSpPr>
        <p:spPr>
          <a:xfrm>
            <a:off x="8572500" y="2305050"/>
            <a:ext cx="29051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Supervised pilot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F091BF7-DF41-4B1D-89E0-F97552A23ECE}"/>
              </a:ext>
            </a:extLst>
          </p:cNvPr>
          <p:cNvSpPr>
            <a:spLocks noGrp="1"/>
          </p:cNvSpPr>
          <p:nvPr/>
        </p:nvSpPr>
        <p:spPr>
          <a:xfrm>
            <a:off x="8572500" y="3105150"/>
            <a:ext cx="2905125" cy="0"/>
          </a:xfrm>
          <a:prstGeom prst="line">
            <a:avLst/>
          </a:prstGeom>
          <a:noFill/>
          <a:ln w="28575">
            <a:solidFill>
              <a:srgbClr val="E76F5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FA6AA8-AC92-451A-A3CA-80B937E052B5}"/>
              </a:ext>
            </a:extLst>
          </p:cNvPr>
          <p:cNvSpPr>
            <a:spLocks noGrp="1"/>
          </p:cNvSpPr>
          <p:nvPr/>
        </p:nvSpPr>
        <p:spPr>
          <a:xfrm>
            <a:off x="8572500" y="3333750"/>
            <a:ext cx="29051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Show alerts only if prior gates pass. Record review time, action, overrides, safety, and patient outcomes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FAF7F7-116D-41BE-AB59-3777CA71B010}"/>
              </a:ext>
            </a:extLst>
          </p:cNvPr>
          <p:cNvSpPr>
            <a:spLocks noGrp="1"/>
          </p:cNvSpPr>
          <p:nvPr/>
        </p:nvSpPr>
        <p:spPr>
          <a:xfrm>
            <a:off x="8572500" y="4876800"/>
            <a:ext cx="29051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Gate: feasibility supports a larger study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13739DF-D092-4A04-8810-727DAED779D9}"/>
              </a:ext>
            </a:extLst>
          </p:cNvPr>
          <p:cNvSpPr>
            <a:spLocks noGrp="1"/>
          </p:cNvSpPr>
          <p:nvPr/>
        </p:nvSpPr>
        <p:spPr>
          <a:xfrm>
            <a:off x="742950" y="59055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Pre-register performance, workload, equity, and safety criteria before the pilot begins.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7736A1DA-2EA8-46EF-9A25-FB253F715586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42C59D-CBD6-4FBD-922B-FC2B276A9FFE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business presentation  /  09</a:t>
            </a:r>
          </a:p>
        </p:txBody>
      </p:sp>
    </p:spTree>
    <p:extLst>
      <p:ext uri="{BB962C8B-B14F-4D97-AF65-F5344CB8AC3E}">
        <p14:creationId xmlns:p14="http://schemas.microsoft.com/office/powerpoint/2010/main" val="499903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Proposed pilot targets are not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Prespecify one alert policy and local safety stopping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Event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At least 65% of later SBP-below-90 events detected in eligible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False-alert workload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No more than 15 false alerts per 100 eligible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Review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Median at most 2 minutes per displayed alert. Measure outcomes and full costs before claiming benefit.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6C7F00F-3193-4322-AD99-0B070520DDF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76200" cy="781050"/>
          </a:xfrm>
          <a:prstGeom prst="rect">
            <a:avLst/>
          </a:prstGeom>
          <a:solidFill>
            <a:srgbClr val="E9C46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A70D49-1B42-42AF-B3F8-A8D1F06D875A}"/>
              </a:ext>
            </a:extLst>
          </p:cNvPr>
          <p:cNvSpPr>
            <a:spLocks noGrp="1"/>
          </p:cNvSpPr>
          <p:nvPr/>
        </p:nvSpPr>
        <p:spPr>
          <a:xfrm>
            <a:off x="781050" y="333375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4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Decision requested: approve validation, not clinical deployment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90803-1C87-4B22-A7C1-2CC787C82767}"/>
              </a:ext>
            </a:extLst>
          </p:cNvPr>
          <p:cNvSpPr>
            <a:spLocks noGrp="1"/>
          </p:cNvSpPr>
          <p:nvPr/>
        </p:nvSpPr>
        <p:spPr>
          <a:xfrm>
            <a:off x="800100" y="866775"/>
            <a:ext cx="1059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The next investment should reduce uncertainty before introducing live alerts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5EED8C-E688-4DF4-AFC6-3B6D5BD8B01E}"/>
              </a:ext>
            </a:extLst>
          </p:cNvPr>
          <p:cNvSpPr>
            <a:spLocks noGrp="1"/>
          </p:cNvSpPr>
          <p:nvPr/>
        </p:nvSpPr>
        <p:spPr>
          <a:xfrm>
            <a:off x="742950" y="157162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rPr>
              <a:t>Approve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1F261A-1983-4D2E-9314-5A20119556C2}"/>
              </a:ext>
            </a:extLst>
          </p:cNvPr>
          <p:cNvSpPr>
            <a:spLocks noGrp="1"/>
          </p:cNvSpPr>
          <p:nvPr/>
        </p:nvSpPr>
        <p:spPr>
          <a:xfrm>
            <a:off x="781050" y="2238375"/>
            <a:ext cx="76200" cy="3238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33E973-F856-48F6-95EA-378035CCE929}"/>
              </a:ext>
            </a:extLst>
          </p:cNvPr>
          <p:cNvSpPr>
            <a:spLocks noGrp="1"/>
          </p:cNvSpPr>
          <p:nvPr/>
        </p:nvSpPr>
        <p:spPr>
          <a:xfrm>
            <a:off x="1047750" y="218122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local data and validation partner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F9C28-6FEC-483B-AD7C-2E76B026CED3}"/>
              </a:ext>
            </a:extLst>
          </p:cNvPr>
          <p:cNvSpPr>
            <a:spLocks noGrp="1"/>
          </p:cNvSpPr>
          <p:nvPr/>
        </p:nvSpPr>
        <p:spPr>
          <a:xfrm>
            <a:off x="781050" y="2828925"/>
            <a:ext cx="76200" cy="3238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A09D64-6F40-4C7A-9298-4BAAAE793F2E}"/>
              </a:ext>
            </a:extLst>
          </p:cNvPr>
          <p:cNvSpPr>
            <a:spLocks noGrp="1"/>
          </p:cNvSpPr>
          <p:nvPr/>
        </p:nvSpPr>
        <p:spPr>
          <a:xfrm>
            <a:off x="1047750" y="277177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Clinical, informatics, privacy, and equity owners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F7687D-8948-4C31-B4E6-DF169C22FD81}"/>
              </a:ext>
            </a:extLst>
          </p:cNvPr>
          <p:cNvSpPr>
            <a:spLocks noGrp="1"/>
          </p:cNvSpPr>
          <p:nvPr/>
        </p:nvSpPr>
        <p:spPr>
          <a:xfrm>
            <a:off x="781050" y="3419475"/>
            <a:ext cx="76200" cy="3238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B094B8-F975-4C83-96CA-A8A936F7E0EC}"/>
              </a:ext>
            </a:extLst>
          </p:cNvPr>
          <p:cNvSpPr>
            <a:spLocks noGrp="1"/>
          </p:cNvSpPr>
          <p:nvPr/>
        </p:nvSpPr>
        <p:spPr>
          <a:xfrm>
            <a:off x="1047750" y="336232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prospective silent mode study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37BE1-BA61-4046-8171-9945D4A407F0}"/>
              </a:ext>
            </a:extLst>
          </p:cNvPr>
          <p:cNvSpPr>
            <a:spLocks noGrp="1"/>
          </p:cNvSpPr>
          <p:nvPr/>
        </p:nvSpPr>
        <p:spPr>
          <a:xfrm>
            <a:off x="781050" y="4010025"/>
            <a:ext cx="76200" cy="323850"/>
          </a:xfrm>
          <a:prstGeom prst="rect">
            <a:avLst/>
          </a:prstGeom>
          <a:solidFill>
            <a:srgbClr val="2A9D8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3D9DA7-99FA-47FA-A68B-EAD596E9667E}"/>
              </a:ext>
            </a:extLst>
          </p:cNvPr>
          <p:cNvSpPr>
            <a:spLocks noGrp="1"/>
          </p:cNvSpPr>
          <p:nvPr/>
        </p:nvSpPr>
        <p:spPr>
          <a:xfrm>
            <a:off x="1047750" y="395287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predefined go or stop review at 90 days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E7D8B3B-096E-486D-B57E-6F70ABD32B9C}"/>
              </a:ext>
            </a:extLst>
          </p:cNvPr>
          <p:cNvSpPr>
            <a:spLocks noGrp="1"/>
          </p:cNvSpPr>
          <p:nvPr/>
        </p:nvSpPr>
        <p:spPr>
          <a:xfrm>
            <a:off x="6038850" y="1581150"/>
            <a:ext cx="0" cy="3238500"/>
          </a:xfrm>
          <a:prstGeom prst="line">
            <a:avLst/>
          </a:prstGeom>
          <a:noFill/>
          <a:ln w="19050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17C2A9-040B-456C-A81C-ADB62D311108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Stop if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BE4D02-FC59-4E91-94A5-953BC8D57C7D}"/>
              </a:ext>
            </a:extLst>
          </p:cNvPr>
          <p:cNvSpPr>
            <a:spLocks noGrp="1"/>
          </p:cNvSpPr>
          <p:nvPr/>
        </p:nvSpPr>
        <p:spPr>
          <a:xfrm>
            <a:off x="6610350" y="2238375"/>
            <a:ext cx="76200" cy="3238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005AB-0C3E-4A7B-AA2D-A66CA4301679}"/>
              </a:ext>
            </a:extLst>
          </p:cNvPr>
          <p:cNvSpPr>
            <a:spLocks noGrp="1"/>
          </p:cNvSpPr>
          <p:nvPr/>
        </p:nvSpPr>
        <p:spPr>
          <a:xfrm>
            <a:off x="6877050" y="218122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Performance does not transport locally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410028-4804-4E1A-8149-B0227B481406}"/>
              </a:ext>
            </a:extLst>
          </p:cNvPr>
          <p:cNvSpPr>
            <a:spLocks noGrp="1"/>
          </p:cNvSpPr>
          <p:nvPr/>
        </p:nvSpPr>
        <p:spPr>
          <a:xfrm>
            <a:off x="6610350" y="2828925"/>
            <a:ext cx="76200" cy="3238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BDF33-EC91-46B6-BDC4-A5F99BCC8BD7}"/>
              </a:ext>
            </a:extLst>
          </p:cNvPr>
          <p:cNvSpPr>
            <a:spLocks noGrp="1"/>
          </p:cNvSpPr>
          <p:nvPr/>
        </p:nvSpPr>
        <p:spPr>
          <a:xfrm>
            <a:off x="6877050" y="277177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Alert burden exceeds safe staffing capacity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0E9FD6-B162-44A9-AFC4-256841B03187}"/>
              </a:ext>
            </a:extLst>
          </p:cNvPr>
          <p:cNvSpPr>
            <a:spLocks noGrp="1"/>
          </p:cNvSpPr>
          <p:nvPr/>
        </p:nvSpPr>
        <p:spPr>
          <a:xfrm>
            <a:off x="6610350" y="3419475"/>
            <a:ext cx="76200" cy="3238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85D1AB-134D-4EB1-A0F6-51FEB1B95BEE}"/>
              </a:ext>
            </a:extLst>
          </p:cNvPr>
          <p:cNvSpPr>
            <a:spLocks noGrp="1"/>
          </p:cNvSpPr>
          <p:nvPr/>
        </p:nvSpPr>
        <p:spPr>
          <a:xfrm>
            <a:off x="6877050" y="336232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Subgroup error or calibration gaps are unacceptable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6D400-1CD7-4D5C-B064-95A6EBBDEB90}"/>
              </a:ext>
            </a:extLst>
          </p:cNvPr>
          <p:cNvSpPr>
            <a:spLocks noGrp="1"/>
          </p:cNvSpPr>
          <p:nvPr/>
        </p:nvSpPr>
        <p:spPr>
          <a:xfrm>
            <a:off x="6610350" y="4010025"/>
            <a:ext cx="76200" cy="323850"/>
          </a:xfrm>
          <a:prstGeom prst="rect">
            <a:avLst/>
          </a:prstGeom>
          <a:solidFill>
            <a:srgbClr val="E76F5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835517-6FBE-4231-95D2-464B9E6F7199}"/>
              </a:ext>
            </a:extLst>
          </p:cNvPr>
          <p:cNvSpPr>
            <a:spLocks noGrp="1"/>
          </p:cNvSpPr>
          <p:nvPr/>
        </p:nvSpPr>
        <p:spPr>
          <a:xfrm>
            <a:off x="6877050" y="395287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Clinician behavior creates new safety risk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B87D36E2-BFC1-4B0B-8A09-484D1B630083}"/>
              </a:ext>
            </a:extLst>
          </p:cNvPr>
          <p:cNvSpPr>
            <a:spLocks noGrp="1"/>
          </p:cNvSpPr>
          <p:nvPr/>
        </p:nvSpPr>
        <p:spPr>
          <a:xfrm>
            <a:off x="742950" y="5000625"/>
            <a:ext cx="10572750" cy="0"/>
          </a:xfrm>
          <a:prstGeom prst="line">
            <a:avLst/>
          </a:prstGeom>
          <a:noFill/>
          <a:ln w="19050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66FC0A-E9CD-4FAA-93D6-1C68BC0CEEF0}"/>
              </a:ext>
            </a:extLst>
          </p:cNvPr>
          <p:cNvSpPr>
            <a:spLocks noGrp="1"/>
          </p:cNvSpPr>
          <p:nvPr/>
        </p:nvSpPr>
        <p:spPr>
          <a:xfrm>
            <a:off x="857250" y="5334000"/>
            <a:ext cx="1038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20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Until these gates are met, DIAL-ALERT remains an academic decision support prototype and must not determine treatment.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B4699015-AC7A-479D-A76F-1C2406759EF1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11163300" cy="0"/>
          </a:xfrm>
          <a:prstGeom prst="line">
            <a:avLst/>
          </a:prstGeom>
          <a:noFill/>
          <a:ln w="9525">
            <a:solidFill>
              <a:srgbClr val="3A52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B19487-FE7A-4B67-BE72-B24148A15124}"/>
              </a:ext>
            </a:extLst>
          </p:cNvPr>
          <p:cNvSpPr>
            <a:spLocks noGrp="1"/>
          </p:cNvSpPr>
          <p:nvPr/>
        </p:nvSpPr>
        <p:spPr>
          <a:xfrm>
            <a:off x="514350" y="6562725"/>
            <a:ext cx="11163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 dirty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business presentation  /  1</a:t>
            </a:r>
            <a:r>
              <a:rPr lang="en-US" sz="975" dirty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1</a:t>
            </a:r>
            <a:endParaRPr sz="975" b="0" i="0" dirty="0">
              <a:solidFill>
                <a:srgbClr val="B8C8D6"/>
              </a:solidFill>
              <a:latin typeface="Nimbus Sans"/>
              <a:ea typeface="Nimbus Sans"/>
              <a:cs typeface="Nimbus Sans"/>
            </a:endParaRPr>
          </a:p>
        </p:txBody>
      </p:sp>
    </p:spTree>
    <p:extLst>
      <p:ext uri="{BB962C8B-B14F-4D97-AF65-F5344CB8AC3E}">
        <p14:creationId xmlns:p14="http://schemas.microsoft.com/office/powerpoint/2010/main" val="697142995"/>
      </p:ext>
    </p:extLst>
  </p:cSld>
  <p:clrMapOvr>
    <a:masterClrMapping/>
  </p:clrMapOvr>
</p:sld>
</file>

<file path=ppt/theme/theme1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1673</Words>
  <Application>Microsoft Macintosh PowerPoint</Application>
  <DocSecurity>0</DocSecurity>
  <PresentationFormat>Widescreen</PresentationFormat>
  <Paragraphs>213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Calibri</vt:lpstr>
      <vt:lpstr>Nimbus Sans</vt:lpstr>
      <vt:lpstr>DIAL-ALERT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DIAL-ALERT Business Presentation</dc:title>
  <dc:creator>Franklin B. Guillano</dc:creator>
  <cp:lastModifiedBy>Franklin Guillano</cp:lastModifiedBy>
  <cp:revision>2</cp:revision>
  <dcterms:created xsi:type="dcterms:W3CDTF">2026-09-17T00:00:00Z</dcterms:created>
  <dcterms:modified xsi:type="dcterms:W3CDTF">2026-09-23T06:00:27Z</dcterms:modified>
</cp:coreProperties>
</file>