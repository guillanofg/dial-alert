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6cfbedacbcb4292" Type="http://schemas.openxmlformats.org/officeDocument/2006/relationships/extended-properties" Target="docProps/app.xml"/><Relationship Id="Rb7430655a53140cb" Type="http://schemas.openxmlformats.org/package/2006/relationships/metadata/core-properties" Target="docProps/core.xml"/><Relationship Id="Rf1b40fe5c8dd4b3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fe6567100e486c"/>
  </p:sldMasterIdLst>
  <p:notesMasterIdLst>
    <p:notesMasterId xmlns:r="http://schemas.openxmlformats.org/officeDocument/2006/relationships" r:id="Rb16060f429e04e2a"/>
  </p:notesMasterIdLst>
  <p:sldIdLst>
    <p:sldId xmlns:r="http://schemas.openxmlformats.org/officeDocument/2006/relationships" id="256" r:id="R8e008ec0ad844815"/>
    <p:sldId xmlns:r="http://schemas.openxmlformats.org/officeDocument/2006/relationships" id="257" r:id="Rc342fd37abfa4594"/>
    <p:sldId xmlns:r="http://schemas.openxmlformats.org/officeDocument/2006/relationships" id="258" r:id="R2c379e7616014ef6"/>
    <p:sldId xmlns:r="http://schemas.openxmlformats.org/officeDocument/2006/relationships" id="259" r:id="R75b6950ea38f4619"/>
    <p:sldId xmlns:r="http://schemas.openxmlformats.org/officeDocument/2006/relationships" id="260" r:id="Rc304c2f50ec94790"/>
    <p:sldId xmlns:r="http://schemas.openxmlformats.org/officeDocument/2006/relationships" id="261" r:id="Rc8fa9dbb8d894e31"/>
    <p:sldId xmlns:r="http://schemas.openxmlformats.org/officeDocument/2006/relationships" id="262" r:id="R4fd89c71c3ca4a23"/>
    <p:sldId xmlns:r="http://schemas.openxmlformats.org/officeDocument/2006/relationships" id="263" r:id="R08ed60c549c34f0d"/>
    <p:sldId xmlns:r="http://schemas.openxmlformats.org/officeDocument/2006/relationships" id="264" r:id="R3c38607a5d2548f6"/>
    <p:sldId xmlns:ns0="http://schemas.openxmlformats.org/officeDocument/2006/relationships" id="266" ns0:id="rId16"/>
    <p:sldId xmlns:r="http://schemas.openxmlformats.org/officeDocument/2006/relationships" id="265" r:id="Rcecb6e3d1b4949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ed60c549c34f0d" Type="http://schemas.openxmlformats.org/officeDocument/2006/relationships/slide" Target="slides/slide8.xml"/><Relationship Id="R0cfe6567100e486c" Type="http://schemas.openxmlformats.org/officeDocument/2006/relationships/slideMaster" Target="slideMasters/slideMaster1.xml"/><Relationship Id="R2c379e7616014ef6" Type="http://schemas.openxmlformats.org/officeDocument/2006/relationships/slide" Target="slides/slide3.xml"/><Relationship Id="R3c38607a5d2548f6" Type="http://schemas.openxmlformats.org/officeDocument/2006/relationships/slide" Target="slides/slide9.xml"/><Relationship Id="R4fd89c71c3ca4a23" Type="http://schemas.openxmlformats.org/officeDocument/2006/relationships/slide" Target="slides/slide7.xml"/><Relationship Id="R53526a4a107b4a28" Type="http://schemas.openxmlformats.org/officeDocument/2006/relationships/theme" Target="theme/theme1.xml"/><Relationship Id="R611b59193ece4123" Type="http://schemas.openxmlformats.org/officeDocument/2006/relationships/presProps" Target="presProps.xml"/><Relationship Id="R75b6950ea38f4619" Type="http://schemas.openxmlformats.org/officeDocument/2006/relationships/slide" Target="slides/slide4.xml"/><Relationship Id="R8e008ec0ad844815" Type="http://schemas.openxmlformats.org/officeDocument/2006/relationships/slide" Target="slides/slide1.xml"/><Relationship Id="Rb16060f429e04e2a" Type="http://schemas.openxmlformats.org/officeDocument/2006/relationships/notesMaster" Target="notesMasters/notesMaster1.xml"/><Relationship Id="Rc304c2f50ec94790" Type="http://schemas.openxmlformats.org/officeDocument/2006/relationships/slide" Target="slides/slide5.xml"/><Relationship Id="Rc342fd37abfa4594" Type="http://schemas.openxmlformats.org/officeDocument/2006/relationships/slide" Target="slides/slide2.xml"/><Relationship Id="Rc8fa9dbb8d894e31" Type="http://schemas.openxmlformats.org/officeDocument/2006/relationships/slide" Target="slides/slide6.xml"/><Relationship Id="Rcecb6e3d1b4949e8" Type="http://schemas.openxmlformats.org/officeDocument/2006/relationships/slide" Target="slides/slide10.xml"/><Relationship Id="Rf239934886a4452c" Type="http://schemas.openxmlformats.org/officeDocument/2006/relationships/tableStyles" Target="tableStyles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43540fad212d410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IAL-ALERT">
  <a:themeElements>
    <a:clrScheme name="DIAL-ALER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IAL-ALE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945635b311849df" Type="http://schemas.openxmlformats.org/officeDocument/2006/relationships/notesMaster" Target="../notesMasters/notesMaster1.xml"/><Relationship Id="Raf5b971aef6d431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e216801457148ad" Type="http://schemas.openxmlformats.org/officeDocument/2006/relationships/notesMaster" Target="../notesMasters/notesMaster1.xml"/><Relationship Id="R25ae05f14c6c4e8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ef5bac33a484510" Type="http://schemas.openxmlformats.org/officeDocument/2006/relationships/notesMaster" Target="../notesMasters/notesMaster1.xml"/><Relationship Id="Rbe8c6765be314fc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70d61da6ceb4e46" Type="http://schemas.openxmlformats.org/officeDocument/2006/relationships/notesMaster" Target="../notesMasters/notesMaster1.xml"/><Relationship Id="R4aaa61fb6795483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07555ca08de4fff" Type="http://schemas.openxmlformats.org/officeDocument/2006/relationships/slide" Target="../slides/slide5.xml"/><Relationship Id="R343d5de66919481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7dbd2d624814568" Type="http://schemas.openxmlformats.org/officeDocument/2006/relationships/slide" Target="../slides/slide6.xml"/><Relationship Id="R8ac971a495234bd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c8c2817b24f4721" Type="http://schemas.openxmlformats.org/officeDocument/2006/relationships/slide" Target="../slides/slide7.xml"/><Relationship Id="Ra869cfe000da404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0989386968c445d" Type="http://schemas.openxmlformats.org/officeDocument/2006/relationships/slide" Target="../slides/slide8.xml"/><Relationship Id="R369881751ef54c9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41b971fe9d44748" Type="http://schemas.openxmlformats.org/officeDocument/2006/relationships/slide" Target="../slides/slide9.xml"/><Relationship Id="R5873b454032a41af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9c0813ef3b7b4d03" Type="http://schemas.openxmlformats.org/officeDocument/2006/relationships/slide" Target="../slides/slide10.xml"/><Relationship Id="Rcf78afcb659b4bd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Frame DIAL-ALERT as a decision support research program, not a finished clinical product.</a:t>
            </a:r>
          </a:p>
          <a:p xmlns:a="http://schemas.openxmlformats.org/drawingml/2006/main">
            <a:r>
              <a:t>• The executive question is whether the evidence justifies a controlled local validation and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The 69.1% figure describes retrospective ranking at a fixed review capacity.</a:t>
            </a:r>
          </a:p>
          <a:p xmlns:a="http://schemas.openxmlformats.org/drawingml/2006/main">
            <a:r>
              <a:t>• It does not mean that 69.1% of events would be prevented.</a:t>
            </a:r>
          </a:p>
          <a:p xmlns:a="http://schemas.openxmlformats.org/drawingml/2006/main">
            <a:r>
              <a:t>• The requested decision is funding for evidence generation, not clinical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• Project artifact: artifacts/capacity_metrics.csv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DIAL-ALERT would create a review cue, not a diagnosis or treatment order.</a:t>
            </a:r>
          </a:p>
          <a:p xmlns:a="http://schemas.openxmlformats.org/drawingml/2006/main">
            <a:r>
              <a:t>• The pilot must measure how clinicians interpret, override, and act on the score.</a:t>
            </a:r>
          </a:p>
          <a:p xmlns:a="http://schemas.openxmlformats.org/drawingml/2006/main">
            <a:r>
              <a:t>• Integration should use the minimum necessary data and preserve an auditable human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The dataset is large enough to compare several tabular models and examine operational ranking.</a:t>
            </a:r>
          </a:p>
          <a:p xmlns:a="http://schemas.openxmlformats.org/drawingml/2006/main">
            <a:r>
              <a:t>• Generalisation remains uncertain because the data come from a single public retrospective source and only 170 patients form the test partition.</a:t>
            </a:r>
          </a:p>
          <a:p xmlns:a="http://schemas.openxmlformats.org/drawingml/2006/main">
            <a:r>
              <a:t>• The outcome is a blood-pressure threshold and does not include symptoms, interventions, or clinician assessments.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• Lin CJ et al. Scientific Data. 2019. https://doi.org/10.1038/s41597-019-0319-8</a:t>
            </a:r>
          </a:p>
          <a:p xmlns:a="http://schemas.openxmlformats.org/drawingml/2006/main">
            <a:r>
              <a:t>• Project report: reports/Franklin_Guillano_DIAL_ALERT_Data_Collection_and_Understanding_Report.pdf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Per 100 sessions, the model places approximately 5.9 of 8.5 observed events in the 20-session review group.</a:t>
            </a:r>
          </a:p>
          <a:p xmlns:a="http://schemas.openxmlformats.org/drawingml/2006/main">
            <a:r>
              <a:t>• The same review group contains approximately 14.1 sessions without the event, which creates staff workload and potential alert fatigue.</a:t>
            </a:r>
          </a:p>
          <a:p xmlns:a="http://schemas.openxmlformats.org/drawingml/2006/main">
            <a:r>
              <a:t>• A prospective study must determine whether review changes treatment safely and prevents meaningful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• Project artifacts: artifacts/capacity_metrics.csv and artifacts/final_test_metrics.json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No cost savings are claimed because the retrospective data contain neither intervention effects nor reliable cost data.</a:t>
            </a:r>
          </a:p>
          <a:p xmlns:a="http://schemas.openxmlformats.org/drawingml/2006/main">
            <a:r>
              <a:t>• The pilot should record alert review time, action, adverse consequences, and downstream events.</a:t>
            </a:r>
          </a:p>
          <a:p xmlns:a="http://schemas.openxmlformats.org/drawingml/2006/main">
            <a:r>
              <a:t>• The economic evaluation must compare DIAL-ALERT with current practice, including implementation and governance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Recorded sex shows a disparate-impact ratio of 0.705 and equalized-odds gap of 0.076 in the original model.</a:t>
            </a:r>
          </a:p>
          <a:p xmlns:a="http://schemas.openxmlformats.org/drawingml/2006/main">
            <a:r>
              <a:t>• Sex-outcome reweighting improves these summaries but does not eliminate disparity.</a:t>
            </a:r>
          </a:p>
          <a:p xmlns:a="http://schemas.openxmlformats.org/drawingml/2006/main">
            <a:r>
              <a:t>• Age-group disparate impact is 0.541. Diabetes selection rates are similar, but sensitivity differs.</a:t>
            </a:r>
          </a:p>
          <a:p xmlns:a="http://schemas.openxmlformats.org/drawingml/2006/main">
            <a:r>
              <a:t>• Unavailable attributes must be collected prospectively with consent and governance rather than inferred through proxies.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• Project artifacts: artifacts/step5_disparities.csv and artifacts/step5_attribute_availability.csv</a:t>
            </a:r>
          </a:p>
          <a:p xmlns:a="http://schemas.openxmlformats.org/drawingml/2006/main">
            <a:r>
              <a:t>• WHO. Ethics and governance of AI for health. 2021. https://www.who.int/publications/i/item/9789240029200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A model should not move to live alerts because a retrospective AUC appears strong.</a:t>
            </a:r>
          </a:p>
          <a:p xmlns:a="http://schemas.openxmlformats.org/drawingml/2006/main">
            <a:r>
              <a:t>• Each gate has evidence, ownership, and an explicit stop condition.</a:t>
            </a:r>
          </a:p>
          <a:p xmlns:a="http://schemas.openxmlformats.org/drawingml/2006/main">
            <a:r>
              <a:t>• The rollback plan should identify who disables the model, how clinicians are notified, and how affected decisions are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• Project artifact: artifacts/step5_ethical_risk_register.csv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The plan deliberately separates technical validation from clinical exposure.</a:t>
            </a:r>
          </a:p>
          <a:p xmlns:a="http://schemas.openxmlformats.org/drawingml/2006/main">
            <a:r>
              <a:t>• Silent mode shows whether data arrive on time and whether the score behaves as expected without creating patient risk.</a:t>
            </a:r>
          </a:p>
          <a:p xmlns:a="http://schemas.openxmlformats.org/drawingml/2006/main">
            <a:r>
              <a:t>• The supervised pilot begins only if external validity, operational feasibility, privacy, and equity gates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• Ask leaders to approve the evidence-generating pathway and named governance ownership.</a:t>
            </a:r>
          </a:p>
          <a:p xmlns:a="http://schemas.openxmlformats.org/drawingml/2006/main">
            <a:r>
              <a:t>• Do not frame the decision as approval of a clinical tool.</a:t>
            </a:r>
          </a:p>
          <a:p xmlns:a="http://schemas.openxmlformats.org/drawingml/2006/main">
            <a:r>
              <a:t>• The 90-day review should decide whether a larger prospective effectiveness study is justified.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f3f8616e45c41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de47790c1e54578" Type="http://schemas.openxmlformats.org/officeDocument/2006/relationships/slideLayout" Target="../slideLayouts/slideLayout1.xml"/><Relationship Id="Rf29ebaa163e846e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e47790c1e5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IAL-ALERT">
  <a:themeElements>
    <a:clrScheme name="DIAL-ALER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IAL-ALE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f549144569416e" Type="http://schemas.openxmlformats.org/officeDocument/2006/relationships/notesSlide" Target="../notesSlides/notesSlide1.xml"/><Relationship Id="R3eaa9dc55fdc422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c4b5b66a9534567" Type="http://schemas.openxmlformats.org/officeDocument/2006/relationships/notesSlide" Target="../notesSlides/notesSlide2.xml"/><Relationship Id="R5fd604f206fc48b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55c013b3ba3f4381" Type="http://schemas.openxmlformats.org/officeDocument/2006/relationships/slideLayout" Target="../slideLayouts/slideLayout1.xml"/><Relationship Id="Rfffee4e4738e4c4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92e52d54ea542b3" Type="http://schemas.openxmlformats.org/officeDocument/2006/relationships/image" Target="../media/image.png"/><Relationship Id="R203fdddd0a344654" Type="http://schemas.openxmlformats.org/officeDocument/2006/relationships/notesSlide" Target="../notesSlides/notesSlide4.xml"/><Relationship Id="Rf8fcb995548c40d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af4f07b38cf3416a" Type="http://schemas.openxmlformats.org/officeDocument/2006/relationships/chart" Target="charts/chart2.xml"/><Relationship Id="Rf15e55ce350f4074" Type="http://schemas.openxmlformats.org/officeDocument/2006/relationships/slideLayout" Target="../slideLayouts/slideLayout1.xml"/><Relationship Id="Rf3fb530cc62a4a28" Type="http://schemas.openxmlformats.org/officeDocument/2006/relationships/chart" Target="charts/chart1.xml"/><Relationship Id="Rfd603fa127624bf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95d54ce2b5e48be" Type="http://schemas.openxmlformats.org/officeDocument/2006/relationships/slideLayout" Target="../slideLayouts/slideLayout1.xml"/><Relationship Id="Ree72148f3aec4c4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66e19e1214b4205" Type="http://schemas.openxmlformats.org/officeDocument/2006/relationships/slideLayout" Target="../slideLayouts/slideLayout1.xml"/><Relationship Id="R6de58cb279214e03" Type="http://schemas.openxmlformats.org/officeDocument/2006/relationships/image" Target="../media/image2.png"/><Relationship Id="R7083559b8a1346d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7727ffcfb6c4e3d" Type="http://schemas.openxmlformats.org/officeDocument/2006/relationships/notesSlide" Target="../notesSlides/notesSlide8.xml"/><Relationship Id="Rc5a0d9a346b94769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7b0cbd13c394a9f" Type="http://schemas.openxmlformats.org/officeDocument/2006/relationships/slideLayout" Target="../slideLayouts/slideLayout1.xml"/><Relationship Id="Rbf24af258774451a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9f4443600184c67" Type="http://schemas.openxmlformats.org/officeDocument/2006/relationships/notesSlide" Target="../notesSlides/notesSlide10.xml"/><Relationship Id="Rbed06d9ddf7e471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Observed events</c:v>
          </c:tx>
          <c:dPt>
            <c:idx val="0"/>
            <c:spPr>
              <a:solidFill xmlns:a="http://schemas.openxmlformats.org/drawingml/2006/main">
                <a:srgbClr val="2A9D8F"/>
              </a:solidFill>
            </c:spPr>
          </c:dPt>
          <c:dPt>
            <c:idx val="1"/>
            <c:spPr>
              <a:solidFill xmlns:a="http://schemas.openxmlformats.org/drawingml/2006/main">
                <a:srgbClr val="D9E2EC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Captured in alert group</c:v>
                </c:pt>
                <c:pt idx="1">
                  <c:v>Outside alert group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5.87</c:v>
                </c:pt>
                <c:pt idx="1">
                  <c:v>2.62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02A43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2"/>
      </c:doughnutChart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43B53"/>
              </a:solidFill>
              <a:latin typeface="Nimbus Sans"/>
              <a:ea typeface="Nimbus Sans"/>
              <a:cs typeface="Nimbus Sans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Alert reviews</c:v>
          </c:tx>
          <c:dPt>
            <c:idx val="0"/>
            <c:spPr>
              <a:solidFill xmlns:a="http://schemas.openxmlformats.org/drawingml/2006/main">
                <a:srgbClr val="E76F51"/>
              </a:solidFill>
            </c:spPr>
          </c:dPt>
          <c:dPt>
            <c:idx val="1"/>
            <c:spPr>
              <a:solidFill xmlns:a="http://schemas.openxmlformats.org/drawingml/2006/main">
                <a:srgbClr val="E9C46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Observed event</c:v>
                </c:pt>
                <c:pt idx="1">
                  <c:v>No observed event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5.87</c:v>
                </c:pt>
                <c:pt idx="1">
                  <c:v>14.13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02A43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2"/>
      </c:doughnutChart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43B53"/>
              </a:solidFill>
              <a:latin typeface="Nimbus Sans"/>
              <a:ea typeface="Nimbus Sans"/>
              <a:cs typeface="Nimbus Sans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8686C-1600-4B64-B5F4-38356EE8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8A010-553B-463D-9161-72CC822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rPr>
              <a:t>EXECUTIVE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CB1C4-43EE-423B-8461-715D3D05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DIAL-ALERT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4F1C3-65A9-4D84-8C68-85469D43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904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A governed path to earlier review of</a:t>
            </a:r>
          </a:p>
          <a:p xmlns:a="http://schemas.openxmlformats.org/drawingml/2006/main">
            <a:pPr algn="l">
              <a:defRPr sz="2550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intradialytic hypotension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B7749-D882-446A-91C9-3CDAAEC4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98262-16B2-43F1-A35D-01733705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Franklin Guillano</a:t>
            </a:r>
          </a:p>
          <a:p xmlns:a="http://schemas.openxmlformats.org/drawingml/2006/main">
            <a:pPr algn="l">
              <a:def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Capstone Project, Step 6</a:t>
            </a:r>
          </a:p>
          <a:p xmlns:a="http://schemas.openxmlformats.org/drawingml/2006/main">
            <a:pPr algn="l">
              <a:def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64708-45A2-484B-8A2A-9D49CCF9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721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4A261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4A261"/>
                </a:solidFill>
                <a:latin typeface="Nimbus Sans"/>
                <a:ea typeface="Nimbus Sans"/>
                <a:cs typeface="Nimbus Sans"/>
              </a:rPr>
              <a:t>Decision brief: value, risk, and pilot 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A3928-BC60-4BA9-B630-192E5E7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52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79BCD-5F10-4327-B79B-B087009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rPr>
              <a:t>DIAL-ALERT business presentation  /  01</a:t>
            </a:r>
          </a:p>
        </p:txBody>
      </p:sp>
    </p:spTree>
    <p:extLst>
      <p:ext uri="{BB962C8B-B14F-4D97-AF65-F5344CB8AC3E}">
        <p14:creationId xmlns:p14="http://schemas.microsoft.com/office/powerpoint/2010/main" val="454105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55384-D7CC-48D9-86A0-FFEAFF58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F6C1E-E5B3-4D8D-8486-B59F0C40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The model concentrates risk, but deployment evidence is incomplete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B1EA3-7C46-4224-88F7-FFFEFDC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170 test patients; 20% capacity recall 95% CI 63.2% to 74.4%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7AAB9-6078-4B04-BC66-08633657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69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69.1%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4A054-8448-4E2A-850C-73003F8D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of observed events appear in the highest-risk 20% of sessions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02B97-ADF0-42FC-96CE-0F5B90C6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52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50885-CE86-4153-ADB7-AE69A545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29.4%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4453B-E6D1-48A7-B3CF-5A24D3FE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positive predictive value</a:t>
            </a:r>
          </a:p>
          <a:p xmlns:a="http://schemas.openxmlformats.org/drawingml/2006/main">
            <a:pPr algn="l">
              <a:def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at 20% review capacity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FA3F6-EC70-4F2E-A422-62653AF8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3.46×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00B57-7F63-4020-9B38-57CC2D77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lift over event prevalence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5C0F9-02E2-4F72-A07D-04DA4A44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52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3FAB4-5ED2-4102-88B2-DE4AB219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rPr>
              <a:t>Recommendation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78993-5827-4C95-B89F-BB2371BE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Approve external validation and a prospective silent mode study. Do not use DIAL-ALERT to guide treatment until clinical benefit, workflow safety, and subgroup performance are demonstrated locally.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971CB-85B1-4133-87B6-47A3C96E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52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AD916-8DD1-4CF8-A7BD-E1470C64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rPr>
              <a:t>DIAL-ALERT business presentation  /  02</a:t>
            </a:r>
          </a:p>
        </p:txBody>
      </p:sp>
    </p:spTree>
    <p:extLst>
      <p:ext uri="{BB962C8B-B14F-4D97-AF65-F5344CB8AC3E}">
        <p14:creationId xmlns:p14="http://schemas.microsoft.com/office/powerpoint/2010/main" val="1817989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375FCB-9051-4F35-8D89-44CE6FC8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FC3F9-111B-473E-BEE5-FFD10F76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DIAL-ALERT adds a review signal to the existing dialysis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152F7-9DA0-46B1-9C83-6BBD2710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The clinician retains responsibility for assessment and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678B2-058F-4AEC-80A0-B04C3845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28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5A04E-8C26-46B1-A2DA-4A498BE0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1E302-CAE6-4BF9-9D91-BB13E69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Session begins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BD1C3-F575-4C89-89EB-880EF1D2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047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Index data available within the first 30 minutes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3EE1B-AA16-497B-8513-6B2E9DFE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809750"/>
            <a:ext cx="2428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9E8F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FF392-894C-46D1-BEF0-6D3E999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278F0-86EB-43B8-A549-7660675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670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Risk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EC6D4-1134-47F7-B761-0FAE3F20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81350"/>
            <a:ext cx="2047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Model estimates later SBP below 90 mmHg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5EA61-97E3-4F25-B77F-D46E859F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428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E5C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BE872-C2FF-4A6C-9A37-7AB96116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9A916-02BE-48B5-BD4C-47A94DB9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Clinical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3FB3B-4722-404E-BA41-DB04C2C9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2047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Staff confirm context, symptoms, and current treatment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AAEA7-4FC7-4EE7-947F-FDA51C62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809750"/>
            <a:ext cx="2428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DDC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51388-889D-4A56-AF46-69991981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8A80C-DA2E-4315-8A9C-4AD06EDC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670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Usual protocol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5F7FC-DE51-420E-93D0-7124A77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81350"/>
            <a:ext cx="2047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Any action follows approved clinical policy</a:t>
            </a:r>
          </a:p>
        </p:txBody>
      </p: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8132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86450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915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1D499-D5F8-4B6D-9F1C-B5A8B0C8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5D219-6D0A-4375-B36C-F7D75ACC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Human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5DA148-AA93-4BC2-8426-FA089BFC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Decision support label, clinician override, reason for override, no autonomous prescription, and an audit trail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01006-F36F-4A24-98DC-37B9716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Proposed workflow for evaluation, not an approved clinical process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638A67-1E25-4CAE-8CE0-80334AE2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7ED3B-26A1-410E-A05F-6140759C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business presentation  /  03</a:t>
            </a:r>
          </a:p>
        </p:txBody>
      </p:sp>
    </p:spTree>
    <p:extLst>
      <p:ext uri="{BB962C8B-B14F-4D97-AF65-F5344CB8AC3E}">
        <p14:creationId xmlns:p14="http://schemas.microsoft.com/office/powerpoint/2010/main" val="1025238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88818-7AF2-4182-899A-757C8D2A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58A59-7F20-4ECC-9CD7-727D29F8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The evidence base is large by session count and narrow by setting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E078D-B95F-411E-8429-528C9BAB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Public HEMOBP data provide strong longitudinal depth from one retrospective source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e52d54ea542b3"/>
          <a:stretch xmlns:a="http://schemas.openxmlformats.org/drawingml/2006/main"/>
        </p:blipFill>
        <p:spPr>
          <a:xfrm xmlns:a="http://schemas.openxmlformats.org/drawingml/2006/main">
            <a:off x="514350" y="1751263"/>
            <a:ext cx="6572250" cy="370789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EF7ED-2FED-4A02-BD34-6E36ED5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28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106,758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E91C5-2417-438D-8EE7-EF47C3AA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eligible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8718F-7613-4217-8AED-FFFA792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830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25EF6-E2AE-4055-B9A7-5A27D89A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unique patients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E5546-15CA-43C1-8ECF-128E4F9F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8.49%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1F8DD-32A6-43DE-A7F0-062EEFDD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243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event prevalence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FC805-8A2E-407B-AF6F-86C83703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7A655-37E8-4E0F-AB92-B796D3DA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4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Test 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677BD-4A08-4404-94E9-79A9626C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911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21,354 sessions from 170 patients with zero overlap with development patients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E0BF3-0DBB-4439-979E-386331D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Source: HEMOBP v3 and DIAL-ALERT cohort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D70F0-9C68-4981-868E-05F73335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3B7CF-5E5D-4ECC-8DDF-7B5588DB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business presentation  /  04</a:t>
            </a:r>
          </a:p>
        </p:txBody>
      </p:sp>
    </p:spTree>
    <p:extLst>
      <p:ext uri="{BB962C8B-B14F-4D97-AF65-F5344CB8AC3E}">
        <p14:creationId xmlns:p14="http://schemas.microsoft.com/office/powerpoint/2010/main" val="876567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752AC-0014-4DB2-9989-2FD1343D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6DDD8-56A1-4928-8B4B-0D4A3462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At 20% review capacity, 5.9 observed events concentrate in the alert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D3178-AB05-4D45-86DA-F72932A5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Expected counts per 100 sessions in the internal test population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4762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fb530cc62a4a28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10375" y="1619250"/>
          <a:ext xmlns:a="http://schemas.openxmlformats.org/drawingml/2006/main" cx="4762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4f07b38cf3416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FE700-46B9-4B0E-9E71-05B45756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8.5 observed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F2E77-059D-4E78-827D-797CDF97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20 alert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210A7-7A32-4C6E-BCB2-7DECC201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rPr>
              <a:t>These counts describe retrospective concentration of events. They do not estimate events prevented by clinical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751A5-90CC-460B-BED4-FF2241E7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Calculated from 8.49% prevalence, 69.13% recall, and 20% review capacity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E89FF-66A3-41DE-B801-216FF5C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8C372-2360-4CE8-AF60-1051E106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business presentation  /  05</a:t>
            </a:r>
          </a:p>
        </p:txBody>
      </p:sp>
    </p:spTree>
    <p:extLst>
      <p:ext uri="{BB962C8B-B14F-4D97-AF65-F5344CB8AC3E}">
        <p14:creationId xmlns:p14="http://schemas.microsoft.com/office/powerpoint/2010/main" val="1388446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F8819-D6BB-47E8-899D-942CDB2B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B3602-0E34-4A7A-851A-68FB1E51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ROI depends on clinical effect, not model accuracy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FCAE9-6907-4260-9778-AAEB3DD7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The pilot should estimate benefits and costs before any investment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BA583-E307-4825-8588-1AB9E71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8F2F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F3497-658F-45F6-A5D1-1A110F70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764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Net value = events avoided × cost of an avoidable event − review labor − intervention cost − integration and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139C8-BA07-4EDC-82E9-5A524385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Benefit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114DA-3FD6-4326-B40E-35E3FAAE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BF7C5-917A-436D-B4D6-0A7489D5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Change in clinically meaningful IDH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7BB12-E935-472E-91BB-BD4C6F8D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EBDF8-A9B4-4156-83E4-723D1D23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Avoided treatment interruption or escalation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E2C61-919C-4B03-868F-6EC85AA6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3FA00-BE85-43F8-BAEE-337C98E3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Downstream utilisation linked to the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59373-E8E8-4093-81CB-2816CC84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BDFEC-4487-405E-9DAA-CEAA08A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Patient experience and recovery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32FF0-D94C-436B-A423-9597A738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48C6D-5F9D-4BC5-A7F7-14A1A014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Cost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46333-F731-401D-AB48-D12A5FA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9D8EB-9121-4982-A957-598B2D5A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Minutes of clinical review per alert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367D4-CA62-40E6-A313-C546120E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14775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821E6-EB73-4745-8CF9-5FA9B667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57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Action rate and unintended intervention burden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BCDA6-BE27-4D02-98A7-CF42EE2D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AB711-2CCB-4B46-8AB1-08A15794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Data integration, training, and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977EC-AFD7-4CAF-9552-8551D12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62525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AC1D9-0CAD-4A4A-8943-BBFFE43C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05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Ongoing monitoring, audit, and incident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B722B-F26B-43EE-882A-3228152A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6D297-CE07-4BF7-B199-FE8F9CC1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Break-even decision: proceed only when measured benefit exceeds the full operating cost at an acceptable safety and equity profile.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D339B-FFAF-4B2E-9F7B-32D6E0FE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4A598-063C-4D01-BCDA-B5C3733E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business presentation  /  06</a:t>
            </a:r>
          </a:p>
        </p:txBody>
      </p:sp>
    </p:spTree>
    <p:extLst>
      <p:ext uri="{BB962C8B-B14F-4D97-AF65-F5344CB8AC3E}">
        <p14:creationId xmlns:p14="http://schemas.microsoft.com/office/powerpoint/2010/main" val="1238003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D315E-78C5-4FE3-A7C7-D98A4A14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B3770-AFCC-4063-AB06-D58420A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The main risks are clinical, operational, and equity related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9914F-8D1D-4CD6-87C4-045B29AB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Fairness varies by metric and several protected attributes are unavailable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F768D-9621-4A6D-9435-F4C1F6DC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Risk 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299E6-7A8D-4762-A1FB-A338C9E7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BE4EE-CF31-48E4-BC3E-EFA867B0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Missed high-risk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EE5DA-6D34-4873-9C66-9C7ACED2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False negatives remain at every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36ADA-A043-46A4-9B1C-913B77C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067EA-B4B8-4975-9BF5-F9FA196B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Alert fatigue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93BD1-D212-4CA8-A97E-BA7AB612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20% capacity produces 14.1 false alerts per 100 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E8398-24C9-42AF-A342-5A9ADBE7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B103C-2922-4728-861C-572347A5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Unequal 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C2E79-3A24-47DB-846B-28FCC8C7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Recorded sex and age group gaps require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63D34-B196-47A3-8CA6-90959849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55E7B-5F89-4AA8-BBDA-760CFBB6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Automation and privacy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5C238-71C2-479A-B72A-76E1DF51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Human override and minimum necessary data are mandatory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66CED-F5D4-4A5B-94EE-FAB4DCE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81650"/>
            <a:ext cx="6858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E9E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F2F1F-BA86-45B0-B38D-B3AD42CC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rPr>
              <a:t>Race, ethnicity, socioeconomic status, and gender identity cannot be audited from the source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27438-A1A9-43BC-A740-86B40E11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Source: Step 5 ethical AI and bias 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51C57-D430-4E9E-82B0-C6EAA3C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261A2-1B20-4290-9D10-25126B7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business presentation  /  07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4937760" y="1645920"/>
            <a:ext cx="6126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300" b="1">
                <a:solidFill>
                  <a:srgbClr val="0E7C7B"/>
                </a:solidFill>
                <a:latin typeface="Nimbus Sans"/>
              </a:rPr>
              <a:t>Exploratory fairness audit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4937760" y="2286000"/>
            <a:ext cx="612648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300" b="0">
                <a:solidFill>
                  <a:srgbClr val="102A43"/>
                </a:solidFill>
                <a:latin typeface="Nimbus Sans"/>
              </a:rPr>
              <a:t>Recorded-sex selection ratio: 0.705</a:t>
            </a:r>
            <a:br/>
            <a:r>
              <a:rPr sz="2300" b="0">
                <a:solidFill>
                  <a:srgbClr val="102A43"/>
                </a:solidFill>
                <a:latin typeface="Nimbus Sans"/>
              </a:rPr>
              <a:t>Reweighting candidate: 0.764</a:t>
            </a:r>
            <a:br/>
            <a:r>
              <a:rPr sz="2300" b="0">
                <a:solidFill>
                  <a:srgbClr val="102A43"/>
                </a:solidFill>
                <a:latin typeface="Nimbus Sans"/>
              </a:rPr>
              <a:t>Age-group selection ratio: 0.541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4937760" y="4114800"/>
            <a:ext cx="585216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102A43"/>
                </a:solidFill>
                <a:latin typeface="Nimbus Sans"/>
              </a:rPr>
              <a:t>Confirm on fresh patients before adopting mitigation.</a:t>
            </a:r>
          </a:p>
        </p:txBody>
      </p:sp>
    </p:spTree>
    <p:extLst>
      <p:ext uri="{BB962C8B-B14F-4D97-AF65-F5344CB8AC3E}">
        <p14:creationId xmlns:p14="http://schemas.microsoft.com/office/powerpoint/2010/main" val="1239906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95FBE0-A1AB-4496-AEB6-E63848E1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CC68B-F807-43E1-A6F8-A0D4B083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Governance controls must precede live alerts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9B891-8266-4CFB-8C50-7C2A1C5F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Each gate requires documented evidence and an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92CCC-73E8-4598-B739-CA78914A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EC87E-5DFB-4EBB-A94F-2D16F126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859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Evidence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A9AE6-6AE8-441F-A808-28B37D23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859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Accountable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D1CB5-84F5-4CD2-A3E3-04A265B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A9C67-1DBF-4FB9-B171-36D16BDC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06C18-AF64-4FD1-B7AA-A06B9A5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8595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External validity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C3055-36DB-4E40-AFF2-422E5BAE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859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Performance and calibration on current local patients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029C2-D13A-4837-B663-5C77DF0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Clinical analytics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E5B9A-355E-4F7D-AB3F-EEDA4B3B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793FD-FD1C-40CA-B276-0065655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80115-EF71-4459-9617-7922D946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Silent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964CD-1240-4CD7-B9F9-BD54CFB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Alert volume, timing, data quality, and drift without influencing care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0E8F-628A-488B-B52A-309697D2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05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Dialysis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CD3D4-D9CD-4B2A-AA7C-56B74FB1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5DD50-9C92-4DDE-87F7-2FA922F0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2EE59-103C-41E5-A4C5-FD70C785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Human factors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D63A0-48B6-49C6-B18F-CF426E1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242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Comprehension, overrides, action patterns, and automation bias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AACC1-C042-484D-AE02-74A1435D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Clinical safety lead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BFDC0-3702-4E80-8A53-B55D7C3E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35A59-7843-4854-8F92-2988AEA7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0DE9E-EBE0-4106-BD6E-834F129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Equity and privacy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C7C83-FDD9-4F22-9FB9-F2E1184D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434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Subgroup errors, broader attributes, access controls, and retention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F4245-85FD-45EE-8A4C-607DF810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434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Governance 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A8558A-6E75-40C2-9595-5A343AEA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09970-708B-4A91-AFCF-6BACAF41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47625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4B0A0A-EFC4-4067-9E2C-B523969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6255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Monitoring and rollback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31B926-E6BE-49BA-A078-ECAE30AD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625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Thresholds for drift, harm, downtime, and model withdrawal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58718C-0F48-452B-BE83-4781CB90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62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Model owner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00AB9-3D97-4D23-98D3-1872330A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Governance position from the Step 5 ethical risk register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806194-3B75-401A-BE84-C072458C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DDD657-733C-4679-8F3D-FDEAFB9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business presentation  /  08</a:t>
            </a:r>
          </a:p>
        </p:txBody>
      </p:sp>
    </p:spTree>
    <p:extLst>
      <p:ext uri="{BB962C8B-B14F-4D97-AF65-F5344CB8AC3E}">
        <p14:creationId xmlns:p14="http://schemas.microsoft.com/office/powerpoint/2010/main" val="1576508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BC197-957D-4EFB-AC32-84909A5E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03339-2F73-42A6-ADE5-66859832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 staged pilot should assess feasibility and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B2A02-6FC7-4B06-9BC0-FC0EAF75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Illustrative timing; progression requires evidence and safety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1F170-7B22-44A3-88D5-42C6157B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476625" cy="40386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8F2F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1FC47-F6E4-41A2-BFEC-5FC93144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Weeks 0–4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438CB-02E4-4F8E-ADD3-B6EDA0CC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Local retrospective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9D25F-48BD-40E6-9F42-529533C1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84D94-1C3D-473F-ACFD-C78E86D0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Rebuild features, check data quality, assess calibration, capacity, subgroups, and missingness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E2626-49AD-4A80-AB3D-6AA4BC6A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87D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87D5A"/>
                </a:solidFill>
                <a:latin typeface="Nimbus Sans"/>
                <a:ea typeface="Nimbus Sans"/>
                <a:cs typeface="Nimbus Sans"/>
              </a:rPr>
              <a:t>Gate: model and data fit for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0F53C-2F66-477A-B7AC-59F8915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00200"/>
            <a:ext cx="3476625" cy="40386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6A8ED-7169-465E-A4A9-8E4541D0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Weeks 5–8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0EB36-3F50-4D10-AD24-07C2EFFB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0505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Prospective silent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11AFF-B9F2-40ED-81A1-F65822A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051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2797E-207A-46EE-A4D2-1B3DCBE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33750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Generate scores without showing clinicians. Measure volume, latency, drift, and workflow timing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81E33-9A08-483A-B5F2-396478D8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768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87D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87D5A"/>
                </a:solidFill>
                <a:latin typeface="Nimbus Sans"/>
                <a:ea typeface="Nimbus Sans"/>
                <a:cs typeface="Nimbus Sans"/>
              </a:rPr>
              <a:t>Gate: technically reliable and operationally feasible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2EC49-D94C-4017-8AE6-276A637E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3476625" cy="40386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E8D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75435-83F4-41CB-99CC-943B439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Weeks 9–12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E1036-20A4-413C-92E8-156385D2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Supervised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91BF7-DF41-4B1D-89E0-F97552A2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A6AA8-AC92-451A-A3CA-80B937E0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Show alerts only if prior gates pass. Record review time, action, overrides, safety, and patient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AF7F7-116D-41BE-AB59-3777CA71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rPr>
              <a:t>Gate: feasibility supports a larger study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739DF-D092-4A04-8810-727DAED7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Pre-register performance, workload, equity, and safety criteria before the pilot begins.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6A1DA-2EA8-46EF-9A25-FB253F71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42C59D-CBD6-4FBD-922B-FC2B276A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business presentation  /  09</a:t>
            </a:r>
          </a:p>
        </p:txBody>
      </p:sp>
    </p:spTree>
    <p:extLst>
      <p:ext uri="{BB962C8B-B14F-4D97-AF65-F5344CB8AC3E}">
        <p14:creationId xmlns:p14="http://schemas.microsoft.com/office/powerpoint/2010/main" val="4999032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C7F00F-3193-4322-AD99-0B070520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70D49-1B42-42AF-B3F8-A8D1F06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Decision requested: approve validation, not clinical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90803-1C87-4B22-A7C1-2CC787C8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6775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The next investment should reduce uncertainty before introducing live alerts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EED8C-E688-4DF4-AFC6-3B6D5BD8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A9D8F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 i="0">
                <a:solidFill>
                  <a:srgbClr val="2A9D8F"/>
                </a:solidFill>
                <a:latin typeface="Nimbus Sans"/>
                <a:ea typeface="Nimbus Sans"/>
                <a:cs typeface="Nimbus Sans"/>
              </a:rPr>
              <a:t>Approve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F261A-1983-4D2E-9314-5A201195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3E973-F856-48F6-95EA-378035CC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812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 local data and validation partner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F9C28-6FEC-483B-AD7C-2E76B026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9D64-6F40-4C7A-9298-4BAAAE79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17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Clinical, informatics, privacy, and equity owners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7687D-8948-4C31-B4E6-DF169C22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094B8-F975-4C83-96CA-A8A936F7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 prospective silent mode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37BE1-BA61-4046-8171-9945D4A4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D9DA7-99FA-47FA-A68B-EAD596E9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 predefined go or stop review at 90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D8B3B-096E-486D-B57E-6F70ABD3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52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7C2A9-040B-456C-A81C-ADB62D31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A26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 i="0">
                <a:solidFill>
                  <a:srgbClr val="F4A261"/>
                </a:solidFill>
                <a:latin typeface="Nimbus Sans"/>
                <a:ea typeface="Nimbus Sans"/>
                <a:cs typeface="Nimbus Sans"/>
              </a:rPr>
              <a:t>Stop if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E4D02-FC59-4E91-94A5-953BC8D5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383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005AB-0C3E-4A7B-AA2D-A66CA430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812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Performance does not transport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10028-4804-4E1A-8149-B0227B48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289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BDF33-EC91-46B6-BDC4-A5F99BC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717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Alert burden exceeds safe staffing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E9FD6-B162-44A9-AFC4-256841B0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194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5D1AB-134D-4EB1-A0F6-51FEB1B9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623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Subgroup error or calibration gaps are unacceptable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6D400-1CD7-4D5C-B064-95A6EBBD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00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35517-6FBE-4231-95D2-464B9E6F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52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Clinician behavior creates new safety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7D36E2-BFC1-4B0B-8A09-484D1B63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52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66FC0A-E9CD-4FAA-93D6-1C68BC0C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rPr>
              <a:t>Until these gates are met, DIAL-ALERT remains an academic decision support prototype and must not determine treatment.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99015-AC7A-479D-A76F-1C24067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52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19487-FE7A-4B67-BE72-B24148A1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rPr>
              <a:t>DIAL-ALERT business presentation  /  11</a:t>
            </a:r>
          </a:p>
        </p:txBody>
      </p:sp>
    </p:spTree>
    <p:extLst>
      <p:ext uri="{BB962C8B-B14F-4D97-AF65-F5344CB8AC3E}">
        <p14:creationId xmlns:p14="http://schemas.microsoft.com/office/powerpoint/2010/main" val="697142995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10698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900" b="1">
                <a:solidFill>
                  <a:srgbClr val="102A43"/>
                </a:solidFill>
                <a:latin typeface="Nimbus Sans"/>
              </a:rPr>
              <a:t>Proposed pilot targets are not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>
                <a:solidFill>
                  <a:srgbClr val="627D98"/>
                </a:solidFill>
                <a:latin typeface="Nimbus Sans"/>
              </a:rPr>
              <a:t>Prespecify one alert policy and local safety stopping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Event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2199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At least 65% of later SBP-below-90 events detected in eligible sessions.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False-alert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No more than 15 false alerts per 100 eligible sessions.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Review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5663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Median at most 2 minutes per displayed alert. Measure outcomes and full costs before claiming benefit.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627D98"/>
                </a:solidFill>
                <a:latin typeface="Nimbus Sans"/>
              </a:rPr>
              <a:t>DIAL-ALERT | Academic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L-ALERT">
  <a:themeElements>
    <a:clrScheme name="DIAL-ALER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IAL-ALE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PowerPoint</ap:Application>
  <ap:PresentationFormat>On-screen Show (16:9)</ap:PresentationFormat>
  <ap:Slides>10</ap:Slides>
  <ap:Notes>10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Franklin B. Guillano</dc:creator>
  <cp:lastModifiedBy>Franklin B. Guillano</cp:lastModifiedBy>
  <dc:title>DIAL-ALERT Business Presentation</dc:title>
  <dcterms:created xsi:type="dcterms:W3CDTF">2026-09-17T00:00:00Z</dcterms:created>
  <dcterms:modified xsi:type="dcterms:W3CDTF">2026-09-17T00:00:00Z</dcterms:modified>
</cp:coreProperties>
</file>