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Records</c:v>
          </c:tx>
          <c:spPr>
            <a:solidFill>
              <a:srgbClr val="0E7C7B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765A9E"/>
              </a:solidFill>
            </c:spPr>
            <c:extLst>
              <c:ext xmlns:c16="http://schemas.microsoft.com/office/drawing/2014/chart" uri="{C3380CC4-5D6E-409C-BE32-E72D297353CC}">
                <c16:uniqueId val="{00000001-ECD0-0948-B144-B7124EDE0716}"/>
              </c:ext>
            </c:extLst>
          </c:dPt>
          <c:dPt>
            <c:idx val="1"/>
            <c:invertIfNegative val="0"/>
            <c:bubble3D val="0"/>
            <c:spPr>
              <a:solidFill>
                <a:srgbClr val="F4A261"/>
              </a:solidFill>
            </c:spPr>
            <c:extLst>
              <c:ext xmlns:c16="http://schemas.microsoft.com/office/drawing/2014/chart" uri="{C3380CC4-5D6E-409C-BE32-E72D297353CC}">
                <c16:uniqueId val="{00000003-ECD0-0948-B144-B7124EDE0716}"/>
              </c:ext>
            </c:extLst>
          </c:dPt>
          <c:dPt>
            <c:idx val="2"/>
            <c:invertIfNegative val="0"/>
            <c:bubble3D val="0"/>
            <c:spPr>
              <a:solidFill>
                <a:srgbClr val="243B53"/>
              </a:solidFill>
            </c:spPr>
            <c:extLst>
              <c:ext xmlns:c16="http://schemas.microsoft.com/office/drawing/2014/chart" uri="{C3380CC4-5D6E-409C-BE32-E72D297353CC}">
                <c16:uniqueId val="{00000005-ECD0-0948-B144-B7124EDE0716}"/>
              </c:ext>
            </c:extLst>
          </c:dPt>
          <c:dPt>
            <c:idx val="3"/>
            <c:invertIfNegative val="0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07-ECD0-0948-B144-B7124EDE071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02A43"/>
                    </a:solidFill>
                    <a:latin typeface="Nimbus Sans"/>
                    <a:ea typeface="Nimbus Sans"/>
                    <a:cs typeface="Nimbus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Valid D1 patient-days</c:v>
                </c:pt>
                <c:pt idx="1">
                  <c:v>Linked to monitor data</c:v>
                </c:pt>
                <c:pt idx="2">
                  <c:v>Valid index record</c:v>
                </c:pt>
                <c:pt idx="3">
                  <c:v>Final eligible sessions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165849</c:v>
                </c:pt>
                <c:pt idx="1">
                  <c:v>110790</c:v>
                </c:pt>
                <c:pt idx="2">
                  <c:v>108781</c:v>
                </c:pt>
                <c:pt idx="3">
                  <c:v>106758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ECD0-0948-B144-B7124EDE071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#,##0" sourceLinked="1"/>
        <c:majorTickMark val="none"/>
        <c:minorTickMark val="none"/>
        <c:tickLblPos val="none"/>
        <c:spPr>
          <a:ln w="0">
            <a:noFill/>
          </a:ln>
        </c:spPr>
        <c:txPr>
          <a:bodyPr anchorCtr="1"/>
          <a:lstStyle/>
          <a:p>
            <a:pPr>
              <a:defRPr sz="1275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7F5E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7F5E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Grouped-CV AP</c:v>
          </c:tx>
          <c:spPr>
            <a:solidFill>
              <a:srgbClr val="243B53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765A9E"/>
              </a:solidFill>
            </c:spPr>
            <c:extLst>
              <c:ext xmlns:c16="http://schemas.microsoft.com/office/drawing/2014/chart" uri="{C3380CC4-5D6E-409C-BE32-E72D297353CC}">
                <c16:uniqueId val="{00000001-68BD-7D43-BA15-E36E70962F3A}"/>
              </c:ext>
            </c:extLst>
          </c:dPt>
          <c:dPt>
            <c:idx val="1"/>
            <c:invertIfNegative val="0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03-68BD-7D43-BA15-E36E70962F3A}"/>
              </c:ext>
            </c:extLst>
          </c:dPt>
          <c:dPt>
            <c:idx val="6"/>
            <c:invertIfNegative val="0"/>
            <c:bubble3D val="0"/>
            <c:spPr>
              <a:solidFill>
                <a:srgbClr val="95A4B3"/>
              </a:solidFill>
            </c:spPr>
            <c:extLst>
              <c:ext xmlns:c16="http://schemas.microsoft.com/office/drawing/2014/chart" uri="{C3380CC4-5D6E-409C-BE32-E72D297353CC}">
                <c16:uniqueId val="{00000005-68BD-7D43-BA15-E36E70962F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102A43"/>
                    </a:solidFill>
                    <a:latin typeface="Nimbus Sans"/>
                    <a:ea typeface="Nimbus Sans"/>
                    <a:cs typeface="Nimbus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Data'!$A$2:$A$8</c:f>
              <c:strCache>
                <c:ptCount val="7"/>
                <c:pt idx="0">
                  <c:v>Hist. gradient boosting</c:v>
                </c:pt>
                <c:pt idx="1">
                  <c:v>Random forest</c:v>
                </c:pt>
                <c:pt idx="2">
                  <c:v>Logistic regression</c:v>
                </c:pt>
                <c:pt idx="3">
                  <c:v>PCA logistic regression</c:v>
                </c:pt>
                <c:pt idx="4">
                  <c:v>L1 feature selection</c:v>
                </c:pt>
                <c:pt idx="5">
                  <c:v>Decision tree</c:v>
                </c:pt>
                <c:pt idx="6">
                  <c:v>Prevalence baseline</c:v>
                </c:pt>
              </c:strCache>
            </c:strRef>
          </c:cat>
          <c:val>
            <c:numRef>
              <c:f>'Chart Data'!$B$2:$B$8</c:f>
              <c:numCache>
                <c:formatCode>0.000</c:formatCode>
                <c:ptCount val="7"/>
                <c:pt idx="0">
                  <c:v>0.44588499999999998</c:v>
                </c:pt>
                <c:pt idx="1">
                  <c:v>0.44044699999999998</c:v>
                </c:pt>
                <c:pt idx="2">
                  <c:v>0.41858000000000001</c:v>
                </c:pt>
                <c:pt idx="3">
                  <c:v>0.40978799999999999</c:v>
                </c:pt>
                <c:pt idx="4">
                  <c:v>0.40369100000000002</c:v>
                </c:pt>
                <c:pt idx="5">
                  <c:v>0.38818900000000001</c:v>
                </c:pt>
                <c:pt idx="6">
                  <c:v>8.4930000000000005E-2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68BD-7D43-BA15-E36E70962F3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9E2EC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</a:ln>
        </c:spPr>
        <c:txPr>
          <a:bodyPr anchorCtr="1"/>
          <a:lstStyle/>
          <a:p>
            <a:pPr>
              <a:defRPr sz="1125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.00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0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7F5E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7F5EF"/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Observed events captured</c:v>
          </c:tx>
          <c:spPr>
            <a:ln w="38100">
              <a:solidFill>
                <a:srgbClr val="0E7C7B"/>
              </a:solidFill>
              <a:prstDash val="solid"/>
            </a:ln>
          </c:spPr>
          <c:marker>
            <c:symbol val="circle"/>
            <c:size val="8"/>
            <c:spPr>
              <a:solidFill>
                <a:srgbClr val="0E7C7B"/>
              </a:solidFill>
            </c:spPr>
          </c:marker>
          <c:cat>
            <c:numRef>
              <c:f>'Chart Data'!$A$2:$A$11</c:f>
              <c:numCache>
                <c:formatCode>General</c:formatCode>
                <c:ptCount val="10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</c:numCache>
            </c:numRef>
          </c:cat>
          <c:val>
            <c:numRef>
              <c:f>'Chart Data'!$B$2:$B$11</c:f>
              <c:numCache>
                <c:formatCode>0%</c:formatCode>
                <c:ptCount val="10"/>
                <c:pt idx="0">
                  <c:v>0.29930000000000001</c:v>
                </c:pt>
                <c:pt idx="1">
                  <c:v>0.48070000000000002</c:v>
                </c:pt>
                <c:pt idx="2">
                  <c:v>0.60640000000000005</c:v>
                </c:pt>
                <c:pt idx="3">
                  <c:v>0.69130000000000003</c:v>
                </c:pt>
                <c:pt idx="4">
                  <c:v>0.75800000000000001</c:v>
                </c:pt>
                <c:pt idx="5">
                  <c:v>0.80259999999999998</c:v>
                </c:pt>
                <c:pt idx="6">
                  <c:v>0.83960000000000001</c:v>
                </c:pt>
                <c:pt idx="7">
                  <c:v>0.87209999999999999</c:v>
                </c:pt>
                <c:pt idx="8">
                  <c:v>0.89690000000000003</c:v>
                </c:pt>
                <c:pt idx="9">
                  <c:v>0.9173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3FD-7341-86B6-B89B7844E7A1}"/>
            </c:ext>
          </c:extLst>
        </c:ser>
        <c:ser>
          <c:idx val="1"/>
          <c:order val="1"/>
          <c:tx>
            <c:v>Positive predictive value</c:v>
          </c:tx>
          <c:spPr>
            <a:ln w="38100">
              <a:solidFill>
                <a:srgbClr val="E76F51"/>
              </a:solidFill>
              <a:prstDash val="solid"/>
            </a:ln>
          </c:spPr>
          <c:marker>
            <c:symbol val="square"/>
            <c:size val="8"/>
            <c:spPr>
              <a:solidFill>
                <a:srgbClr val="E76F51"/>
              </a:solidFill>
            </c:spPr>
          </c:marker>
          <c:cat>
            <c:numRef>
              <c:f>'Chart Data'!$C$2:$C$11</c:f>
              <c:numCache>
                <c:formatCode>General</c:formatCode>
                <c:ptCount val="10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</c:numCache>
            </c:numRef>
          </c:cat>
          <c:val>
            <c:numRef>
              <c:f>'Chart Data'!$D$2:$D$11</c:f>
              <c:numCache>
                <c:formatCode>0%</c:formatCode>
                <c:ptCount val="10"/>
                <c:pt idx="0">
                  <c:v>0.50839999999999996</c:v>
                </c:pt>
                <c:pt idx="1">
                  <c:v>0.40820000000000001</c:v>
                </c:pt>
                <c:pt idx="2">
                  <c:v>0.34329999999999999</c:v>
                </c:pt>
                <c:pt idx="3">
                  <c:v>0.29360000000000003</c:v>
                </c:pt>
                <c:pt idx="4">
                  <c:v>0.25750000000000001</c:v>
                </c:pt>
                <c:pt idx="5">
                  <c:v>0.2273</c:v>
                </c:pt>
                <c:pt idx="6">
                  <c:v>0.20380000000000001</c:v>
                </c:pt>
                <c:pt idx="7">
                  <c:v>0.1852</c:v>
                </c:pt>
                <c:pt idx="8">
                  <c:v>0.16930000000000001</c:v>
                </c:pt>
                <c:pt idx="9">
                  <c:v>0.15579999999999999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3FD-7341-86B6-B89B7844E7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latin typeface="Nimbus Sans"/>
                    <a:ea typeface="Nimbus Sans"/>
                    <a:cs typeface="Nimbus Sans"/>
                  </a:rPr>
                  <a:t>Sessions selected for review (%)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</a:ln>
        </c:spPr>
        <c:txPr>
          <a:bodyPr anchorCtr="1"/>
          <a:lstStyle/>
          <a:p>
            <a:pPr>
              <a:defRPr sz="105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9E2EC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9E2EC"/>
            </a:solidFill>
          </a:ln>
        </c:spPr>
        <c:txPr>
          <a:bodyPr anchorCtr="1"/>
          <a:lstStyle/>
          <a:p>
            <a:pPr>
              <a:defRPr sz="105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endParaRPr lang="en-US"/>
          </a:p>
        </c:txPr>
        <c:crossAx val="48650112"/>
        <c:crosses val="autoZero"/>
        <c:crossBetween val="between"/>
        <c:majorUnit val="0.2"/>
      </c:valAx>
      <c:spPr>
        <a:solidFill>
          <a:srgbClr val="F7F5E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243B53"/>
              </a:solidFill>
              <a:latin typeface="Nimbus Sans"/>
              <a:ea typeface="Nimbus Sans"/>
              <a:cs typeface="Nimbus Sans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7F5E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 notes</a:t>
            </a:r>
          </a:p>
          <a:p>
            <a:r>
              <a:t>• Open with the prediction question and emphasize that this is a retrospective academic prototype.</a:t>
            </a:r>
          </a:p>
          <a:p>
            <a:r>
              <a:t>• The presentation follows the complete machine-learning lifecycle from data construction to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 notes</a:t>
            </a:r>
          </a:p>
          <a:p>
            <a:r>
              <a:t>• Average precision is the primary ranking metric because only about 8.5% of sessions meet the event definition.</a:t>
            </a:r>
          </a:p>
          <a:p>
            <a:r>
              <a:t>• Business utility is assessed as event recall, positive predictive value, lift, and false alerts at a fixed review capacity.</a:t>
            </a:r>
          </a:p>
          <a:p>
            <a:r>
              <a:t>• The target is a blood-pressure event, not a complete clinical diagnosis because symptoms and treatments are unavailable.</a:t>
            </a:r>
          </a:p>
          <a:p>
            <a:endParaRPr/>
          </a:p>
          <a:p>
            <a:r>
              <a:t>Sources</a:t>
            </a:r>
          </a:p>
          <a:p>
            <a:r>
              <a:t>• DIAL-ALERT Step 2 report and Step 4 model report.</a:t>
            </a:r>
          </a:p>
          <a:p>
            <a:r>
              <a:t>• Saito T, Rehmsmeier M. PLoS ONE. 2015. https://doi.org/10.1371/journal.pone.0118432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 notes</a:t>
            </a:r>
          </a:p>
          <a:p>
            <a:r>
              <a:t>• The analytic unit is a session, while the effective independent sample is the patient.</a:t>
            </a:r>
          </a:p>
          <a:p>
            <a:r>
              <a:t>• The public files contain 1,072 patient rows, compared with 1,075 reported in the source paper. All analyses use the observed release and disclose the difference.</a:t>
            </a:r>
          </a:p>
          <a:p>
            <a:r>
              <a:t>• Cohort restrictions improve target validity but may introduce selection bias.</a:t>
            </a:r>
          </a:p>
          <a:p>
            <a:endParaRPr/>
          </a:p>
          <a:p>
            <a:r>
              <a:t>Sources</a:t>
            </a:r>
          </a:p>
          <a:p>
            <a:r>
              <a:t>• Lin CJ et al. Scientific Data. 2019. https://doi.org/10.1038/s41597-019-0319-8</a:t>
            </a:r>
          </a:p>
          <a:p>
            <a:r>
              <a:t>• HEMOBP v3. https://doi.org/10.6084/m9.figshare.6260654.v3</a:t>
            </a:r>
          </a:p>
          <a:p>
            <a:r>
              <a:t>• Project report: reports/Franklin_Guillano_DIAL_ALERT_Data_Collection_and_Understanding_Report.pdf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 notes</a:t>
            </a:r>
          </a:p>
          <a:p>
            <a:r>
              <a:t>• The earliest valid active-treatment record within 30 minutes forms the prediction index.</a:t>
            </a:r>
          </a:p>
          <a:p>
            <a:r>
              <a:t>• Sessions already below 90 mmHg at the index time are excluded.</a:t>
            </a:r>
          </a:p>
          <a:p>
            <a:r>
              <a:t>• Missing values enter model pipelines through median and most-frequent imputation. Unusual but plausible values remain after explicit range checks.</a:t>
            </a:r>
          </a:p>
          <a:p>
            <a:endParaRPr/>
          </a:p>
          <a:p>
            <a:r>
              <a:t>Sources</a:t>
            </a:r>
          </a:p>
          <a:p>
            <a:r>
              <a:t>• Project files: docs/preprocessing_specification.csv and docs/feature_engineering_dictionary.csv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 notes</a:t>
            </a:r>
          </a:p>
          <a:p>
            <a:r>
              <a:t>• Patient-disjoint splitting is the central protection against repeated-measures leakage.</a:t>
            </a:r>
          </a:p>
          <a:p>
            <a:r>
              <a:t>• The validation set handles calibration and threshold choice. The test set remains untouched until the final evaluation.</a:t>
            </a:r>
          </a:p>
          <a:p>
            <a:r>
              <a:t>• Bootstrap resampling occurs at the patient level to preserve within-patient dependence.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 notes</a:t>
            </a:r>
          </a:p>
          <a:p>
            <a:r>
              <a:t>• Seven configurations include linear, tree, boosted, PCA, embedded-selection, and prevalence baselines.</a:t>
            </a:r>
          </a:p>
          <a:p>
            <a:r>
              <a:t>• The locked selection rule considers ranking first and probability quality when models are practically tied.</a:t>
            </a:r>
          </a:p>
          <a:p>
            <a:r>
              <a:t>• Deep learning was not justified for a compact tabular snapshot with only 830 independent patient groups.</a:t>
            </a:r>
          </a:p>
          <a:p>
            <a:endParaRPr/>
          </a:p>
          <a:p>
            <a:r>
              <a:t>Sources</a:t>
            </a:r>
          </a:p>
          <a:p>
            <a:r>
              <a:t>• Breiman L. Random Forests. Machine Learning. 2001. https://doi.org/10.1023/A:1010933404324</a:t>
            </a:r>
          </a:p>
          <a:p>
            <a:r>
              <a:t>• Project artifact: artifacts/model_comparison.csv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 notes</a:t>
            </a:r>
          </a:p>
          <a:p>
            <a:r>
              <a:t>• At the validation-selected threshold, the test set contains 1,199 true positives, 615 false negatives, 2,719 false positives, and 16,821 true negatives.</a:t>
            </a:r>
          </a:p>
          <a:p>
            <a:r>
              <a:t>• Average precision must be read against the 8.49% prevalence baseline.</a:t>
            </a:r>
          </a:p>
          <a:p>
            <a:r>
              <a:t>• Wide intervals reflect only 170 test patients despite the large number of sessions.</a:t>
            </a:r>
          </a:p>
          <a:p>
            <a:endParaRPr/>
          </a:p>
          <a:p>
            <a:r>
              <a:t>Sources</a:t>
            </a:r>
          </a:p>
          <a:p>
            <a:r>
              <a:t>• Project artifacts: artifacts/final_test_metrics.json and artifacts/test_metric_confidence_intervals.csv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 notes</a:t>
            </a:r>
          </a:p>
          <a:p>
            <a:r>
              <a:t>• The unit can choose review capacity based on staffing and the relative cost of missed events and false alerts.</a:t>
            </a:r>
          </a:p>
          <a:p>
            <a:r>
              <a:t>• At 20% capacity the model identifies about 69% of observed events, but most reviewed sessions do not have the event.</a:t>
            </a:r>
          </a:p>
          <a:p>
            <a:r>
              <a:t>• No clinical benefit follows automatically from ranking performance. A prospective intervention study is required.</a:t>
            </a:r>
          </a:p>
          <a:p>
            <a:endParaRPr/>
          </a:p>
          <a:p>
            <a:r>
              <a:t>Sources</a:t>
            </a:r>
          </a:p>
          <a:p>
            <a:r>
              <a:t>• Project artifact: artifacts/capacity_metrics.csv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 notes</a:t>
            </a:r>
          </a:p>
          <a:p>
            <a:r>
              <a:t>• Permutation importance, aggregate SHAP, and synthetic-profile dependence curves agree that prior instability and fluid status dominate the model.</a:t>
            </a:r>
          </a:p>
          <a:p>
            <a:r>
              <a:t>• The explanation describes the fitted model, not a causal mechanism.</a:t>
            </a:r>
          </a:p>
          <a:p>
            <a:r>
              <a:t>• The local SHAP and LIME example is a manually constructed synthetic scenario, not an observed patient session.</a:t>
            </a:r>
          </a:p>
          <a:p>
            <a:r>
              <a:t>• Local LIME output requires a fidelity warning because the surrogate only moderately approximates the random forest near that synthetic scenario.</a:t>
            </a:r>
          </a:p>
          <a:p>
            <a:endParaRPr/>
          </a:p>
          <a:p>
            <a:r>
              <a:t>Sources</a:t>
            </a:r>
          </a:p>
          <a:p>
            <a:r>
              <a:t>• Lundberg SM, Lee SI. NeurIPS 2017. https://papers.neurips.cc/paper/7062-a-unified-approach-to-interpreting-model-predictions</a:t>
            </a:r>
          </a:p>
          <a:p>
            <a:r>
              <a:t>• Ribeiro MT et al. KDD 2016. https://doi.org/10.1145/2939672.2939778</a:t>
            </a:r>
          </a:p>
          <a:p>
            <a:r>
              <a:t>• Project artifacts: artifacts/step5_shap_summary.png, artifacts/step5_shap_local_synthetic.csv, and artifacts/step5_lime_local_metadata.json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 notes</a:t>
            </a:r>
          </a:p>
          <a:p>
            <a:r>
              <a:t>• The recorded-sex mitigation improved two summary gaps with essentially unchanged average precision.</a:t>
            </a:r>
          </a:p>
          <a:p>
            <a:r>
              <a:t>• The improvement does not eliminate disparity and may not transfer to another centre.</a:t>
            </a:r>
          </a:p>
          <a:p>
            <a:r>
              <a:t>• Patient-equal weighting changes some estimates, intersections are unstable, and bootstrap intervals are wide.</a:t>
            </a:r>
          </a:p>
          <a:p>
            <a:r>
              <a:t>• Sex-specific thresholds use a protected attribute at inference and performed worse on test patients, so they are rejected.</a:t>
            </a:r>
          </a:p>
          <a:p>
            <a:endParaRPr/>
          </a:p>
          <a:p>
            <a:r>
              <a:t>Sources</a:t>
            </a:r>
          </a:p>
          <a:p>
            <a:r>
              <a:t>• Hardt M, Price E, Srebro N. NeurIPS 2016. https://arxiv.org/abs/1610.02413</a:t>
            </a:r>
          </a:p>
          <a:p>
            <a:r>
              <a:t>• Project artifacts: artifacts/step5_mitigation_comparison.csv and artifacts/step5_disparities.csv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 notes</a:t>
            </a:r>
          </a:p>
          <a:p>
            <a:r>
              <a:t>• This slide connects the analytic results to the rubric requirement for saved configurations and artifacts.</a:t>
            </a:r>
          </a:p>
          <a:p>
            <a:r>
              <a:t>• The patient split assignments, model threshold, package versions, and hashes support auditability.</a:t>
            </a:r>
          </a:p>
          <a:p>
            <a:r>
              <a:t>• The public source data remain subject to their original license and citation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 notes</a:t>
            </a:r>
          </a:p>
          <a:p>
            <a:r>
              <a:t>• End with a precise claim: the project completes the machine-learning lifecycle and justifies a governed validation study.</a:t>
            </a:r>
          </a:p>
          <a:p>
            <a:r>
              <a:t>• It does not show that an alert changes treatment or improves outcomes.</a:t>
            </a:r>
          </a:p>
          <a:p>
            <a:r>
              <a:t>• The next scientific question is transportability and prospective workflow safety.</a:t>
            </a:r>
          </a:p>
          <a:p>
            <a:endParaRPr/>
          </a:p>
          <a:p>
            <a:r>
              <a:t>Sources</a:t>
            </a:r>
          </a:p>
          <a:p>
            <a:r>
              <a:t>• WHO. Ethics and governance of AI for health. 2021. https://www.who.int/publications/i/item/9789240029200</a:t>
            </a:r>
          </a:p>
          <a:p>
            <a:r>
              <a:t>• TRIPOD+AI. BMJ. 2024. https://doi.org/10.1136/bmj-2023-078378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792F620-1058-4BF2-A2DD-8FDD4E98CE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A9D8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ABA990-5F30-4B27-8E3A-5AE6F117D140}"/>
              </a:ext>
            </a:extLst>
          </p:cNvPr>
          <p:cNvSpPr>
            <a:spLocks noGrp="1"/>
          </p:cNvSpPr>
          <p:nvPr/>
        </p:nvSpPr>
        <p:spPr>
          <a:xfrm>
            <a:off x="781050" y="762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E9C46A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E9C46A"/>
                </a:solidFill>
                <a:latin typeface="Nimbus Sans"/>
                <a:ea typeface="Nimbus Sans"/>
                <a:cs typeface="Nimbus Sans"/>
              </a:rPr>
              <a:t>TECHNICAL PRESENTATION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630FD2-C5F2-4926-A900-9D48AD46BDC1}"/>
              </a:ext>
            </a:extLst>
          </p:cNvPr>
          <p:cNvSpPr>
            <a:spLocks noGrp="1"/>
          </p:cNvSpPr>
          <p:nvPr/>
        </p:nvSpPr>
        <p:spPr>
          <a:xfrm>
            <a:off x="742950" y="1381125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57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57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DIAL-ALERT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F7FDE0-E0FC-497D-B9CE-B9E83472548C}"/>
              </a:ext>
            </a:extLst>
          </p:cNvPr>
          <p:cNvSpPr>
            <a:spLocks noGrp="1"/>
          </p:cNvSpPr>
          <p:nvPr/>
        </p:nvSpPr>
        <p:spPr>
          <a:xfrm>
            <a:off x="781050" y="2524125"/>
            <a:ext cx="85725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rPr>
              <a:t>Early prediction of blood pressure defined</a:t>
            </a:r>
          </a:p>
          <a:p>
            <a:pPr algn="l">
              <a:defRPr sz="2550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rPr>
              <a:t>intradialytic hypotension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D0FAD652-756B-4BA0-BD4F-AFB06E2FBA65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3429000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60BE4D-333A-432E-9A21-683646E7C570}"/>
              </a:ext>
            </a:extLst>
          </p:cNvPr>
          <p:cNvSpPr>
            <a:spLocks noGrp="1"/>
          </p:cNvSpPr>
          <p:nvPr/>
        </p:nvSpPr>
        <p:spPr>
          <a:xfrm>
            <a:off x="781050" y="4429125"/>
            <a:ext cx="4953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rPr>
              <a:t>Franklin Guillano</a:t>
            </a:r>
          </a:p>
          <a:p>
            <a:pPr algn="l">
              <a:defRPr sz="157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rPr>
              <a:t>Capstone Project, Step 6</a:t>
            </a:r>
          </a:p>
          <a:p>
            <a:pPr algn="l">
              <a:defRPr sz="157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rPr>
              <a:t>September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868EE3-4E37-4154-9A3B-D8EB6F046B7E}"/>
              </a:ext>
            </a:extLst>
          </p:cNvPr>
          <p:cNvSpPr>
            <a:spLocks noGrp="1"/>
          </p:cNvSpPr>
          <p:nvPr/>
        </p:nvSpPr>
        <p:spPr>
          <a:xfrm>
            <a:off x="7524750" y="5572125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1" i="0">
                <a:solidFill>
                  <a:srgbClr val="F4A261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4A261"/>
                </a:solidFill>
                <a:latin typeface="Nimbus Sans"/>
                <a:ea typeface="Nimbus Sans"/>
                <a:cs typeface="Nimbus Sans"/>
              </a:rPr>
              <a:t>Academic clinical decision support prototype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8CF58DF9-0041-4318-8866-EA193CDE553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1163300" cy="0"/>
          </a:xfrm>
          <a:prstGeom prst="line">
            <a:avLst/>
          </a:prstGeom>
          <a:noFill/>
          <a:ln w="9525">
            <a:solidFill>
              <a:srgbClr val="3A52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855003-C6AA-4006-A0E4-05432896671D}"/>
              </a:ext>
            </a:extLst>
          </p:cNvPr>
          <p:cNvSpPr>
            <a:spLocks noGrp="1"/>
          </p:cNvSpPr>
          <p:nvPr/>
        </p:nvSpPr>
        <p:spPr>
          <a:xfrm>
            <a:off x="514350" y="6562725"/>
            <a:ext cx="11163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 i="0">
                <a:solidFill>
                  <a:srgbClr val="B8C8D6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B8C8D6"/>
                </a:solidFill>
                <a:latin typeface="Nimbus Sans"/>
                <a:ea typeface="Nimbus Sans"/>
                <a:cs typeface="Nimbus Sans"/>
              </a:rPr>
              <a:t>DIAL-ALERT technical presentation  /  01</a:t>
            </a:r>
          </a:p>
        </p:txBody>
      </p:sp>
    </p:spTree>
    <p:extLst>
      <p:ext uri="{BB962C8B-B14F-4D97-AF65-F5344CB8AC3E}">
        <p14:creationId xmlns:p14="http://schemas.microsoft.com/office/powerpoint/2010/main" val="1571573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7E1354B2-2D1A-4D67-BEAC-9174C42B2F49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76200" cy="781050"/>
          </a:xfrm>
          <a:prstGeom prst="rect">
            <a:avLst/>
          </a:prstGeom>
          <a:solidFill>
            <a:srgbClr val="0E7C7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C65A0F-CFBA-4B23-8A94-9938DCBB69DF}"/>
              </a:ext>
            </a:extLst>
          </p:cNvPr>
          <p:cNvSpPr>
            <a:spLocks noGrp="1"/>
          </p:cNvSpPr>
          <p:nvPr/>
        </p:nvSpPr>
        <p:spPr>
          <a:xfrm>
            <a:off x="781050" y="333375"/>
            <a:ext cx="10744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9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9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Clinical prediction question and success criteria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3BFD45-EEF7-4409-A697-A5F66AF042AC}"/>
              </a:ext>
            </a:extLst>
          </p:cNvPr>
          <p:cNvSpPr>
            <a:spLocks noGrp="1"/>
          </p:cNvSpPr>
          <p:nvPr/>
        </p:nvSpPr>
        <p:spPr>
          <a:xfrm>
            <a:off x="800100" y="866775"/>
            <a:ext cx="1059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A supervised binary-classification task with a fixed prediction boundary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6C15B1-80A3-4BD7-9D80-48518E2F2D10}"/>
              </a:ext>
            </a:extLst>
          </p:cNvPr>
          <p:cNvSpPr>
            <a:spLocks noGrp="1"/>
          </p:cNvSpPr>
          <p:nvPr/>
        </p:nvSpPr>
        <p:spPr>
          <a:xfrm>
            <a:off x="781050" y="1428750"/>
            <a:ext cx="10572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Can information available near the start of haemodialysis identify sessions that later record systolic blood pressure below 90 mmHg?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040FE6EF-A5DA-4B52-8D4E-A1A67961DE11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10572750" cy="0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4548CA-23C1-427E-99F1-60734B2A2DDA}"/>
              </a:ext>
            </a:extLst>
          </p:cNvPr>
          <p:cNvSpPr>
            <a:spLocks noGrp="1"/>
          </p:cNvSpPr>
          <p:nvPr/>
        </p:nvSpPr>
        <p:spPr>
          <a:xfrm>
            <a:off x="781050" y="289560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POPULATION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84AE45-391E-4B5B-9E02-2E25F2DC3CB8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219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Eligible adult haemodialysis sessions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661E709C-1127-4F61-A42F-DB2362B2FF99}"/>
              </a:ext>
            </a:extLst>
          </p:cNvPr>
          <p:cNvSpPr>
            <a:spLocks noGrp="1"/>
          </p:cNvSpPr>
          <p:nvPr/>
        </p:nvSpPr>
        <p:spPr>
          <a:xfrm>
            <a:off x="3133725" y="2876550"/>
            <a:ext cx="0" cy="1028700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24C7B7-D097-467B-8BE9-1A1D1857982E}"/>
              </a:ext>
            </a:extLst>
          </p:cNvPr>
          <p:cNvSpPr>
            <a:spLocks noGrp="1"/>
          </p:cNvSpPr>
          <p:nvPr/>
        </p:nvSpPr>
        <p:spPr>
          <a:xfrm>
            <a:off x="3381375" y="289560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PREDICTION TIME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E13832-CD81-48C2-BC9C-DC44EF74D9AA}"/>
              </a:ext>
            </a:extLst>
          </p:cNvPr>
          <p:cNvSpPr>
            <a:spLocks noGrp="1"/>
          </p:cNvSpPr>
          <p:nvPr/>
        </p:nvSpPr>
        <p:spPr>
          <a:xfrm>
            <a:off x="3381375" y="3143250"/>
            <a:ext cx="219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Earliest valid active record within minutes 0 to 30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E0948FD2-909A-47DC-B656-17E6AD187AA1}"/>
              </a:ext>
            </a:extLst>
          </p:cNvPr>
          <p:cNvSpPr>
            <a:spLocks noGrp="1"/>
          </p:cNvSpPr>
          <p:nvPr/>
        </p:nvSpPr>
        <p:spPr>
          <a:xfrm>
            <a:off x="5734050" y="2876550"/>
            <a:ext cx="0" cy="1028700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9CD9A4-A7C7-4B38-A947-956110C6BDA6}"/>
              </a:ext>
            </a:extLst>
          </p:cNvPr>
          <p:cNvSpPr>
            <a:spLocks noGrp="1"/>
          </p:cNvSpPr>
          <p:nvPr/>
        </p:nvSpPr>
        <p:spPr>
          <a:xfrm>
            <a:off x="5981700" y="289560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TARGET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09B944-CEDB-4E33-B539-E314D9EB72EC}"/>
              </a:ext>
            </a:extLst>
          </p:cNvPr>
          <p:cNvSpPr>
            <a:spLocks noGrp="1"/>
          </p:cNvSpPr>
          <p:nvPr/>
        </p:nvSpPr>
        <p:spPr>
          <a:xfrm>
            <a:off x="5981700" y="3143250"/>
            <a:ext cx="219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Any later SBP below 90 mmHg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5B546428-C5D2-4E1F-B775-FBC35EAE418F}"/>
              </a:ext>
            </a:extLst>
          </p:cNvPr>
          <p:cNvSpPr>
            <a:spLocks noGrp="1"/>
          </p:cNvSpPr>
          <p:nvPr/>
        </p:nvSpPr>
        <p:spPr>
          <a:xfrm>
            <a:off x="8334375" y="2876550"/>
            <a:ext cx="0" cy="1028700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FFD261-338D-4700-BB94-8AC69CCFCBAB}"/>
              </a:ext>
            </a:extLst>
          </p:cNvPr>
          <p:cNvSpPr>
            <a:spLocks noGrp="1"/>
          </p:cNvSpPr>
          <p:nvPr/>
        </p:nvSpPr>
        <p:spPr>
          <a:xfrm>
            <a:off x="8582025" y="289560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DECISION USE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5D4E17-37CE-4812-B708-C314E06063D9}"/>
              </a:ext>
            </a:extLst>
          </p:cNvPr>
          <p:cNvSpPr>
            <a:spLocks noGrp="1"/>
          </p:cNvSpPr>
          <p:nvPr/>
        </p:nvSpPr>
        <p:spPr>
          <a:xfrm>
            <a:off x="8582025" y="3143250"/>
            <a:ext cx="2190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Risk ranking for clinician review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56CBF7-0D9C-4EE8-993A-A8F66C640BE7}"/>
              </a:ext>
            </a:extLst>
          </p:cNvPr>
          <p:cNvSpPr>
            <a:spLocks noGrp="1"/>
          </p:cNvSpPr>
          <p:nvPr/>
        </p:nvSpPr>
        <p:spPr>
          <a:xfrm>
            <a:off x="781050" y="42862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Evaluation hierarchy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3AF6B1-26AE-45E6-A56E-658F9F444A2D}"/>
              </a:ext>
            </a:extLst>
          </p:cNvPr>
          <p:cNvSpPr>
            <a:spLocks noGrp="1"/>
          </p:cNvSpPr>
          <p:nvPr/>
        </p:nvSpPr>
        <p:spPr>
          <a:xfrm>
            <a:off x="781050" y="4762500"/>
            <a:ext cx="2333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Primary ranking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D323A1-809E-4261-8C4F-0A7EFBD776F2}"/>
              </a:ext>
            </a:extLst>
          </p:cNvPr>
          <p:cNvSpPr>
            <a:spLocks noGrp="1"/>
          </p:cNvSpPr>
          <p:nvPr/>
        </p:nvSpPr>
        <p:spPr>
          <a:xfrm>
            <a:off x="781050" y="5029200"/>
            <a:ext cx="2333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Average precision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1CF7F6-46AE-4D1F-87B3-26E42E4717A3}"/>
              </a:ext>
            </a:extLst>
          </p:cNvPr>
          <p:cNvSpPr>
            <a:spLocks noGrp="1"/>
          </p:cNvSpPr>
          <p:nvPr/>
        </p:nvSpPr>
        <p:spPr>
          <a:xfrm>
            <a:off x="3429000" y="4762500"/>
            <a:ext cx="2333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Discrimination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E55B52-6A59-433C-BCA6-44549DFDC24B}"/>
              </a:ext>
            </a:extLst>
          </p:cNvPr>
          <p:cNvSpPr>
            <a:spLocks noGrp="1"/>
          </p:cNvSpPr>
          <p:nvPr/>
        </p:nvSpPr>
        <p:spPr>
          <a:xfrm>
            <a:off x="3429000" y="5029200"/>
            <a:ext cx="2333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ROC AUC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BABB0B-807C-48F4-A6EB-A03AC75AB9D3}"/>
              </a:ext>
            </a:extLst>
          </p:cNvPr>
          <p:cNvSpPr>
            <a:spLocks noGrp="1"/>
          </p:cNvSpPr>
          <p:nvPr/>
        </p:nvSpPr>
        <p:spPr>
          <a:xfrm>
            <a:off x="6076950" y="4762500"/>
            <a:ext cx="2333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Probability quality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3D2173-3260-4943-9ADE-90CDEC3855E1}"/>
              </a:ext>
            </a:extLst>
          </p:cNvPr>
          <p:cNvSpPr>
            <a:spLocks noGrp="1"/>
          </p:cNvSpPr>
          <p:nvPr/>
        </p:nvSpPr>
        <p:spPr>
          <a:xfrm>
            <a:off x="6076950" y="5029200"/>
            <a:ext cx="2333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Brier score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F0F5CA-CD98-4C27-8675-33139A19B587}"/>
              </a:ext>
            </a:extLst>
          </p:cNvPr>
          <p:cNvSpPr>
            <a:spLocks noGrp="1"/>
          </p:cNvSpPr>
          <p:nvPr/>
        </p:nvSpPr>
        <p:spPr>
          <a:xfrm>
            <a:off x="8724900" y="4762500"/>
            <a:ext cx="2333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Workflow utility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AD452C-EB8A-42D4-B23F-EC97D49A4620}"/>
              </a:ext>
            </a:extLst>
          </p:cNvPr>
          <p:cNvSpPr>
            <a:spLocks noGrp="1"/>
          </p:cNvSpPr>
          <p:nvPr/>
        </p:nvSpPr>
        <p:spPr>
          <a:xfrm>
            <a:off x="8724900" y="5029200"/>
            <a:ext cx="2333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Recall and PPV at alert capacity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26BE73-35ED-4242-B4EC-F3EE3CAE2FEC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10668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Outcome and feature boundary: DIAL-ALERT Steps 2–4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70BD69CB-635F-4416-B121-4F3A02B8824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11633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468790-01FA-4273-9C75-E36E8EDA4353}"/>
              </a:ext>
            </a:extLst>
          </p:cNvPr>
          <p:cNvSpPr>
            <a:spLocks noGrp="1"/>
          </p:cNvSpPr>
          <p:nvPr/>
        </p:nvSpPr>
        <p:spPr>
          <a:xfrm>
            <a:off x="514350" y="6562725"/>
            <a:ext cx="11163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DIAL-ALERT technical presentation  /  02</a:t>
            </a:r>
          </a:p>
        </p:txBody>
      </p:sp>
    </p:spTree>
    <p:extLst>
      <p:ext uri="{BB962C8B-B14F-4D97-AF65-F5344CB8AC3E}">
        <p14:creationId xmlns:p14="http://schemas.microsoft.com/office/powerpoint/2010/main" val="1564100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0C6431F-DD46-47F5-9F0A-13510559654E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76200" cy="781050"/>
          </a:xfrm>
          <a:prstGeom prst="rect">
            <a:avLst/>
          </a:prstGeom>
          <a:solidFill>
            <a:srgbClr val="0E7C7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FC35EA-95FB-44BD-811E-DF218F5837CB}"/>
              </a:ext>
            </a:extLst>
          </p:cNvPr>
          <p:cNvSpPr>
            <a:spLocks noGrp="1"/>
          </p:cNvSpPr>
          <p:nvPr/>
        </p:nvSpPr>
        <p:spPr>
          <a:xfrm>
            <a:off x="781050" y="333375"/>
            <a:ext cx="10744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HEMOBP supports a large session cohort with 830 independent patients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461C7F-BB81-422A-AF78-95B83D133309}"/>
              </a:ext>
            </a:extLst>
          </p:cNvPr>
          <p:cNvSpPr>
            <a:spLocks noGrp="1"/>
          </p:cNvSpPr>
          <p:nvPr/>
        </p:nvSpPr>
        <p:spPr>
          <a:xfrm>
            <a:off x="800100" y="866775"/>
            <a:ext cx="1059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Public longitudinal data link patient, session, and monitor records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609600" y="1447800"/>
          <a:ext cx="676275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C6E912D-67AB-4AFE-A157-B7B96E8E2AA8}"/>
              </a:ext>
            </a:extLst>
          </p:cNvPr>
          <p:cNvSpPr>
            <a:spLocks noGrp="1"/>
          </p:cNvSpPr>
          <p:nvPr/>
        </p:nvSpPr>
        <p:spPr>
          <a:xfrm>
            <a:off x="8020050" y="1524000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20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420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106,758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06ADCD-5CCB-43D5-9462-56681DE9CB79}"/>
              </a:ext>
            </a:extLst>
          </p:cNvPr>
          <p:cNvSpPr>
            <a:spLocks noGrp="1"/>
          </p:cNvSpPr>
          <p:nvPr/>
        </p:nvSpPr>
        <p:spPr>
          <a:xfrm>
            <a:off x="8020050" y="2209800"/>
            <a:ext cx="314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eligible sessions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536397-1703-4B1F-8261-A73ACA132C3D}"/>
              </a:ext>
            </a:extLst>
          </p:cNvPr>
          <p:cNvSpPr>
            <a:spLocks noGrp="1"/>
          </p:cNvSpPr>
          <p:nvPr/>
        </p:nvSpPr>
        <p:spPr>
          <a:xfrm>
            <a:off x="8020050" y="2705100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200" b="1" i="0">
                <a:solidFill>
                  <a:srgbClr val="765A9E"/>
                </a:solidFill>
                <a:latin typeface="Nimbus Sans"/>
                <a:ea typeface="Nimbus Sans"/>
                <a:cs typeface="Nimbus Sans"/>
              </a:defRPr>
            </a:pPr>
            <a:r>
              <a:rPr sz="4200" b="1" i="0">
                <a:solidFill>
                  <a:srgbClr val="765A9E"/>
                </a:solidFill>
                <a:latin typeface="Nimbus Sans"/>
                <a:ea typeface="Nimbus Sans"/>
                <a:cs typeface="Nimbus Sans"/>
              </a:rPr>
              <a:t>830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9475F6-97CF-4AF4-8A7D-4E3597958B84}"/>
              </a:ext>
            </a:extLst>
          </p:cNvPr>
          <p:cNvSpPr>
            <a:spLocks noGrp="1"/>
          </p:cNvSpPr>
          <p:nvPr/>
        </p:nvSpPr>
        <p:spPr>
          <a:xfrm>
            <a:off x="8020050" y="3390900"/>
            <a:ext cx="314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unique patients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C7F35E-50A8-40D5-92A7-B18433E70C74}"/>
              </a:ext>
            </a:extLst>
          </p:cNvPr>
          <p:cNvSpPr>
            <a:spLocks noGrp="1"/>
          </p:cNvSpPr>
          <p:nvPr/>
        </p:nvSpPr>
        <p:spPr>
          <a:xfrm>
            <a:off x="8020050" y="3886200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200" b="1" i="0">
                <a:solidFill>
                  <a:srgbClr val="E76F51"/>
                </a:solidFill>
                <a:latin typeface="Nimbus Sans"/>
                <a:ea typeface="Nimbus Sans"/>
                <a:cs typeface="Nimbus Sans"/>
              </a:defRPr>
            </a:pPr>
            <a:r>
              <a:rPr sz="4200" b="1" i="0">
                <a:solidFill>
                  <a:srgbClr val="E76F51"/>
                </a:solidFill>
                <a:latin typeface="Nimbus Sans"/>
                <a:ea typeface="Nimbus Sans"/>
                <a:cs typeface="Nimbus Sans"/>
              </a:rPr>
              <a:t>8.49%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D76F14-0470-4CC9-8193-B66966FB442E}"/>
              </a:ext>
            </a:extLst>
          </p:cNvPr>
          <p:cNvSpPr>
            <a:spLocks noGrp="1"/>
          </p:cNvSpPr>
          <p:nvPr/>
        </p:nvSpPr>
        <p:spPr>
          <a:xfrm>
            <a:off x="8020050" y="4572000"/>
            <a:ext cx="314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primary outcome prevalence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6E4B73-980D-40A4-A762-F4934A0CC825}"/>
              </a:ext>
            </a:extLst>
          </p:cNvPr>
          <p:cNvSpPr>
            <a:spLocks noGrp="1"/>
          </p:cNvSpPr>
          <p:nvPr/>
        </p:nvSpPr>
        <p:spPr>
          <a:xfrm>
            <a:off x="8020050" y="5181600"/>
            <a:ext cx="3190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4.37 million monitor states in the raw source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37B7B2-5756-4CEE-A368-ED0AECFAB884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10668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Source: HEMOBP v3 and DIAL-ALERT cohort_flow.json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A3C3453A-6081-46EE-8E72-EBB629757CD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11633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28D2C7-EFB6-45B0-A2F7-9FB62E9686B6}"/>
              </a:ext>
            </a:extLst>
          </p:cNvPr>
          <p:cNvSpPr>
            <a:spLocks noGrp="1"/>
          </p:cNvSpPr>
          <p:nvPr/>
        </p:nvSpPr>
        <p:spPr>
          <a:xfrm>
            <a:off x="514350" y="6562725"/>
            <a:ext cx="11163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DIAL-ALERT technical presentation  /  03</a:t>
            </a:r>
          </a:p>
        </p:txBody>
      </p:sp>
    </p:spTree>
    <p:extLst>
      <p:ext uri="{BB962C8B-B14F-4D97-AF65-F5344CB8AC3E}">
        <p14:creationId xmlns:p14="http://schemas.microsoft.com/office/powerpoint/2010/main" val="263500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5641464-4962-49C7-AF3D-5BEDBEA9F94A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76200" cy="781050"/>
          </a:xfrm>
          <a:prstGeom prst="rect">
            <a:avLst/>
          </a:prstGeom>
          <a:solidFill>
            <a:srgbClr val="0E7C7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B1B062-12C4-4D41-A5C7-60A892501490}"/>
              </a:ext>
            </a:extLst>
          </p:cNvPr>
          <p:cNvSpPr>
            <a:spLocks noGrp="1"/>
          </p:cNvSpPr>
          <p:nvPr/>
        </p:nvSpPr>
        <p:spPr>
          <a:xfrm>
            <a:off x="781050" y="333375"/>
            <a:ext cx="10744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2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32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Prediction features stop at the index time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1BF42D-6AD1-485E-85EA-6B9D0C5CBB89}"/>
              </a:ext>
            </a:extLst>
          </p:cNvPr>
          <p:cNvSpPr>
            <a:spLocks noGrp="1"/>
          </p:cNvSpPr>
          <p:nvPr/>
        </p:nvSpPr>
        <p:spPr>
          <a:xfrm>
            <a:off x="800100" y="866775"/>
            <a:ext cx="1059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The outcome uses later measurements only, preventing temporal leakage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7E52607-28A5-4223-AD42-C59BCC261E07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2667000" cy="857250"/>
          </a:xfrm>
          <a:prstGeom prst="roundRect">
            <a:avLst>
              <a:gd name="adj" fmla="val 11111"/>
            </a:avLst>
          </a:prstGeom>
          <a:solidFill>
            <a:srgbClr val="DCEFEB"/>
          </a:solidFill>
          <a:ln w="0">
            <a:noFill/>
            <a:prstDash val="solid"/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57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Earlier sessions</a:t>
            </a:r>
          </a:p>
          <a:p>
            <a:pPr algn="ctr">
              <a:defRPr sz="157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and patient history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98BA766-AB04-4D49-B7AF-E8A24F12EA65}"/>
              </a:ext>
            </a:extLst>
          </p:cNvPr>
          <p:cNvSpPr>
            <a:spLocks noGrp="1"/>
          </p:cNvSpPr>
          <p:nvPr/>
        </p:nvSpPr>
        <p:spPr>
          <a:xfrm>
            <a:off x="4762500" y="1428750"/>
            <a:ext cx="2667000" cy="857250"/>
          </a:xfrm>
          <a:prstGeom prst="roundRect">
            <a:avLst>
              <a:gd name="adj" fmla="val 11111"/>
            </a:avLst>
          </a:prstGeom>
          <a:solidFill>
            <a:srgbClr val="D9E8F3"/>
          </a:solidFill>
          <a:ln w="0">
            <a:noFill/>
            <a:prstDash val="solid"/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57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Index record</a:t>
            </a:r>
          </a:p>
          <a:p>
            <a:pPr algn="ctr">
              <a:defRPr sz="157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minutes 0 to 30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71C003C-78A5-4600-BBF7-9F405EECCB40}"/>
              </a:ext>
            </a:extLst>
          </p:cNvPr>
          <p:cNvSpPr>
            <a:spLocks noGrp="1"/>
          </p:cNvSpPr>
          <p:nvPr/>
        </p:nvSpPr>
        <p:spPr>
          <a:xfrm>
            <a:off x="8801100" y="1428750"/>
            <a:ext cx="2667000" cy="857250"/>
          </a:xfrm>
          <a:prstGeom prst="roundRect">
            <a:avLst>
              <a:gd name="adj" fmla="val 11111"/>
            </a:avLst>
          </a:prstGeom>
          <a:solidFill>
            <a:srgbClr val="F8DDCF"/>
          </a:solidFill>
          <a:ln w="0">
            <a:noFill/>
            <a:prstDash val="solid"/>
          </a:ln>
        </p:spPr>
        <p:txBody>
          <a:bodyPr lIns="114300" tIns="76200" rIns="114300" bIns="76200" anchor="ctr">
            <a:noAutofit/>
          </a:bodyPr>
          <a:lstStyle/>
          <a:p>
            <a:pPr algn="ctr">
              <a:defRPr sz="157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Later BP records</a:t>
            </a:r>
          </a:p>
          <a:p>
            <a:pPr algn="ctr">
              <a:defRPr sz="1575" b="1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define the target</a:t>
            </a:r>
          </a:p>
        </p:txBody>
      </p:sp>
      <p:cxnSp>
        <p:nvCxnSpPr>
          <p:cNvPr id="33" name="Straight Arrow Connector 32"/>
          <p:cNvCxnSpPr>
            <a:stCxn id="4" idx="3"/>
            <a:endCxn id="5" idx="1"/>
          </p:cNvCxnSpPr>
          <p:nvPr/>
        </p:nvCxnSpPr>
        <p:spPr>
          <a:xfrm>
            <a:off x="3390900" y="1857375"/>
            <a:ext cx="1371600" cy="0"/>
          </a:xfrm>
          <a:prstGeom prst="straightConnector1">
            <a:avLst/>
          </a:prstGeom>
          <a:ln w="19050">
            <a:solidFill>
              <a:srgbClr val="627D98"/>
            </a:solidFill>
            <a:prstDash val="solid"/>
            <a:tailEnd type="triangle" w="sm" len="sm"/>
          </a:ln>
        </p:spPr>
      </p:cxnSp>
      <p:cxnSp>
        <p:nvCxnSpPr>
          <p:cNvPr id="34" name="Straight Arrow Connector 33"/>
          <p:cNvCxnSpPr>
            <a:stCxn id="5" idx="3"/>
            <a:endCxn id="6" idx="1"/>
          </p:cNvCxnSpPr>
          <p:nvPr/>
        </p:nvCxnSpPr>
        <p:spPr>
          <a:xfrm>
            <a:off x="7429500" y="1857375"/>
            <a:ext cx="1371600" cy="0"/>
          </a:xfrm>
          <a:prstGeom prst="straightConnector1">
            <a:avLst/>
          </a:prstGeom>
          <a:ln w="19050">
            <a:solidFill>
              <a:srgbClr val="627D98"/>
            </a:solidFill>
            <a:prstDash val="solid"/>
            <a:tailEnd type="triangle" w="sm" len="sm"/>
          </a:ln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F7BB582-451E-485F-A1E3-C3A113B55D29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22 model inputs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53ED05-4D58-42F2-BAA4-093FF72CD2CB}"/>
              </a:ext>
            </a:extLst>
          </p:cNvPr>
          <p:cNvSpPr>
            <a:spLocks noGrp="1"/>
          </p:cNvSpPr>
          <p:nvPr/>
        </p:nvSpPr>
        <p:spPr>
          <a:xfrm>
            <a:off x="723900" y="3257550"/>
            <a:ext cx="57150" cy="742950"/>
          </a:xfrm>
          <a:prstGeom prst="rect">
            <a:avLst/>
          </a:prstGeom>
          <a:solidFill>
            <a:srgbClr val="2A9D8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5A16B4-FC99-49BD-A1D5-FF60A874403B}"/>
              </a:ext>
            </a:extLst>
          </p:cNvPr>
          <p:cNvSpPr>
            <a:spLocks noGrp="1"/>
          </p:cNvSpPr>
          <p:nvPr/>
        </p:nvSpPr>
        <p:spPr>
          <a:xfrm>
            <a:off x="933450" y="32194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Haemodynamic state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8146BB-1BFB-485A-99B3-7BFDB36850B7}"/>
              </a:ext>
            </a:extLst>
          </p:cNvPr>
          <p:cNvSpPr>
            <a:spLocks noGrp="1"/>
          </p:cNvSpPr>
          <p:nvPr/>
        </p:nvSpPr>
        <p:spPr>
          <a:xfrm>
            <a:off x="933450" y="354330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Baseline SBP, DBP, MAP, pulse pressure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45C8FB-6DA9-447A-AF6F-9971B640E9A6}"/>
              </a:ext>
            </a:extLst>
          </p:cNvPr>
          <p:cNvSpPr>
            <a:spLocks noGrp="1"/>
          </p:cNvSpPr>
          <p:nvPr/>
        </p:nvSpPr>
        <p:spPr>
          <a:xfrm>
            <a:off x="6057900" y="3257550"/>
            <a:ext cx="57150" cy="742950"/>
          </a:xfrm>
          <a:prstGeom prst="rect">
            <a:avLst/>
          </a:prstGeom>
          <a:solidFill>
            <a:srgbClr val="2A9D8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2606D7-45C7-42B1-811F-042ED30A1457}"/>
              </a:ext>
            </a:extLst>
          </p:cNvPr>
          <p:cNvSpPr>
            <a:spLocks noGrp="1"/>
          </p:cNvSpPr>
          <p:nvPr/>
        </p:nvSpPr>
        <p:spPr>
          <a:xfrm>
            <a:off x="6267450" y="32194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Fluid and treatment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03C726-15F6-45A4-8C51-3C63F81758D3}"/>
              </a:ext>
            </a:extLst>
          </p:cNvPr>
          <p:cNvSpPr>
            <a:spLocks noGrp="1"/>
          </p:cNvSpPr>
          <p:nvPr/>
        </p:nvSpPr>
        <p:spPr>
          <a:xfrm>
            <a:off x="6267450" y="354330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Fluid excess, UF rate, blood flow, dialysate settings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7D8200-8B4C-4BE7-B3C9-48CDCEC3A060}"/>
              </a:ext>
            </a:extLst>
          </p:cNvPr>
          <p:cNvSpPr>
            <a:spLocks noGrp="1"/>
          </p:cNvSpPr>
          <p:nvPr/>
        </p:nvSpPr>
        <p:spPr>
          <a:xfrm>
            <a:off x="723900" y="4381500"/>
            <a:ext cx="57150" cy="742950"/>
          </a:xfrm>
          <a:prstGeom prst="rect">
            <a:avLst/>
          </a:prstGeom>
          <a:solidFill>
            <a:srgbClr val="765A9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0C75F7-3A06-474A-B6E4-CDEB3465867C}"/>
              </a:ext>
            </a:extLst>
          </p:cNvPr>
          <p:cNvSpPr>
            <a:spLocks noGrp="1"/>
          </p:cNvSpPr>
          <p:nvPr/>
        </p:nvSpPr>
        <p:spPr>
          <a:xfrm>
            <a:off x="933450" y="43434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Longitudinal history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B596A-EB5B-4DD8-A641-70276D03C3B3}"/>
              </a:ext>
            </a:extLst>
          </p:cNvPr>
          <p:cNvSpPr>
            <a:spLocks noGrp="1"/>
          </p:cNvSpPr>
          <p:nvPr/>
        </p:nvSpPr>
        <p:spPr>
          <a:xfrm>
            <a:off x="933450" y="466725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Prior nadir SBP, prior IDH rate, prior session event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AA1D15-960D-4291-A8B3-8EBE8C40033E}"/>
              </a:ext>
            </a:extLst>
          </p:cNvPr>
          <p:cNvSpPr>
            <a:spLocks noGrp="1"/>
          </p:cNvSpPr>
          <p:nvPr/>
        </p:nvSpPr>
        <p:spPr>
          <a:xfrm>
            <a:off x="6057900" y="4381500"/>
            <a:ext cx="57150" cy="742950"/>
          </a:xfrm>
          <a:prstGeom prst="rect">
            <a:avLst/>
          </a:prstGeom>
          <a:solidFill>
            <a:srgbClr val="765A9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37C75A-AAA8-49E0-ACD7-D3A60571D6E0}"/>
              </a:ext>
            </a:extLst>
          </p:cNvPr>
          <p:cNvSpPr>
            <a:spLocks noGrp="1"/>
          </p:cNvSpPr>
          <p:nvPr/>
        </p:nvSpPr>
        <p:spPr>
          <a:xfrm>
            <a:off x="6267450" y="43434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Patient context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98D25B-9E14-41E3-9A40-F62DDF2C4136}"/>
              </a:ext>
            </a:extLst>
          </p:cNvPr>
          <p:cNvSpPr>
            <a:spLocks noGrp="1"/>
          </p:cNvSpPr>
          <p:nvPr/>
        </p:nvSpPr>
        <p:spPr>
          <a:xfrm>
            <a:off x="6267450" y="466725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Age, recorded sex, diabetes, dialysis vintage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8AE7872F-4C52-490C-A5B9-B7A24F314F0E}"/>
              </a:ext>
            </a:extLst>
          </p:cNvPr>
          <p:cNvSpPr>
            <a:spLocks noGrp="1"/>
          </p:cNvSpPr>
          <p:nvPr/>
        </p:nvSpPr>
        <p:spPr>
          <a:xfrm>
            <a:off x="723900" y="5572125"/>
            <a:ext cx="10744200" cy="0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3848CA-0322-4169-BCF6-4BB3A102F55E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10744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 i="0">
                <a:solidFill>
                  <a:srgbClr val="B23A48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 i="0">
                <a:solidFill>
                  <a:srgbClr val="B23A48"/>
                </a:solidFill>
                <a:latin typeface="Nimbus Sans"/>
                <a:ea typeface="Nimbus Sans"/>
                <a:cs typeface="Nimbus Sans"/>
              </a:rPr>
              <a:t>Excluded from predictors: later blood pressure, outcome fields, post-dialysis weight, dialysis end time, identifiers, and audit variables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782482-7E39-4975-9482-0551899C876A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10668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Source: preprocessing specification and feature engineering dictionary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20C4E484-F4E3-4848-ABBF-2453CDDB5279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11633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0D8618-04A3-42B5-B781-9DD13EE9014A}"/>
              </a:ext>
            </a:extLst>
          </p:cNvPr>
          <p:cNvSpPr>
            <a:spLocks noGrp="1"/>
          </p:cNvSpPr>
          <p:nvPr/>
        </p:nvSpPr>
        <p:spPr>
          <a:xfrm>
            <a:off x="514350" y="6562725"/>
            <a:ext cx="11163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DIAL-ALERT technical presentation  /  04</a:t>
            </a:r>
          </a:p>
        </p:txBody>
      </p:sp>
    </p:spTree>
    <p:extLst>
      <p:ext uri="{BB962C8B-B14F-4D97-AF65-F5344CB8AC3E}">
        <p14:creationId xmlns:p14="http://schemas.microsoft.com/office/powerpoint/2010/main" val="1012228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6DEC0FC-1E63-43F9-9417-DD303178916D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76200" cy="781050"/>
          </a:xfrm>
          <a:prstGeom prst="rect">
            <a:avLst/>
          </a:prstGeom>
          <a:solidFill>
            <a:srgbClr val="0E7C7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ED7939-D0DF-404D-B886-1308B9D0AA80}"/>
              </a:ext>
            </a:extLst>
          </p:cNvPr>
          <p:cNvSpPr>
            <a:spLocks noGrp="1"/>
          </p:cNvSpPr>
          <p:nvPr/>
        </p:nvSpPr>
        <p:spPr>
          <a:xfrm>
            <a:off x="781050" y="333375"/>
            <a:ext cx="10744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9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9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Patient-level separation protects the 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E13A78-FFC8-48F1-9003-383C06FEE882}"/>
              </a:ext>
            </a:extLst>
          </p:cNvPr>
          <p:cNvSpPr>
            <a:spLocks noGrp="1"/>
          </p:cNvSpPr>
          <p:nvPr/>
        </p:nvSpPr>
        <p:spPr>
          <a:xfrm>
            <a:off x="800100" y="866775"/>
            <a:ext cx="1059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No patient appears in more than one development partition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521CF8-DF84-4721-976D-390AA0D6DC40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2762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20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420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496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75B550-E505-4FBF-A2A8-B16B97ABCDF5}"/>
              </a:ext>
            </a:extLst>
          </p:cNvPr>
          <p:cNvSpPr>
            <a:spLocks noGrp="1"/>
          </p:cNvSpPr>
          <p:nvPr/>
        </p:nvSpPr>
        <p:spPr>
          <a:xfrm>
            <a:off x="857250" y="2114550"/>
            <a:ext cx="276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training patients</a:t>
            </a:r>
          </a:p>
          <a:p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64,053 sessions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5EA9E8AA-4428-4EF6-BCD4-BA9B7D14AE2B}"/>
              </a:ext>
            </a:extLst>
          </p:cNvPr>
          <p:cNvSpPr>
            <a:spLocks noGrp="1"/>
          </p:cNvSpPr>
          <p:nvPr/>
        </p:nvSpPr>
        <p:spPr>
          <a:xfrm>
            <a:off x="3981450" y="1524000"/>
            <a:ext cx="0" cy="1200150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78E5BE-3629-4D44-8C6F-41DCC669A3EA}"/>
              </a:ext>
            </a:extLst>
          </p:cNvPr>
          <p:cNvSpPr>
            <a:spLocks noGrp="1"/>
          </p:cNvSpPr>
          <p:nvPr/>
        </p:nvSpPr>
        <p:spPr>
          <a:xfrm>
            <a:off x="4333875" y="1428750"/>
            <a:ext cx="2762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200" b="1" i="0">
                <a:solidFill>
                  <a:srgbClr val="765A9E"/>
                </a:solidFill>
                <a:latin typeface="Nimbus Sans"/>
                <a:ea typeface="Nimbus Sans"/>
                <a:cs typeface="Nimbus Sans"/>
              </a:defRPr>
            </a:pPr>
            <a:r>
              <a:rPr sz="4200" b="1" i="0">
                <a:solidFill>
                  <a:srgbClr val="765A9E"/>
                </a:solidFill>
                <a:latin typeface="Nimbus Sans"/>
                <a:ea typeface="Nimbus Sans"/>
                <a:cs typeface="Nimbus Sans"/>
              </a:rPr>
              <a:t>164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830291-F87F-411C-8B10-55DB558CE0DD}"/>
              </a:ext>
            </a:extLst>
          </p:cNvPr>
          <p:cNvSpPr>
            <a:spLocks noGrp="1"/>
          </p:cNvSpPr>
          <p:nvPr/>
        </p:nvSpPr>
        <p:spPr>
          <a:xfrm>
            <a:off x="4333875" y="2114550"/>
            <a:ext cx="276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validation patients</a:t>
            </a:r>
          </a:p>
          <a:p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21,351 sessions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AF95A5A0-2986-4FAD-BEE3-83724737DB1B}"/>
              </a:ext>
            </a:extLst>
          </p:cNvPr>
          <p:cNvSpPr>
            <a:spLocks noGrp="1"/>
          </p:cNvSpPr>
          <p:nvPr/>
        </p:nvSpPr>
        <p:spPr>
          <a:xfrm>
            <a:off x="7458075" y="1524000"/>
            <a:ext cx="0" cy="1200150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876E89-65D7-4AFE-9B41-EF2CAACE63A0}"/>
              </a:ext>
            </a:extLst>
          </p:cNvPr>
          <p:cNvSpPr>
            <a:spLocks noGrp="1"/>
          </p:cNvSpPr>
          <p:nvPr/>
        </p:nvSpPr>
        <p:spPr>
          <a:xfrm>
            <a:off x="7810500" y="1428750"/>
            <a:ext cx="2762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200" b="1" i="0">
                <a:solidFill>
                  <a:srgbClr val="E76F51"/>
                </a:solidFill>
                <a:latin typeface="Nimbus Sans"/>
                <a:ea typeface="Nimbus Sans"/>
                <a:cs typeface="Nimbus Sans"/>
              </a:defRPr>
            </a:pPr>
            <a:r>
              <a:rPr sz="4200" b="1" i="0">
                <a:solidFill>
                  <a:srgbClr val="E76F51"/>
                </a:solidFill>
                <a:latin typeface="Nimbus Sans"/>
                <a:ea typeface="Nimbus Sans"/>
                <a:cs typeface="Nimbus Sans"/>
              </a:rPr>
              <a:t>170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0406FC-5154-4937-96FC-6B8AA92E591B}"/>
              </a:ext>
            </a:extLst>
          </p:cNvPr>
          <p:cNvSpPr>
            <a:spLocks noGrp="1"/>
          </p:cNvSpPr>
          <p:nvPr/>
        </p:nvSpPr>
        <p:spPr>
          <a:xfrm>
            <a:off x="7810500" y="2114550"/>
            <a:ext cx="276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test patients</a:t>
            </a:r>
          </a:p>
          <a:p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21,354 sessions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DD992D-5E35-42E4-8949-29C8A9EB38E4}"/>
              </a:ext>
            </a:extLst>
          </p:cNvPr>
          <p:cNvSpPr>
            <a:spLocks noGrp="1"/>
          </p:cNvSpPr>
          <p:nvPr/>
        </p:nvSpPr>
        <p:spPr>
          <a:xfrm>
            <a:off x="857250" y="2914650"/>
            <a:ext cx="971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50" b="1" i="0">
                <a:solidFill>
                  <a:srgbClr val="287D5A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 i="0">
                <a:solidFill>
                  <a:srgbClr val="287D5A"/>
                </a:solidFill>
                <a:latin typeface="Nimbus Sans"/>
                <a:ea typeface="Nimbus Sans"/>
                <a:cs typeface="Nimbus Sans"/>
              </a:rPr>
              <a:t>0 patient overlap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F6855F21-ED2E-4B1C-8AE1-0E8354F70CCF}"/>
              </a:ext>
            </a:extLst>
          </p:cNvPr>
          <p:cNvSpPr>
            <a:spLocks noGrp="1"/>
          </p:cNvSpPr>
          <p:nvPr/>
        </p:nvSpPr>
        <p:spPr>
          <a:xfrm>
            <a:off x="857250" y="3543300"/>
            <a:ext cx="9715500" cy="0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9AFAF5-D5C1-42FA-9DA3-22CD67ADC89A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438150" cy="438150"/>
          </a:xfrm>
          <a:prstGeom prst="rect">
            <a:avLst/>
          </a:prstGeom>
          <a:solidFill>
            <a:srgbClr val="0E7C7B"/>
          </a:solidFill>
          <a:ln w="0">
            <a:noFill/>
            <a:prstDash val="solid"/>
          </a:ln>
        </p:spPr>
        <p:txBody>
          <a:bodyPr wrap="square" lIns="0" tIns="47625" rIns="0" bIns="0" anchor="ctr">
            <a:noAutofit/>
          </a:bodyPr>
          <a:lstStyle/>
          <a:p>
            <a:pPr algn="ctr">
              <a:defRPr sz="19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2CA7A3-234E-4A96-8505-31102069F48A}"/>
              </a:ext>
            </a:extLst>
          </p:cNvPr>
          <p:cNvSpPr>
            <a:spLocks noGrp="1"/>
          </p:cNvSpPr>
          <p:nvPr/>
        </p:nvSpPr>
        <p:spPr>
          <a:xfrm>
            <a:off x="1314450" y="3886200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Grouped 3-fold CV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E12339-CE4D-4C39-B7E3-789A1F177CD9}"/>
              </a:ext>
            </a:extLst>
          </p:cNvPr>
          <p:cNvSpPr>
            <a:spLocks noGrp="1"/>
          </p:cNvSpPr>
          <p:nvPr/>
        </p:nvSpPr>
        <p:spPr>
          <a:xfrm>
            <a:off x="1314450" y="4229100"/>
            <a:ext cx="2047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Tune candidate pipelines on training patients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F44790-FC8A-4087-92CA-FA92395E0E8A}"/>
              </a:ext>
            </a:extLst>
          </p:cNvPr>
          <p:cNvSpPr>
            <a:spLocks noGrp="1"/>
          </p:cNvSpPr>
          <p:nvPr/>
        </p:nvSpPr>
        <p:spPr>
          <a:xfrm>
            <a:off x="3581400" y="3924300"/>
            <a:ext cx="438150" cy="438150"/>
          </a:xfrm>
          <a:prstGeom prst="rect">
            <a:avLst/>
          </a:prstGeom>
          <a:solidFill>
            <a:srgbClr val="0E7C7B"/>
          </a:solidFill>
          <a:ln w="0">
            <a:noFill/>
            <a:prstDash val="solid"/>
          </a:ln>
        </p:spPr>
        <p:txBody>
          <a:bodyPr wrap="square" lIns="0" tIns="47625" rIns="0" bIns="0" anchor="ctr">
            <a:noAutofit/>
          </a:bodyPr>
          <a:lstStyle/>
          <a:p>
            <a:pPr algn="ctr">
              <a:defRPr sz="19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B88902-7353-4E00-8F9E-5AEB4AFD1095}"/>
              </a:ext>
            </a:extLst>
          </p:cNvPr>
          <p:cNvSpPr>
            <a:spLocks noGrp="1"/>
          </p:cNvSpPr>
          <p:nvPr/>
        </p:nvSpPr>
        <p:spPr>
          <a:xfrm>
            <a:off x="4171950" y="3886200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Validation decisions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A24EB0-3C3C-4598-9CF7-711177720D3B}"/>
              </a:ext>
            </a:extLst>
          </p:cNvPr>
          <p:cNvSpPr>
            <a:spLocks noGrp="1"/>
          </p:cNvSpPr>
          <p:nvPr/>
        </p:nvSpPr>
        <p:spPr>
          <a:xfrm>
            <a:off x="4171950" y="4229100"/>
            <a:ext cx="2047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Choose calibration and F2 threshold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E04F54-FD29-4C2E-91B6-2113ACE97363}"/>
              </a:ext>
            </a:extLst>
          </p:cNvPr>
          <p:cNvSpPr>
            <a:spLocks noGrp="1"/>
          </p:cNvSpPr>
          <p:nvPr/>
        </p:nvSpPr>
        <p:spPr>
          <a:xfrm>
            <a:off x="6438900" y="3924300"/>
            <a:ext cx="438150" cy="438150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  <p:txBody>
          <a:bodyPr wrap="square" lIns="0" tIns="47625" rIns="0" bIns="0" anchor="ctr">
            <a:noAutofit/>
          </a:bodyPr>
          <a:lstStyle/>
          <a:p>
            <a:pPr algn="ctr">
              <a:defRPr sz="19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7D41CA-0035-4829-8C29-47AAA4311487}"/>
              </a:ext>
            </a:extLst>
          </p:cNvPr>
          <p:cNvSpPr>
            <a:spLocks noGrp="1"/>
          </p:cNvSpPr>
          <p:nvPr/>
        </p:nvSpPr>
        <p:spPr>
          <a:xfrm>
            <a:off x="7029450" y="3886200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Locked test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4087E2-608D-4600-A217-3D071B4C1088}"/>
              </a:ext>
            </a:extLst>
          </p:cNvPr>
          <p:cNvSpPr>
            <a:spLocks noGrp="1"/>
          </p:cNvSpPr>
          <p:nvPr/>
        </p:nvSpPr>
        <p:spPr>
          <a:xfrm>
            <a:off x="7029450" y="4229100"/>
            <a:ext cx="2047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Evaluate once after all choices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1D0E8D-171F-49F4-BD36-7B0DF21447B5}"/>
              </a:ext>
            </a:extLst>
          </p:cNvPr>
          <p:cNvSpPr>
            <a:spLocks noGrp="1"/>
          </p:cNvSpPr>
          <p:nvPr/>
        </p:nvSpPr>
        <p:spPr>
          <a:xfrm>
            <a:off x="9296400" y="3924300"/>
            <a:ext cx="438150" cy="438150"/>
          </a:xfrm>
          <a:prstGeom prst="rect">
            <a:avLst/>
          </a:prstGeom>
          <a:solidFill>
            <a:srgbClr val="0E7C7B"/>
          </a:solidFill>
          <a:ln w="0">
            <a:noFill/>
            <a:prstDash val="solid"/>
          </a:ln>
        </p:spPr>
        <p:txBody>
          <a:bodyPr wrap="square" lIns="0" tIns="47625" rIns="0" bIns="0" anchor="ctr">
            <a:noAutofit/>
          </a:bodyPr>
          <a:lstStyle/>
          <a:p>
            <a:pPr algn="ctr">
              <a:defRPr sz="19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2889F8-25A7-46A4-9BA5-B2C2606ACDC2}"/>
              </a:ext>
            </a:extLst>
          </p:cNvPr>
          <p:cNvSpPr>
            <a:spLocks noGrp="1"/>
          </p:cNvSpPr>
          <p:nvPr/>
        </p:nvSpPr>
        <p:spPr>
          <a:xfrm>
            <a:off x="9886950" y="3886200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Patient bootstrap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9126B2-14EB-459E-891B-148A1389DCF2}"/>
              </a:ext>
            </a:extLst>
          </p:cNvPr>
          <p:cNvSpPr>
            <a:spLocks noGrp="1"/>
          </p:cNvSpPr>
          <p:nvPr/>
        </p:nvSpPr>
        <p:spPr>
          <a:xfrm>
            <a:off x="9886950" y="4229100"/>
            <a:ext cx="2047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500 resamples for uncertainty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5CA39D-A4F4-4508-9B83-EA790F3BFA87}"/>
              </a:ext>
            </a:extLst>
          </p:cNvPr>
          <p:cNvSpPr>
            <a:spLocks noGrp="1"/>
          </p:cNvSpPr>
          <p:nvPr/>
        </p:nvSpPr>
        <p:spPr>
          <a:xfrm>
            <a:off x="723900" y="52959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Why it matters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954547-4055-4472-966C-299AA75DD259}"/>
              </a:ext>
            </a:extLst>
          </p:cNvPr>
          <p:cNvSpPr>
            <a:spLocks noGrp="1"/>
          </p:cNvSpPr>
          <p:nvPr/>
        </p:nvSpPr>
        <p:spPr>
          <a:xfrm>
            <a:off x="723900" y="560070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Repeated sessions from the same patient can make random session splits look more accurate than true generalisation to new patients.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2A0C843-76B7-4ABE-8156-CF16DAAB3D08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10668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Source: split_summary.csv, split_assignments.csv.gz, model_config.json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4A4A86AB-3CEE-4328-8429-2B6534B28BE6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11633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3173F8-A268-4CD0-A937-6E1DB6F779C5}"/>
              </a:ext>
            </a:extLst>
          </p:cNvPr>
          <p:cNvSpPr>
            <a:spLocks noGrp="1"/>
          </p:cNvSpPr>
          <p:nvPr/>
        </p:nvSpPr>
        <p:spPr>
          <a:xfrm>
            <a:off x="514350" y="6562725"/>
            <a:ext cx="11163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DIAL-ALERT technical presentation  /  05</a:t>
            </a:r>
          </a:p>
        </p:txBody>
      </p:sp>
    </p:spTree>
    <p:extLst>
      <p:ext uri="{BB962C8B-B14F-4D97-AF65-F5344CB8AC3E}">
        <p14:creationId xmlns:p14="http://schemas.microsoft.com/office/powerpoint/2010/main" val="1976971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1672DC6-30A1-4CD1-B548-2AC16EE504D0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76200" cy="781050"/>
          </a:xfrm>
          <a:prstGeom prst="rect">
            <a:avLst/>
          </a:prstGeom>
          <a:solidFill>
            <a:srgbClr val="0E7C7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D75F3A-3915-42C6-B404-81818DBD238D}"/>
              </a:ext>
            </a:extLst>
          </p:cNvPr>
          <p:cNvSpPr>
            <a:spLocks noGrp="1"/>
          </p:cNvSpPr>
          <p:nvPr/>
        </p:nvSpPr>
        <p:spPr>
          <a:xfrm>
            <a:off x="781050" y="333375"/>
            <a:ext cx="10744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7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Random forest met the prespecified selection rule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8E7200-D252-4B07-8642-2775478D6B16}"/>
              </a:ext>
            </a:extLst>
          </p:cNvPr>
          <p:cNvSpPr>
            <a:spLocks noGrp="1"/>
          </p:cNvSpPr>
          <p:nvPr/>
        </p:nvSpPr>
        <p:spPr>
          <a:xfrm>
            <a:off x="800100" y="866775"/>
            <a:ext cx="1059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Selection rule: highest grouped-CV average precision, then lower validation Brier score within 0.01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552450" y="1409700"/>
          <a:ext cx="7239000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C02FA9E-1149-4AE3-A094-C5B1F3161923}"/>
              </a:ext>
            </a:extLst>
          </p:cNvPr>
          <p:cNvSpPr>
            <a:spLocks noGrp="1"/>
          </p:cNvSpPr>
          <p:nvPr/>
        </p:nvSpPr>
        <p:spPr>
          <a:xfrm>
            <a:off x="8286750" y="15430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Why random forest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91DBBE-1429-425C-A0E9-37CF01B8AB39}"/>
              </a:ext>
            </a:extLst>
          </p:cNvPr>
          <p:cNvSpPr>
            <a:spLocks noGrp="1"/>
          </p:cNvSpPr>
          <p:nvPr/>
        </p:nvSpPr>
        <p:spPr>
          <a:xfrm>
            <a:off x="8286750" y="20764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CV AVERAGE PRECISION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268F5A-7E19-4536-97AE-4EA980DB03C0}"/>
              </a:ext>
            </a:extLst>
          </p:cNvPr>
          <p:cNvSpPr>
            <a:spLocks noGrp="1"/>
          </p:cNvSpPr>
          <p:nvPr/>
        </p:nvSpPr>
        <p:spPr>
          <a:xfrm>
            <a:off x="8286750" y="232410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0.440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A9B736-70C9-4196-929C-61536F278CFE}"/>
              </a:ext>
            </a:extLst>
          </p:cNvPr>
          <p:cNvSpPr>
            <a:spLocks noGrp="1"/>
          </p:cNvSpPr>
          <p:nvPr/>
        </p:nvSpPr>
        <p:spPr>
          <a:xfrm>
            <a:off x="8286750" y="30099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VALIDATION BRIER SCORE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5DD677-4A96-4250-8F95-F4A66EF459DF}"/>
              </a:ext>
            </a:extLst>
          </p:cNvPr>
          <p:cNvSpPr>
            <a:spLocks noGrp="1"/>
          </p:cNvSpPr>
          <p:nvPr/>
        </p:nvSpPr>
        <p:spPr>
          <a:xfrm>
            <a:off x="8286750" y="325755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 i="0">
                <a:solidFill>
                  <a:srgbClr val="765A9E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 i="0">
                <a:solidFill>
                  <a:srgbClr val="765A9E"/>
                </a:solidFill>
                <a:latin typeface="Nimbus Sans"/>
                <a:ea typeface="Nimbus Sans"/>
                <a:cs typeface="Nimbus Sans"/>
              </a:rPr>
              <a:t>0.058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656D26-1972-4D2B-B55B-FEA90C03E4AD}"/>
              </a:ext>
            </a:extLst>
          </p:cNvPr>
          <p:cNvSpPr>
            <a:spLocks noGrp="1"/>
          </p:cNvSpPr>
          <p:nvPr/>
        </p:nvSpPr>
        <p:spPr>
          <a:xfrm>
            <a:off x="8286750" y="4038600"/>
            <a:ext cx="3048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Boosting CV AP: 0.446; RF: 0.440. Brier comparison used candidates as fitted. Equal calibration remains untested.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B6C44F-FCAF-435C-A0F8-1209FEA1039B}"/>
              </a:ext>
            </a:extLst>
          </p:cNvPr>
          <p:cNvSpPr>
            <a:spLocks noGrp="1"/>
          </p:cNvSpPr>
          <p:nvPr/>
        </p:nvSpPr>
        <p:spPr>
          <a:xfrm>
            <a:off x="8286750" y="5505450"/>
            <a:ext cx="304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Selected model: 250-tree random forest, minimum leaf size 15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E2A21A-6099-4806-9035-457A368900D7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10668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Source: model_comparison.csv and final_test_metrics.json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CEA1EC04-D010-46E8-BC1E-6BD434C3F5F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11633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DA011F-3DE3-41A5-A106-0331EF57DBB7}"/>
              </a:ext>
            </a:extLst>
          </p:cNvPr>
          <p:cNvSpPr>
            <a:spLocks noGrp="1"/>
          </p:cNvSpPr>
          <p:nvPr/>
        </p:nvSpPr>
        <p:spPr>
          <a:xfrm>
            <a:off x="514350" y="6562725"/>
            <a:ext cx="11163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DIAL-ALERT technical presentation  /  06</a:t>
            </a:r>
          </a:p>
        </p:txBody>
      </p:sp>
    </p:spTree>
    <p:extLst>
      <p:ext uri="{BB962C8B-B14F-4D97-AF65-F5344CB8AC3E}">
        <p14:creationId xmlns:p14="http://schemas.microsoft.com/office/powerpoint/2010/main" val="1611586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FC1F3E5-C6F0-4AB8-8346-C9DA3E8D010D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76200" cy="781050"/>
          </a:xfrm>
          <a:prstGeom prst="rect">
            <a:avLst/>
          </a:prstGeom>
          <a:solidFill>
            <a:srgbClr val="0E7C7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BB7B0F-B811-489A-A5EA-4DA1519ECAB8}"/>
              </a:ext>
            </a:extLst>
          </p:cNvPr>
          <p:cNvSpPr>
            <a:spLocks noGrp="1"/>
          </p:cNvSpPr>
          <p:nvPr/>
        </p:nvSpPr>
        <p:spPr>
          <a:xfrm>
            <a:off x="781050" y="333375"/>
            <a:ext cx="10744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Held-out performance shows strong discrimination and modest precision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B4C897-7200-4243-A4BA-581E4FA99860}"/>
              </a:ext>
            </a:extLst>
          </p:cNvPr>
          <p:cNvSpPr>
            <a:spLocks noGrp="1"/>
          </p:cNvSpPr>
          <p:nvPr/>
        </p:nvSpPr>
        <p:spPr>
          <a:xfrm>
            <a:off x="800100" y="866775"/>
            <a:ext cx="1059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Locked assessment on 21,354 sessions from 170 previously unseen patients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996" y="1381125"/>
            <a:ext cx="6843908" cy="44767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E052F8A-DB59-4243-8DFD-024D8DAA56FC}"/>
              </a:ext>
            </a:extLst>
          </p:cNvPr>
          <p:cNvSpPr>
            <a:spLocks noGrp="1"/>
          </p:cNvSpPr>
          <p:nvPr/>
        </p:nvSpPr>
        <p:spPr>
          <a:xfrm>
            <a:off x="8172450" y="142875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20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420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0.852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CA422E-E168-45FF-B5AF-5F32E5C798C9}"/>
              </a:ext>
            </a:extLst>
          </p:cNvPr>
          <p:cNvSpPr>
            <a:spLocks noGrp="1"/>
          </p:cNvSpPr>
          <p:nvPr/>
        </p:nvSpPr>
        <p:spPr>
          <a:xfrm>
            <a:off x="8172450" y="211455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ROC AUC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323835-5F3B-432D-A9CE-500C8480AFF0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200" b="1" i="0">
                <a:solidFill>
                  <a:srgbClr val="765A9E"/>
                </a:solidFill>
                <a:latin typeface="Nimbus Sans"/>
                <a:ea typeface="Nimbus Sans"/>
                <a:cs typeface="Nimbus Sans"/>
              </a:defRPr>
            </a:pPr>
            <a:r>
              <a:rPr sz="4200" b="1" i="0">
                <a:solidFill>
                  <a:srgbClr val="765A9E"/>
                </a:solidFill>
                <a:latin typeface="Nimbus Sans"/>
                <a:ea typeface="Nimbus Sans"/>
                <a:cs typeface="Nimbus Sans"/>
              </a:rPr>
              <a:t>0.395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8D7109-9CD1-4EA6-BD8E-0F376BEB23AA}"/>
              </a:ext>
            </a:extLst>
          </p:cNvPr>
          <p:cNvSpPr>
            <a:spLocks noGrp="1"/>
          </p:cNvSpPr>
          <p:nvPr/>
        </p:nvSpPr>
        <p:spPr>
          <a:xfrm>
            <a:off x="8172450" y="323850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average precision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D0524E-F675-49B0-A29D-B7C1040BEA35}"/>
              </a:ext>
            </a:extLst>
          </p:cNvPr>
          <p:cNvSpPr>
            <a:spLocks noGrp="1"/>
          </p:cNvSpPr>
          <p:nvPr/>
        </p:nvSpPr>
        <p:spPr>
          <a:xfrm>
            <a:off x="8172450" y="367665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200" b="1" i="0">
                <a:solidFill>
                  <a:srgbClr val="E76F51"/>
                </a:solidFill>
                <a:latin typeface="Nimbus Sans"/>
                <a:ea typeface="Nimbus Sans"/>
                <a:cs typeface="Nimbus Sans"/>
              </a:defRPr>
            </a:pPr>
            <a:r>
              <a:rPr sz="4200" b="1" i="0">
                <a:solidFill>
                  <a:srgbClr val="E76F51"/>
                </a:solidFill>
                <a:latin typeface="Nimbus Sans"/>
                <a:ea typeface="Nimbus Sans"/>
                <a:cs typeface="Nimbus Sans"/>
              </a:rPr>
              <a:t>0.062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51C4B2-CAB6-48BC-A431-B04FFF464AFF}"/>
              </a:ext>
            </a:extLst>
          </p:cNvPr>
          <p:cNvSpPr>
            <a:spLocks noGrp="1"/>
          </p:cNvSpPr>
          <p:nvPr/>
        </p:nvSpPr>
        <p:spPr>
          <a:xfrm>
            <a:off x="8172450" y="436245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Brier score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CCC6AD55-E2A4-4D47-8B5C-524D377BB907}"/>
              </a:ext>
            </a:extLst>
          </p:cNvPr>
          <p:cNvSpPr>
            <a:spLocks noGrp="1"/>
          </p:cNvSpPr>
          <p:nvPr/>
        </p:nvSpPr>
        <p:spPr>
          <a:xfrm>
            <a:off x="8172450" y="4953000"/>
            <a:ext cx="2857500" cy="0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898DB0-0281-491F-BB71-DC5A27EDAD2B}"/>
              </a:ext>
            </a:extLst>
          </p:cNvPr>
          <p:cNvSpPr>
            <a:spLocks noGrp="1"/>
          </p:cNvSpPr>
          <p:nvPr/>
        </p:nvSpPr>
        <p:spPr>
          <a:xfrm>
            <a:off x="8172450" y="51244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Operating threshold 0.143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54AE7C-49F1-4457-9800-9BEFC0EB24CC}"/>
              </a:ext>
            </a:extLst>
          </p:cNvPr>
          <p:cNvSpPr>
            <a:spLocks noGrp="1"/>
          </p:cNvSpPr>
          <p:nvPr/>
        </p:nvSpPr>
        <p:spPr>
          <a:xfrm>
            <a:off x="8172450" y="5467350"/>
            <a:ext cx="285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Sensitivity 66.1%</a:t>
            </a:r>
          </a:p>
          <a:p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Specificity 86.1%</a:t>
            </a:r>
          </a:p>
          <a:p>
            <a:pPr algn="l">
              <a:def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Precision 30.6%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1AD5B5-B7CB-4E49-A371-C28556090CBA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10668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Intervals: 500 patient-cluster bootstrap resamples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C10BC715-255F-412C-9690-1BB9DCE93F3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11633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8AC910-84D8-4EFE-AA87-FD93575D8022}"/>
              </a:ext>
            </a:extLst>
          </p:cNvPr>
          <p:cNvSpPr>
            <a:spLocks noGrp="1"/>
          </p:cNvSpPr>
          <p:nvPr/>
        </p:nvSpPr>
        <p:spPr>
          <a:xfrm>
            <a:off x="514350" y="6562725"/>
            <a:ext cx="11163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DIAL-ALERT technical presentation  /  07</a:t>
            </a:r>
          </a:p>
        </p:txBody>
      </p:sp>
    </p:spTree>
    <p:extLst>
      <p:ext uri="{BB962C8B-B14F-4D97-AF65-F5344CB8AC3E}">
        <p14:creationId xmlns:p14="http://schemas.microsoft.com/office/powerpoint/2010/main" val="1666939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67DB4CA-1C0B-46FE-9894-A5E7B881E598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76200" cy="781050"/>
          </a:xfrm>
          <a:prstGeom prst="rect">
            <a:avLst/>
          </a:prstGeom>
          <a:solidFill>
            <a:srgbClr val="0E7C7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9394F5-2F14-4839-A814-CF373D70D329}"/>
              </a:ext>
            </a:extLst>
          </p:cNvPr>
          <p:cNvSpPr>
            <a:spLocks noGrp="1"/>
          </p:cNvSpPr>
          <p:nvPr/>
        </p:nvSpPr>
        <p:spPr>
          <a:xfrm>
            <a:off x="781050" y="333375"/>
            <a:ext cx="10744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4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Alert capacity determines the coverage and workload trade-off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C7D995-1BDD-4FB0-BB4A-D3C3ED6037D9}"/>
              </a:ext>
            </a:extLst>
          </p:cNvPr>
          <p:cNvSpPr>
            <a:spLocks noGrp="1"/>
          </p:cNvSpPr>
          <p:nvPr/>
        </p:nvSpPr>
        <p:spPr>
          <a:xfrm>
            <a:off x="800100" y="866775"/>
            <a:ext cx="1059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Ranking utility shown across the proportion of sessions selected for review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="552450" y="1476375"/>
          <a:ext cx="752475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4DD90FF-EBD0-46F5-911F-30236F9770B5}"/>
              </a:ext>
            </a:extLst>
          </p:cNvPr>
          <p:cNvSpPr>
            <a:spLocks noGrp="1"/>
          </p:cNvSpPr>
          <p:nvPr/>
        </p:nvSpPr>
        <p:spPr>
          <a:xfrm>
            <a:off x="8572500" y="156210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20% review capacity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11841F-5247-40DE-B31E-72324AB1E184}"/>
              </a:ext>
            </a:extLst>
          </p:cNvPr>
          <p:cNvSpPr>
            <a:spLocks noGrp="1"/>
          </p:cNvSpPr>
          <p:nvPr/>
        </p:nvSpPr>
        <p:spPr>
          <a:xfrm>
            <a:off x="8572500" y="21717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EVENT RECALL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5050E8-BFA0-4813-9F84-A1C46BF9D57C}"/>
              </a:ext>
            </a:extLst>
          </p:cNvPr>
          <p:cNvSpPr>
            <a:spLocks noGrp="1"/>
          </p:cNvSpPr>
          <p:nvPr/>
        </p:nvSpPr>
        <p:spPr>
          <a:xfrm>
            <a:off x="8572500" y="241935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75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2775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69.1%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D3745A-8363-4DFE-A597-E1FFF197F645}"/>
              </a:ext>
            </a:extLst>
          </p:cNvPr>
          <p:cNvSpPr>
            <a:spLocks noGrp="1"/>
          </p:cNvSpPr>
          <p:nvPr/>
        </p:nvSpPr>
        <p:spPr>
          <a:xfrm>
            <a:off x="8572500" y="31623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POSITIVE PREDICTIVE VALUE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EC55BD-53DF-48E0-8391-F33878AA3048}"/>
              </a:ext>
            </a:extLst>
          </p:cNvPr>
          <p:cNvSpPr>
            <a:spLocks noGrp="1"/>
          </p:cNvSpPr>
          <p:nvPr/>
        </p:nvSpPr>
        <p:spPr>
          <a:xfrm>
            <a:off x="8572500" y="340995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75" b="1" i="0">
                <a:solidFill>
                  <a:srgbClr val="E76F51"/>
                </a:solidFill>
                <a:latin typeface="Nimbus Sans"/>
                <a:ea typeface="Nimbus Sans"/>
                <a:cs typeface="Nimbus Sans"/>
              </a:defRPr>
            </a:pPr>
            <a:r>
              <a:rPr sz="2775" b="1" i="0">
                <a:solidFill>
                  <a:srgbClr val="E76F51"/>
                </a:solidFill>
                <a:latin typeface="Nimbus Sans"/>
                <a:ea typeface="Nimbus Sans"/>
                <a:cs typeface="Nimbus Sans"/>
              </a:rPr>
              <a:t>29.4%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115835-927D-43CE-BA64-E671C81930E9}"/>
              </a:ext>
            </a:extLst>
          </p:cNvPr>
          <p:cNvSpPr>
            <a:spLocks noGrp="1"/>
          </p:cNvSpPr>
          <p:nvPr/>
        </p:nvSpPr>
        <p:spPr>
          <a:xfrm>
            <a:off x="8572500" y="41529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LIFT OVER PREVALENCE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A1AD0B-4CA2-4A9A-A554-A9668776DD52}"/>
              </a:ext>
            </a:extLst>
          </p:cNvPr>
          <p:cNvSpPr>
            <a:spLocks noGrp="1"/>
          </p:cNvSpPr>
          <p:nvPr/>
        </p:nvSpPr>
        <p:spPr>
          <a:xfrm>
            <a:off x="8572500" y="4400550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75" b="1" i="0">
                <a:solidFill>
                  <a:srgbClr val="765A9E"/>
                </a:solidFill>
                <a:latin typeface="Nimbus Sans"/>
                <a:ea typeface="Nimbus Sans"/>
                <a:cs typeface="Nimbus Sans"/>
              </a:defRPr>
            </a:pPr>
            <a:r>
              <a:rPr sz="2775" b="1" i="0">
                <a:solidFill>
                  <a:srgbClr val="765A9E"/>
                </a:solidFill>
                <a:latin typeface="Nimbus Sans"/>
                <a:ea typeface="Nimbus Sans"/>
                <a:cs typeface="Nimbus Sans"/>
              </a:rPr>
              <a:t>3.46×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648F70-EB7F-42C0-AE06-F79713F3BAC8}"/>
              </a:ext>
            </a:extLst>
          </p:cNvPr>
          <p:cNvSpPr>
            <a:spLocks noGrp="1"/>
          </p:cNvSpPr>
          <p:nvPr/>
        </p:nvSpPr>
        <p:spPr>
          <a:xfrm>
            <a:off x="8572500" y="52197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B23A48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B23A48"/>
                </a:solidFill>
                <a:latin typeface="Nimbus Sans"/>
                <a:ea typeface="Nimbus Sans"/>
                <a:cs typeface="Nimbus Sans"/>
              </a:rPr>
              <a:t>14.1 false alerts per 100 sessions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0C9E43-5DD5-44EB-A327-97B7A5AC636B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10668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Capacity ranking is distinct from the fixed-threshold operating point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6346CFCD-43DA-4BF3-B5A0-692A7E3BEA4A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11633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7573C0-DD83-4C0F-A456-E49F4FE6E23A}"/>
              </a:ext>
            </a:extLst>
          </p:cNvPr>
          <p:cNvSpPr>
            <a:spLocks noGrp="1"/>
          </p:cNvSpPr>
          <p:nvPr/>
        </p:nvSpPr>
        <p:spPr>
          <a:xfrm>
            <a:off x="514350" y="6562725"/>
            <a:ext cx="11163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DIAL-ALERT technical presentation  /  08</a:t>
            </a:r>
          </a:p>
        </p:txBody>
      </p:sp>
    </p:spTree>
    <p:extLst>
      <p:ext uri="{BB962C8B-B14F-4D97-AF65-F5344CB8AC3E}">
        <p14:creationId xmlns:p14="http://schemas.microsoft.com/office/powerpoint/2010/main" val="885577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F407526-C15F-46EB-9C00-46324CA59F24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76200" cy="781050"/>
          </a:xfrm>
          <a:prstGeom prst="rect">
            <a:avLst/>
          </a:prstGeom>
          <a:solidFill>
            <a:srgbClr val="0E7C7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A5F1BC-3AB3-49CA-8492-53409B28EFA1}"/>
              </a:ext>
            </a:extLst>
          </p:cNvPr>
          <p:cNvSpPr>
            <a:spLocks noGrp="1"/>
          </p:cNvSpPr>
          <p:nvPr/>
        </p:nvSpPr>
        <p:spPr>
          <a:xfrm>
            <a:off x="781050" y="333375"/>
            <a:ext cx="10744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7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Prior haemodynamic instability drives most predicted risk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B54179-3597-47CD-B58F-120B21B5B4E7}"/>
              </a:ext>
            </a:extLst>
          </p:cNvPr>
          <p:cNvSpPr>
            <a:spLocks noGrp="1"/>
          </p:cNvSpPr>
          <p:nvPr/>
        </p:nvSpPr>
        <p:spPr>
          <a:xfrm>
            <a:off x="800100" y="866775"/>
            <a:ext cx="1059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Aggregate SHAP with a separately declared synthetic local scenario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2612" y="1352550"/>
            <a:ext cx="6692975" cy="4619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7E40005-B243-4CC7-AACC-2E0D3E610E5E}"/>
              </a:ext>
            </a:extLst>
          </p:cNvPr>
          <p:cNvSpPr>
            <a:spLocks noGrp="1"/>
          </p:cNvSpPr>
          <p:nvPr/>
        </p:nvSpPr>
        <p:spPr>
          <a:xfrm>
            <a:off x="8286750" y="15240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Consistent signals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12570E-EB02-4BC7-844B-334A213C46BF}"/>
              </a:ext>
            </a:extLst>
          </p:cNvPr>
          <p:cNvSpPr>
            <a:spLocks noGrp="1"/>
          </p:cNvSpPr>
          <p:nvPr/>
        </p:nvSpPr>
        <p:spPr>
          <a:xfrm>
            <a:off x="8286750" y="2019300"/>
            <a:ext cx="3143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Lower prior nadir SBP: </a:t>
            </a:r>
            <a:r>
              <a:rPr sz="150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higher predicted risk</a:t>
            </a:r>
          </a:p>
          <a:p>
            <a:pPr algn="l">
              <a:defRPr sz="150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Higher prior IDH rate: </a:t>
            </a:r>
            <a:r>
              <a:rPr sz="150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higher predicted risk</a:t>
            </a:r>
          </a:p>
          <a:p>
            <a:pPr algn="l">
              <a:defRPr sz="150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Greater fluid excess: </a:t>
            </a:r>
            <a:r>
              <a:rPr sz="150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higher predicted risk</a:t>
            </a:r>
          </a:p>
          <a:p>
            <a:pPr algn="l">
              <a:defRPr sz="150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Lower baseline pressure: </a:t>
            </a:r>
            <a:r>
              <a:rPr sz="150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higher predicted risk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364CC16D-9A24-40A2-82F9-FA99DD2ABADE}"/>
              </a:ext>
            </a:extLst>
          </p:cNvPr>
          <p:cNvSpPr>
            <a:spLocks noGrp="1"/>
          </p:cNvSpPr>
          <p:nvPr/>
        </p:nvSpPr>
        <p:spPr>
          <a:xfrm>
            <a:off x="8286750" y="4210050"/>
            <a:ext cx="2857500" cy="0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CAB83C-C578-4A29-8CD1-64D202C7FB73}"/>
              </a:ext>
            </a:extLst>
          </p:cNvPr>
          <p:cNvSpPr>
            <a:spLocks noGrp="1"/>
          </p:cNvSpPr>
          <p:nvPr/>
        </p:nvSpPr>
        <p:spPr>
          <a:xfrm>
            <a:off x="8286750" y="44005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E76F51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E76F51"/>
                </a:solidFill>
                <a:latin typeface="Nimbus Sans"/>
                <a:ea typeface="Nimbus Sans"/>
                <a:cs typeface="Nimbus Sans"/>
              </a:rPr>
              <a:t>Explanation limits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8CE32D-654D-44E5-B1C0-E317D0A85B16}"/>
              </a:ext>
            </a:extLst>
          </p:cNvPr>
          <p:cNvSpPr>
            <a:spLocks noGrp="1"/>
          </p:cNvSpPr>
          <p:nvPr/>
        </p:nvSpPr>
        <p:spPr>
          <a:xfrm>
            <a:off x="8286750" y="4810125"/>
            <a:ext cx="30480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Monte Carlo SHAP is approximate. For the synthetic local scenario, the LIME-style surrogate had weighted R² 0.678 and absolute probability error 0.025. Neither method establishes causality or a treatment target.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C0F382-0DF3-4D83-91BB-ECA4FC39D6F5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10668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Source: Step 5 explainability audit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BD71F69F-685E-445D-BD47-34D7BC88EAE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11633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014C6C-8C25-48AC-AC43-09351A118831}"/>
              </a:ext>
            </a:extLst>
          </p:cNvPr>
          <p:cNvSpPr>
            <a:spLocks noGrp="1"/>
          </p:cNvSpPr>
          <p:nvPr/>
        </p:nvSpPr>
        <p:spPr>
          <a:xfrm>
            <a:off x="514350" y="6562725"/>
            <a:ext cx="11163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DIAL-ALERT technical presentation  /  09</a:t>
            </a:r>
          </a:p>
        </p:txBody>
      </p:sp>
    </p:spTree>
    <p:extLst>
      <p:ext uri="{BB962C8B-B14F-4D97-AF65-F5344CB8AC3E}">
        <p14:creationId xmlns:p14="http://schemas.microsoft.com/office/powerpoint/2010/main" val="2045754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742F7CB-53DF-410B-87FA-6B4A1B946FF9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76200" cy="781050"/>
          </a:xfrm>
          <a:prstGeom prst="rect">
            <a:avLst/>
          </a:prstGeom>
          <a:solidFill>
            <a:srgbClr val="0E7C7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3D356F-17E1-4D1E-A6B7-66B8B9850DA4}"/>
              </a:ext>
            </a:extLst>
          </p:cNvPr>
          <p:cNvSpPr>
            <a:spLocks noGrp="1"/>
          </p:cNvSpPr>
          <p:nvPr/>
        </p:nvSpPr>
        <p:spPr>
          <a:xfrm>
            <a:off x="781050" y="333375"/>
            <a:ext cx="10744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3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Fairness mitigation findings remain exploratory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52B28A-6E74-466C-ACB3-1E1C2BAE9D11}"/>
              </a:ext>
            </a:extLst>
          </p:cNvPr>
          <p:cNvSpPr>
            <a:spLocks noGrp="1"/>
          </p:cNvSpPr>
          <p:nvPr/>
        </p:nvSpPr>
        <p:spPr>
          <a:xfrm>
            <a:off x="800100" y="866775"/>
            <a:ext cx="1059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Held-out fairness metrics must be reviewed with clinical utility and uncertainty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73212" y="1352550"/>
            <a:ext cx="9826526" cy="3429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C585532-2065-4FBC-9715-13E5686F77B8}"/>
              </a:ext>
            </a:extLst>
          </p:cNvPr>
          <p:cNvSpPr>
            <a:spLocks noGrp="1"/>
          </p:cNvSpPr>
          <p:nvPr/>
        </p:nvSpPr>
        <p:spPr>
          <a:xfrm>
            <a:off x="723900" y="50482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287D5A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87D5A"/>
                </a:solidFill>
                <a:latin typeface="Nimbus Sans"/>
                <a:ea typeface="Nimbus Sans"/>
                <a:cs typeface="Nimbus Sans"/>
              </a:rPr>
              <a:t>Reweighting explored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14D895-66A8-4D53-AFD4-DEB1E7BCC6ED}"/>
              </a:ext>
            </a:extLst>
          </p:cNvPr>
          <p:cNvSpPr>
            <a:spLocks noGrp="1"/>
          </p:cNvSpPr>
          <p:nvPr/>
        </p:nvSpPr>
        <p:spPr>
          <a:xfrm>
            <a:off x="723900" y="5410200"/>
            <a:ext cx="314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Sex disparate-impact ratio 0.705 to 0.764. Equalized-odds gap 0.076 to 0.058. AP 0.395 to 0.394.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32604E-D376-4F9C-AC8B-34EDDE2EDAD9}"/>
              </a:ext>
            </a:extLst>
          </p:cNvPr>
          <p:cNvSpPr>
            <a:spLocks noGrp="1"/>
          </p:cNvSpPr>
          <p:nvPr/>
        </p:nvSpPr>
        <p:spPr>
          <a:xfrm>
            <a:off x="4286250" y="50482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B23A48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B23A48"/>
                </a:solidFill>
                <a:latin typeface="Nimbus Sans"/>
                <a:ea typeface="Nimbus Sans"/>
                <a:cs typeface="Nimbus Sans"/>
              </a:rPr>
              <a:t>Threshold strategy rejected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5A7582-9CE6-4ACF-B9C9-4345A38EDC49}"/>
              </a:ext>
            </a:extLst>
          </p:cNvPr>
          <p:cNvSpPr>
            <a:spLocks noGrp="1"/>
          </p:cNvSpPr>
          <p:nvPr/>
        </p:nvSpPr>
        <p:spPr>
          <a:xfrm>
            <a:off x="4286250" y="5410200"/>
            <a:ext cx="314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Sex-specific thresholds worsened the equalized-odds gap to 0.139 and lowered precision to 27.8%.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7F92ED-A8E8-42B6-BDC7-379632BB1B6D}"/>
              </a:ext>
            </a:extLst>
          </p:cNvPr>
          <p:cNvSpPr>
            <a:spLocks noGrp="1"/>
          </p:cNvSpPr>
          <p:nvPr/>
        </p:nvSpPr>
        <p:spPr>
          <a:xfrm>
            <a:off x="7848600" y="50482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765A9E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765A9E"/>
                </a:solidFill>
                <a:latin typeface="Nimbus Sans"/>
                <a:ea typeface="Nimbus Sans"/>
                <a:cs typeface="Nimbus Sans"/>
              </a:rPr>
              <a:t>Unmeasured fairness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2E42CD-A299-403C-919C-F18D6EFAE584}"/>
              </a:ext>
            </a:extLst>
          </p:cNvPr>
          <p:cNvSpPr>
            <a:spLocks noGrp="1"/>
          </p:cNvSpPr>
          <p:nvPr/>
        </p:nvSpPr>
        <p:spPr>
          <a:xfrm>
            <a:off x="7848600" y="5410200"/>
            <a:ext cx="314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Race, ethnicity, socioeconomic status, and gender identity are unavailable. Age-group DI ratio is 0.541.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D8D286-BB9D-4D9D-88DB-FD63BAEB2C5A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10668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0.80 disparate-impact ratio is a descriptive screen, not a fairness certificate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27A4F8BB-E3C6-46CA-9051-E107787BA4C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11633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43C9E5-D2A3-4521-BDE4-5B82DA11032C}"/>
              </a:ext>
            </a:extLst>
          </p:cNvPr>
          <p:cNvSpPr>
            <a:spLocks noGrp="1"/>
          </p:cNvSpPr>
          <p:nvPr/>
        </p:nvSpPr>
        <p:spPr>
          <a:xfrm>
            <a:off x="514350" y="6562725"/>
            <a:ext cx="11163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DIAL-ALERT technical presentation  /  10</a:t>
            </a:r>
          </a:p>
        </p:txBody>
      </p:sp>
    </p:spTree>
    <p:extLst>
      <p:ext uri="{BB962C8B-B14F-4D97-AF65-F5344CB8AC3E}">
        <p14:creationId xmlns:p14="http://schemas.microsoft.com/office/powerpoint/2010/main" val="138950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3EBBFA6F-CAF1-4F12-A9A5-683F7C7EF3CB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76200" cy="781050"/>
          </a:xfrm>
          <a:prstGeom prst="rect">
            <a:avLst/>
          </a:prstGeom>
          <a:solidFill>
            <a:srgbClr val="0E7C7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216681-527E-4D70-8F40-773D5B4C6FCE}"/>
              </a:ext>
            </a:extLst>
          </p:cNvPr>
          <p:cNvSpPr>
            <a:spLocks noGrp="1"/>
          </p:cNvSpPr>
          <p:nvPr/>
        </p:nvSpPr>
        <p:spPr>
          <a:xfrm>
            <a:off x="781050" y="333375"/>
            <a:ext cx="10744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4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defRPr>
            </a:pPr>
            <a:r>
              <a:rPr sz="2475" b="1" i="0">
                <a:solidFill>
                  <a:srgbClr val="102A43"/>
                </a:solidFill>
                <a:latin typeface="Nimbus Sans"/>
                <a:ea typeface="Nimbus Sans"/>
                <a:cs typeface="Nimbus Sans"/>
              </a:rPr>
              <a:t>End-to-end reproduction successfully completed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178817-E561-4B27-8443-904209FC96E9}"/>
              </a:ext>
            </a:extLst>
          </p:cNvPr>
          <p:cNvSpPr>
            <a:spLocks noGrp="1"/>
          </p:cNvSpPr>
          <p:nvPr/>
        </p:nvSpPr>
        <p:spPr>
          <a:xfrm>
            <a:off x="800100" y="866775"/>
            <a:ext cx="1059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Fresh Python 3.12 reproduction completed on 20 September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161C96-C5F5-486C-90B0-BA570FAD3045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Project structure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74F5D8-18DB-4621-AAE7-E037116B58AB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765A9E"/>
                </a:solidFill>
                <a:latin typeface="Nimbus Mono PS"/>
                <a:ea typeface="Nimbus Mono PS"/>
                <a:cs typeface="Nimbus Mono PS"/>
              </a:defRPr>
            </a:pPr>
            <a:r>
              <a:rPr sz="1500" b="1" i="0">
                <a:solidFill>
                  <a:srgbClr val="765A9E"/>
                </a:solidFill>
                <a:latin typeface="Nimbus Mono PS"/>
                <a:ea typeface="Nimbus Mono PS"/>
                <a:cs typeface="Nimbus Mono PS"/>
              </a:rPr>
              <a:t>data/raw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2E949F-ED9F-4907-A506-BBD5AEC4B817}"/>
              </a:ext>
            </a:extLst>
          </p:cNvPr>
          <p:cNvSpPr>
            <a:spLocks noGrp="1"/>
          </p:cNvSpPr>
          <p:nvPr/>
        </p:nvSpPr>
        <p:spPr>
          <a:xfrm>
            <a:off x="3048000" y="20002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Download HEMOBP source files; not bundled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570A9EF9-4224-4F9F-A0F5-8097DE1715B5}"/>
              </a:ext>
            </a:extLst>
          </p:cNvPr>
          <p:cNvSpPr>
            <a:spLocks noGrp="1"/>
          </p:cNvSpPr>
          <p:nvPr/>
        </p:nvSpPr>
        <p:spPr>
          <a:xfrm>
            <a:off x="723900" y="2381250"/>
            <a:ext cx="661035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CE84F8-FBF7-412D-B87A-862700A1EA2E}"/>
              </a:ext>
            </a:extLst>
          </p:cNvPr>
          <p:cNvSpPr>
            <a:spLocks noGrp="1"/>
          </p:cNvSpPr>
          <p:nvPr/>
        </p:nvSpPr>
        <p:spPr>
          <a:xfrm>
            <a:off x="723900" y="2514600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765A9E"/>
                </a:solidFill>
                <a:latin typeface="Nimbus Mono PS"/>
                <a:ea typeface="Nimbus Mono PS"/>
                <a:cs typeface="Nimbus Mono PS"/>
              </a:defRPr>
            </a:pPr>
            <a:r>
              <a:rPr sz="1500" b="1" i="0">
                <a:solidFill>
                  <a:srgbClr val="765A9E"/>
                </a:solidFill>
                <a:latin typeface="Nimbus Mono PS"/>
                <a:ea typeface="Nimbus Mono PS"/>
                <a:cs typeface="Nimbus Mono PS"/>
              </a:rPr>
              <a:t>data/processed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709B53-691B-4A06-A27F-A2815EC45DB0}"/>
              </a:ext>
            </a:extLst>
          </p:cNvPr>
          <p:cNvSpPr>
            <a:spLocks noGrp="1"/>
          </p:cNvSpPr>
          <p:nvPr/>
        </p:nvSpPr>
        <p:spPr>
          <a:xfrm>
            <a:off x="3048000" y="251460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Regenerate the session table; not bundled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C0566D55-C8FC-4D66-BFA9-94C5F6982A6D}"/>
              </a:ext>
            </a:extLst>
          </p:cNvPr>
          <p:cNvSpPr>
            <a:spLocks noGrp="1"/>
          </p:cNvSpPr>
          <p:nvPr/>
        </p:nvSpPr>
        <p:spPr>
          <a:xfrm>
            <a:off x="723900" y="2895600"/>
            <a:ext cx="661035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9B71FA-FD97-4795-9BC7-FFB3545814E2}"/>
              </a:ext>
            </a:extLst>
          </p:cNvPr>
          <p:cNvSpPr>
            <a:spLocks noGrp="1"/>
          </p:cNvSpPr>
          <p:nvPr/>
        </p:nvSpPr>
        <p:spPr>
          <a:xfrm>
            <a:off x="723900" y="3028950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765A9E"/>
                </a:solidFill>
                <a:latin typeface="Nimbus Mono PS"/>
                <a:ea typeface="Nimbus Mono PS"/>
                <a:cs typeface="Nimbus Mono PS"/>
              </a:defRPr>
            </a:pPr>
            <a:r>
              <a:rPr sz="1500" b="1" i="0">
                <a:solidFill>
                  <a:srgbClr val="765A9E"/>
                </a:solidFill>
                <a:latin typeface="Nimbus Mono PS"/>
                <a:ea typeface="Nimbus Mono PS"/>
                <a:cs typeface="Nimbus Mono PS"/>
              </a:rPr>
              <a:t>src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92BE7D-D057-437D-A660-82DE68E52AC5}"/>
              </a:ext>
            </a:extLst>
          </p:cNvPr>
          <p:cNvSpPr>
            <a:spLocks noGrp="1"/>
          </p:cNvSpPr>
          <p:nvPr/>
        </p:nvSpPr>
        <p:spPr>
          <a:xfrm>
            <a:off x="3048000" y="30289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Build, train, evaluate, audit, and report scripts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35BB10C7-3E21-403D-9592-FAEDD3F0E64D}"/>
              </a:ext>
            </a:extLst>
          </p:cNvPr>
          <p:cNvSpPr>
            <a:spLocks noGrp="1"/>
          </p:cNvSpPr>
          <p:nvPr/>
        </p:nvSpPr>
        <p:spPr>
          <a:xfrm>
            <a:off x="723900" y="3409950"/>
            <a:ext cx="661035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E75BB8-06C9-4330-AB2E-D847C5C5C297}"/>
              </a:ext>
            </a:extLst>
          </p:cNvPr>
          <p:cNvSpPr>
            <a:spLocks noGrp="1"/>
          </p:cNvSpPr>
          <p:nvPr/>
        </p:nvSpPr>
        <p:spPr>
          <a:xfrm>
            <a:off x="723900" y="3543300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765A9E"/>
                </a:solidFill>
                <a:latin typeface="Nimbus Mono PS"/>
                <a:ea typeface="Nimbus Mono PS"/>
                <a:cs typeface="Nimbus Mono PS"/>
              </a:defRPr>
            </a:pPr>
            <a:r>
              <a:rPr sz="1500" b="1" i="0">
                <a:solidFill>
                  <a:srgbClr val="765A9E"/>
                </a:solidFill>
                <a:latin typeface="Nimbus Mono PS"/>
                <a:ea typeface="Nimbus Mono PS"/>
                <a:cs typeface="Nimbus Mono PS"/>
              </a:rPr>
              <a:t>configs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84A7D3-E97F-4345-AE1B-C8B8FEEA2E2E}"/>
              </a:ext>
            </a:extLst>
          </p:cNvPr>
          <p:cNvSpPr>
            <a:spLocks noGrp="1"/>
          </p:cNvSpPr>
          <p:nvPr/>
        </p:nvSpPr>
        <p:spPr>
          <a:xfrm>
            <a:off x="3048000" y="354330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Seeds, features, CV, bootstrap, capacity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51A85C63-0929-46AC-BFA0-1E15B36534A9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661035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CD1A58-DE00-454C-B016-354BA5151ADB}"/>
              </a:ext>
            </a:extLst>
          </p:cNvPr>
          <p:cNvSpPr>
            <a:spLocks noGrp="1"/>
          </p:cNvSpPr>
          <p:nvPr/>
        </p:nvSpPr>
        <p:spPr>
          <a:xfrm>
            <a:off x="723900" y="4057650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765A9E"/>
                </a:solidFill>
                <a:latin typeface="Nimbus Mono PS"/>
                <a:ea typeface="Nimbus Mono PS"/>
                <a:cs typeface="Nimbus Mono PS"/>
              </a:defRPr>
            </a:pPr>
            <a:r>
              <a:rPr sz="1500" b="1" i="0">
                <a:solidFill>
                  <a:srgbClr val="765A9E"/>
                </a:solidFill>
                <a:latin typeface="Nimbus Mono PS"/>
                <a:ea typeface="Nimbus Mono PS"/>
                <a:cs typeface="Nimbus Mono PS"/>
              </a:rPr>
              <a:t>models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684AC5-1309-4C41-A873-76107150F882}"/>
              </a:ext>
            </a:extLst>
          </p:cNvPr>
          <p:cNvSpPr>
            <a:spLocks noGrp="1"/>
          </p:cNvSpPr>
          <p:nvPr/>
        </p:nvSpPr>
        <p:spPr>
          <a:xfrm>
            <a:off x="3048000" y="40576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Selected predictor included; candidates regenerated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CF2E48EB-3D5C-4BAE-8B30-919836EC814A}"/>
              </a:ext>
            </a:extLst>
          </p:cNvPr>
          <p:cNvSpPr>
            <a:spLocks noGrp="1"/>
          </p:cNvSpPr>
          <p:nvPr/>
        </p:nvSpPr>
        <p:spPr>
          <a:xfrm>
            <a:off x="723900" y="4438650"/>
            <a:ext cx="661035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7FAC73-4D05-4097-9F7B-8C9253483AE3}"/>
              </a:ext>
            </a:extLst>
          </p:cNvPr>
          <p:cNvSpPr>
            <a:spLocks noGrp="1"/>
          </p:cNvSpPr>
          <p:nvPr/>
        </p:nvSpPr>
        <p:spPr>
          <a:xfrm>
            <a:off x="723900" y="4572000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765A9E"/>
                </a:solidFill>
                <a:latin typeface="Nimbus Mono PS"/>
                <a:ea typeface="Nimbus Mono PS"/>
                <a:cs typeface="Nimbus Mono PS"/>
              </a:defRPr>
            </a:pPr>
            <a:r>
              <a:rPr sz="1500" b="1" i="0">
                <a:solidFill>
                  <a:srgbClr val="765A9E"/>
                </a:solidFill>
                <a:latin typeface="Nimbus Mono PS"/>
                <a:ea typeface="Nimbus Mono PS"/>
                <a:cs typeface="Nimbus Mono PS"/>
              </a:rPr>
              <a:t>artifacts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37A490-7A0D-4397-867C-C2789DC38C54}"/>
              </a:ext>
            </a:extLst>
          </p:cNvPr>
          <p:cNvSpPr>
            <a:spLocks noGrp="1"/>
          </p:cNvSpPr>
          <p:nvPr/>
        </p:nvSpPr>
        <p:spPr>
          <a:xfrm>
            <a:off x="3048000" y="457200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Aggregate metrics and plots; assignments regenerated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D4FDCC2F-38B0-4956-AF7A-CE3899E221A5}"/>
              </a:ext>
            </a:extLst>
          </p:cNvPr>
          <p:cNvSpPr>
            <a:spLocks noGrp="1"/>
          </p:cNvSpPr>
          <p:nvPr/>
        </p:nvSpPr>
        <p:spPr>
          <a:xfrm>
            <a:off x="723900" y="4953000"/>
            <a:ext cx="661035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E803C3-35D6-4DB0-A257-5A9C8D38CD65}"/>
              </a:ext>
            </a:extLst>
          </p:cNvPr>
          <p:cNvSpPr>
            <a:spLocks noGrp="1"/>
          </p:cNvSpPr>
          <p:nvPr/>
        </p:nvSpPr>
        <p:spPr>
          <a:xfrm>
            <a:off x="723900" y="5086350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765A9E"/>
                </a:solidFill>
                <a:latin typeface="Nimbus Mono PS"/>
                <a:ea typeface="Nimbus Mono PS"/>
                <a:cs typeface="Nimbus Mono PS"/>
              </a:defRPr>
            </a:pPr>
            <a:r>
              <a:rPr sz="1500" b="1" i="0">
                <a:solidFill>
                  <a:srgbClr val="765A9E"/>
                </a:solidFill>
                <a:latin typeface="Nimbus Mono PS"/>
                <a:ea typeface="Nimbus Mono PS"/>
                <a:cs typeface="Nimbus Mono PS"/>
              </a:rPr>
              <a:t>reports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A198C3-34FF-4474-8472-D4D953F61A08}"/>
              </a:ext>
            </a:extLst>
          </p:cNvPr>
          <p:cNvSpPr>
            <a:spLocks noGrp="1"/>
          </p:cNvSpPr>
          <p:nvPr/>
        </p:nvSpPr>
        <p:spPr>
          <a:xfrm>
            <a:off x="3048000" y="50863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Step 2 through Step 6 deliverables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C9584E33-22E1-4090-9606-C4CE1554650D}"/>
              </a:ext>
            </a:extLst>
          </p:cNvPr>
          <p:cNvSpPr>
            <a:spLocks noGrp="1"/>
          </p:cNvSpPr>
          <p:nvPr/>
        </p:nvSpPr>
        <p:spPr>
          <a:xfrm>
            <a:off x="723900" y="5467350"/>
            <a:ext cx="661035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D3CA9882-1E48-49E8-9F1C-3EFF92D076FB}"/>
              </a:ext>
            </a:extLst>
          </p:cNvPr>
          <p:cNvSpPr>
            <a:spLocks noGrp="1"/>
          </p:cNvSpPr>
          <p:nvPr/>
        </p:nvSpPr>
        <p:spPr>
          <a:xfrm>
            <a:off x="7734300" y="1524000"/>
            <a:ext cx="0" cy="4095750"/>
          </a:xfrm>
          <a:prstGeom prst="line">
            <a:avLst/>
          </a:prstGeom>
          <a:noFill/>
          <a:ln w="19050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79A2CF-CB18-464D-ABA5-433F2D934D18}"/>
              </a:ext>
            </a:extLst>
          </p:cNvPr>
          <p:cNvSpPr>
            <a:spLocks noGrp="1"/>
          </p:cNvSpPr>
          <p:nvPr/>
        </p:nvSpPr>
        <p:spPr>
          <a:xfrm>
            <a:off x="8096250" y="14668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defRPr>
            </a:pPr>
            <a:r>
              <a:rPr lang="en-PH" sz="1875" b="1" i="0">
                <a:solidFill>
                  <a:srgbClr val="0E7C7B"/>
                </a:solidFill>
                <a:latin typeface="Nimbus Sans"/>
                <a:ea typeface="Nimbus Sans"/>
                <a:cs typeface="Nimbus Sans"/>
              </a:rPr>
              <a:t>Simplified workflow — full commands in README</a:t>
            </a:r>
            <a:endParaRPr sz="1875" b="1" i="0" dirty="0">
              <a:solidFill>
                <a:srgbClr val="0E7C7B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CB17622-0679-4195-BE72-9809292E365C}"/>
              </a:ext>
            </a:extLst>
          </p:cNvPr>
          <p:cNvSpPr>
            <a:spLocks noGrp="1"/>
          </p:cNvSpPr>
          <p:nvPr/>
        </p:nvSpPr>
        <p:spPr>
          <a:xfrm>
            <a:off x="8096250" y="2076450"/>
            <a:ext cx="361950" cy="361950"/>
          </a:xfrm>
          <a:prstGeom prst="rect">
            <a:avLst/>
          </a:prstGeom>
          <a:solidFill>
            <a:srgbClr val="0E7C7B"/>
          </a:solidFill>
          <a:ln w="0">
            <a:noFill/>
            <a:prstDash val="solid"/>
          </a:ln>
        </p:spPr>
        <p:txBody>
          <a:bodyPr wrap="square" lIns="0" tIns="47625" rIns="0" bIns="0" anchor="ctr">
            <a:noAutofit/>
          </a:bodyPr>
          <a:lstStyle/>
          <a:p>
            <a:pPr algn="ctr">
              <a:defRPr sz="15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8119E9-6DBE-4FD8-9EC5-4B917E858CF2}"/>
              </a:ext>
            </a:extLst>
          </p:cNvPr>
          <p:cNvSpPr>
            <a:spLocks noGrp="1"/>
          </p:cNvSpPr>
          <p:nvPr/>
        </p:nvSpPr>
        <p:spPr>
          <a:xfrm>
            <a:off x="8667750" y="209550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75" b="0" i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rPr>
              <a:t>python src/build_session_dataset.py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71F837A-C602-4A30-B012-6C1073C06469}"/>
              </a:ext>
            </a:extLst>
          </p:cNvPr>
          <p:cNvSpPr>
            <a:spLocks noGrp="1"/>
          </p:cNvSpPr>
          <p:nvPr/>
        </p:nvSpPr>
        <p:spPr>
          <a:xfrm>
            <a:off x="8096250" y="2800350"/>
            <a:ext cx="361950" cy="361950"/>
          </a:xfrm>
          <a:prstGeom prst="rect">
            <a:avLst/>
          </a:prstGeom>
          <a:solidFill>
            <a:srgbClr val="0E7C7B"/>
          </a:solidFill>
          <a:ln w="0">
            <a:noFill/>
            <a:prstDash val="solid"/>
          </a:ln>
        </p:spPr>
        <p:txBody>
          <a:bodyPr wrap="square" lIns="0" tIns="47625" rIns="0" bIns="0" anchor="ctr">
            <a:noAutofit/>
          </a:bodyPr>
          <a:lstStyle/>
          <a:p>
            <a:pPr algn="ctr">
              <a:defRPr sz="15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C906995-BEA5-4F9A-AA49-7DFB1ACFF5FB}"/>
              </a:ext>
            </a:extLst>
          </p:cNvPr>
          <p:cNvSpPr>
            <a:spLocks noGrp="1"/>
          </p:cNvSpPr>
          <p:nvPr/>
        </p:nvSpPr>
        <p:spPr>
          <a:xfrm>
            <a:off x="8667750" y="281940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75" b="0" i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rPr>
              <a:t>python src/generate_eda.py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74E9DF-9DB8-4238-8D52-617EF9179D18}"/>
              </a:ext>
            </a:extLst>
          </p:cNvPr>
          <p:cNvSpPr>
            <a:spLocks noGrp="1"/>
          </p:cNvSpPr>
          <p:nvPr/>
        </p:nvSpPr>
        <p:spPr>
          <a:xfrm>
            <a:off x="8096250" y="3524250"/>
            <a:ext cx="361950" cy="361950"/>
          </a:xfrm>
          <a:prstGeom prst="rect">
            <a:avLst/>
          </a:prstGeom>
          <a:solidFill>
            <a:srgbClr val="0E7C7B"/>
          </a:solidFill>
          <a:ln w="0">
            <a:noFill/>
            <a:prstDash val="solid"/>
          </a:ln>
        </p:spPr>
        <p:txBody>
          <a:bodyPr wrap="square" lIns="0" tIns="47625" rIns="0" bIns="0" anchor="ctr">
            <a:noAutofit/>
          </a:bodyPr>
          <a:lstStyle/>
          <a:p>
            <a:pPr algn="ctr">
              <a:defRPr sz="15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BE7C692-5D9D-4EFD-AA45-AB3DECFDB535}"/>
              </a:ext>
            </a:extLst>
          </p:cNvPr>
          <p:cNvSpPr>
            <a:spLocks noGrp="1"/>
          </p:cNvSpPr>
          <p:nvPr/>
        </p:nvSpPr>
        <p:spPr>
          <a:xfrm>
            <a:off x="8667750" y="354330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75" b="0" i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rPr>
              <a:t>python src/train_evaluate.py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6D2853-34A3-4F88-9D5F-E6808DE0C50C}"/>
              </a:ext>
            </a:extLst>
          </p:cNvPr>
          <p:cNvSpPr>
            <a:spLocks noGrp="1"/>
          </p:cNvSpPr>
          <p:nvPr/>
        </p:nvSpPr>
        <p:spPr>
          <a:xfrm>
            <a:off x="8096250" y="4248150"/>
            <a:ext cx="361950" cy="361950"/>
          </a:xfrm>
          <a:prstGeom prst="rect">
            <a:avLst/>
          </a:prstGeom>
          <a:solidFill>
            <a:srgbClr val="0E7C7B"/>
          </a:solidFill>
          <a:ln w="0">
            <a:noFill/>
            <a:prstDash val="solid"/>
          </a:ln>
        </p:spPr>
        <p:txBody>
          <a:bodyPr wrap="square" lIns="0" tIns="47625" rIns="0" bIns="0" anchor="ctr">
            <a:noAutofit/>
          </a:bodyPr>
          <a:lstStyle/>
          <a:p>
            <a:pPr algn="ctr">
              <a:defRPr sz="15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B298125-E930-40B9-9F93-286C1C6DE3F9}"/>
              </a:ext>
            </a:extLst>
          </p:cNvPr>
          <p:cNvSpPr>
            <a:spLocks noGrp="1"/>
          </p:cNvSpPr>
          <p:nvPr/>
        </p:nvSpPr>
        <p:spPr>
          <a:xfrm>
            <a:off x="8667750" y="426720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defRPr>
            </a:pPr>
            <a:r>
              <a:rPr sz="1275" b="0" i="0">
                <a:solidFill>
                  <a:srgbClr val="102A43"/>
                </a:solidFill>
                <a:latin typeface="Nimbus Mono PS"/>
                <a:ea typeface="Nimbus Mono PS"/>
                <a:cs typeface="Nimbus Mono PS"/>
              </a:rPr>
              <a:t>python src/audit_bias_fairness.py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FE68A06-03B9-4100-BA1C-3AF1B6EB77A7}"/>
              </a:ext>
            </a:extLst>
          </p:cNvPr>
          <p:cNvSpPr>
            <a:spLocks noGrp="1"/>
          </p:cNvSpPr>
          <p:nvPr/>
        </p:nvSpPr>
        <p:spPr>
          <a:xfrm>
            <a:off x="8096250" y="5162550"/>
            <a:ext cx="3333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 i="0">
                <a:solidFill>
                  <a:srgbClr val="243B5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 i="0">
                <a:solidFill>
                  <a:srgbClr val="243B53"/>
                </a:solidFill>
                <a:latin typeface="Nimbus Sans"/>
                <a:ea typeface="Nimbus Sans"/>
                <a:cs typeface="Nimbus Sans"/>
              </a:rPr>
              <a:t>HEMOBP Version 3 was reacquired and checksum-verified; the dataset was rebuilt, models retrained, outputs regenerated, and 15/15 automated tests passed.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7070750-5896-40B5-824E-FE469D649912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10668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1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Source: project repository and Step 4–5 manifests</a:t>
            </a:r>
          </a:p>
        </p:txBody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AD3EEB4E-BED8-492C-8141-2FDBEE22C78A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11633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DD16F0-0B7E-40C0-9DC8-6C96401E6D43}"/>
              </a:ext>
            </a:extLst>
          </p:cNvPr>
          <p:cNvSpPr>
            <a:spLocks noGrp="1"/>
          </p:cNvSpPr>
          <p:nvPr/>
        </p:nvSpPr>
        <p:spPr>
          <a:xfrm>
            <a:off x="514350" y="6562725"/>
            <a:ext cx="11163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27D98"/>
                </a:solidFill>
                <a:latin typeface="Nimbus Sans"/>
                <a:ea typeface="Nimbus Sans"/>
                <a:cs typeface="Nimbus Sans"/>
              </a:rPr>
              <a:t>DIAL-ALERT technical presentation  /  11</a:t>
            </a:r>
          </a:p>
        </p:txBody>
      </p:sp>
    </p:spTree>
    <p:extLst>
      <p:ext uri="{BB962C8B-B14F-4D97-AF65-F5344CB8AC3E}">
        <p14:creationId xmlns:p14="http://schemas.microsoft.com/office/powerpoint/2010/main" val="1611134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20040"/>
            <a:ext cx="1069848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900" b="1">
                <a:solidFill>
                  <a:srgbClr val="102A43"/>
                </a:solidFill>
                <a:latin typeface="Nimbus Sans"/>
              </a:rPr>
              <a:t>Eligibility is anchored to dialysis minute 120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87552"/>
            <a:ext cx="106984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0">
                <a:solidFill>
                  <a:srgbClr val="627D98"/>
                </a:solidFill>
                <a:latin typeface="Nimbus Sans"/>
              </a:rPr>
              <a:t>Retrospective eligibility does not guarantee a 120-minute warning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51560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100" b="1">
                <a:solidFill>
                  <a:srgbClr val="0E7C7B"/>
                </a:solidFill>
                <a:latin typeface="Nimbus Sans"/>
              </a:rPr>
              <a:t>Prediction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21991"/>
            <a:ext cx="10515600" cy="7498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0">
                <a:solidFill>
                  <a:srgbClr val="102A43"/>
                </a:solidFill>
                <a:latin typeface="Nimbus Sans"/>
              </a:rPr>
              <a:t>Earliest valid active-dialysis BP in minutes 0 to 30; index SBP must be at least 90 mmHg.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1051560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100" b="1">
                <a:solidFill>
                  <a:srgbClr val="0E7C7B"/>
                </a:solidFill>
                <a:latin typeface="Nimbus Sans"/>
              </a:rPr>
              <a:t>Later observation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39312"/>
            <a:ext cx="10515600" cy="7498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0">
                <a:solidFill>
                  <a:srgbClr val="102A43"/>
                </a:solidFill>
                <a:latin typeface="Nimbus Sans"/>
              </a:rPr>
              <a:t>Require two distinct post-index measurement minutes and an observation at dialysis minute 120 or later.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17720"/>
            <a:ext cx="1051560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100" b="1">
                <a:solidFill>
                  <a:srgbClr val="0E7C7B"/>
                </a:solidFill>
                <a:latin typeface="Nimbus Sans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56631"/>
            <a:ext cx="10515600" cy="7498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0">
                <a:solidFill>
                  <a:srgbClr val="102A43"/>
                </a:solidFill>
                <a:latin typeface="Nimbus Sans"/>
              </a:rPr>
              <a:t>Index at minute 20 and observation at minute 120 can qualify. Actual time to the first event has not yet been measured.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627D98"/>
                </a:solidFill>
                <a:latin typeface="Nimbus Sans"/>
              </a:rPr>
              <a:t>DIAL-ALERT | Academic prototype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20040"/>
            <a:ext cx="1069848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900" b="1">
                <a:solidFill>
                  <a:srgbClr val="102A43"/>
                </a:solidFill>
                <a:latin typeface="Nimbus Sans"/>
              </a:rPr>
              <a:t>Two alert policies produce different workloads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87552"/>
            <a:ext cx="106984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0">
                <a:solidFill>
                  <a:srgbClr val="627D98"/>
                </a:solidFill>
                <a:latin typeface="Nimbus Sans"/>
              </a:rPr>
              <a:t>Locked retrospective test results; define the prospective ranking batch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51560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100" b="1">
                <a:solidFill>
                  <a:srgbClr val="0E7C7B"/>
                </a:solidFill>
                <a:latin typeface="Nimbus Sans"/>
              </a:rPr>
              <a:t>Fixed probability threshold of 0.143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21991"/>
            <a:ext cx="10515600" cy="7498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0">
                <a:solidFill>
                  <a:srgbClr val="102A43"/>
                </a:solidFill>
                <a:latin typeface="Nimbus Sans"/>
              </a:rPr>
              <a:t>Sensitivity 66.1%; precision 30.6%; 18.3 reviews and 12.7 false alerts per 100 sessions.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1051560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100" b="1">
                <a:solidFill>
                  <a:srgbClr val="0E7C7B"/>
                </a:solidFill>
                <a:latin typeface="Nimbus Sans"/>
              </a:rPr>
              <a:t>Review the highest-risk 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39312"/>
            <a:ext cx="10515600" cy="7498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0">
                <a:solidFill>
                  <a:srgbClr val="102A43"/>
                </a:solidFill>
                <a:latin typeface="Nimbus Sans"/>
              </a:rPr>
              <a:t>Recall 69.1%; precision 29.4%; 20 reviews and 14.1 false alerts per 100 sessions.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17720"/>
            <a:ext cx="1051560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100" b="1">
                <a:solidFill>
                  <a:srgbClr val="0E7C7B"/>
                </a:solidFill>
                <a:latin typeface="Nimbus Sans"/>
              </a:rPr>
              <a:t>Uncertainty comes from 170 patients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56631"/>
            <a:ext cx="10515600" cy="7498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0">
                <a:solidFill>
                  <a:srgbClr val="102A43"/>
                </a:solidFill>
                <a:latin typeface="Nimbus Sans"/>
              </a:rPr>
              <a:t>95% CI: threshold sensitivity 55.0% to 74.5%; capacity recall 63.2% to 74.4%. Sessions are clustered within patients.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627D98"/>
                </a:solidFill>
                <a:latin typeface="Nimbus Sans"/>
              </a:rPr>
              <a:t>DIAL-ALERT | Academic prototype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20040"/>
            <a:ext cx="1069848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900" b="1">
                <a:solidFill>
                  <a:srgbClr val="102A43"/>
                </a:solidFill>
                <a:latin typeface="Nimbus Sans"/>
              </a:rPr>
              <a:t>Optional steps demonstrate different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87552"/>
            <a:ext cx="106984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0">
                <a:solidFill>
                  <a:srgbClr val="627D98"/>
                </a:solidFill>
                <a:latin typeface="Nimbus Sans"/>
              </a:rPr>
              <a:t>Evidence is limited to the included code, checks and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51560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100" b="1">
                <a:solidFill>
                  <a:srgbClr val="0E7C7B"/>
                </a:solidFill>
                <a:latin typeface="Nimbus Sans"/>
              </a:rPr>
              <a:t>Step 8: local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21991"/>
            <a:ext cx="10515600" cy="7498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0">
                <a:solidFill>
                  <a:srgbClr val="102A43"/>
                </a:solidFill>
                <a:latin typeface="Nimbus Sans"/>
              </a:rPr>
              <a:t>Flask app, synthetic request, HTTP execution record and GIF demo. Local packaging does not establish clinical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10515600" cy="41549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PH" sz="2100" b="1" dirty="0">
                <a:solidFill>
                  <a:srgbClr val="0E7C7B"/>
                </a:solidFill>
                <a:latin typeface="Nimbus Sans"/>
              </a:rPr>
              <a:t>Step 9: replay and live local demonstration</a:t>
            </a:r>
            <a:endParaRPr sz="2100" b="1" dirty="0">
              <a:solidFill>
                <a:srgbClr val="0E7C7B"/>
              </a:solidFill>
              <a:latin typeface="Nimbus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3639312"/>
            <a:ext cx="10515600" cy="101566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PH" sz="2000" b="0" dirty="0">
                <a:solidFill>
                  <a:srgbClr val="102A43"/>
                </a:solidFill>
                <a:latin typeface="Nimbus Sans"/>
              </a:rPr>
              <a:t>Step 9 includes an earlier saved-draft replay and a later live local AI assistant demonstration on the author’s Mac. Answer-quality limitations remain. Citation and numeric checks do not establish semantic correctness.</a:t>
            </a:r>
            <a:endParaRPr sz="2000" b="0" dirty="0">
              <a:solidFill>
                <a:srgbClr val="102A43"/>
              </a:solidFill>
              <a:latin typeface="Nimbus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4617720"/>
            <a:ext cx="1051560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100" b="1">
                <a:solidFill>
                  <a:srgbClr val="0E7C7B"/>
                </a:solidFill>
                <a:latin typeface="Nimbus Sans"/>
              </a:rPr>
              <a:t>Reproduction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56631"/>
            <a:ext cx="10515600" cy="7498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0">
                <a:solidFill>
                  <a:srgbClr val="102A43"/>
                </a:solidFill>
                <a:latin typeface="Nimbus Sans"/>
              </a:rPr>
              <a:t>Full source-to-training reproduction was completed on 20 September 2026. Results were numerically consistent with the locked reference rather than byte-for-byte identical.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627D98"/>
                </a:solidFill>
                <a:latin typeface="Nimbus Sans"/>
              </a:rPr>
              <a:t>DIAL-ALERT | Academic prototype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20040"/>
            <a:ext cx="1069848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900" b="1">
                <a:solidFill>
                  <a:srgbClr val="102A43"/>
                </a:solidFill>
                <a:latin typeface="Nimbus Sans"/>
              </a:rPr>
              <a:t>Proposed pilot targets are not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87552"/>
            <a:ext cx="106984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0">
                <a:solidFill>
                  <a:srgbClr val="627D98"/>
                </a:solidFill>
                <a:latin typeface="Nimbus Sans"/>
              </a:rPr>
              <a:t>Prespecify one alert policy and local safety stopping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51560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100" b="1">
                <a:solidFill>
                  <a:srgbClr val="0E7C7B"/>
                </a:solidFill>
                <a:latin typeface="Nimbus Sans"/>
              </a:rPr>
              <a:t>Event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21991"/>
            <a:ext cx="10515600" cy="7498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0">
                <a:solidFill>
                  <a:srgbClr val="102A43"/>
                </a:solidFill>
                <a:latin typeface="Nimbus Sans"/>
              </a:rPr>
              <a:t>At least 65% of later SBP-below-90 events detected in eligible sessions.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1051560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100" b="1">
                <a:solidFill>
                  <a:srgbClr val="0E7C7B"/>
                </a:solidFill>
                <a:latin typeface="Nimbus Sans"/>
              </a:rPr>
              <a:t>False-alert workload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39312"/>
            <a:ext cx="10515600" cy="7498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0">
                <a:solidFill>
                  <a:srgbClr val="102A43"/>
                </a:solidFill>
                <a:latin typeface="Nimbus Sans"/>
              </a:rPr>
              <a:t>No more than 15 false alerts per 100 eligible sessions.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17720"/>
            <a:ext cx="1051560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100" b="1">
                <a:solidFill>
                  <a:srgbClr val="0E7C7B"/>
                </a:solidFill>
                <a:latin typeface="Nimbus Sans"/>
              </a:rPr>
              <a:t>Review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56631"/>
            <a:ext cx="10515600" cy="7498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0">
                <a:solidFill>
                  <a:srgbClr val="102A43"/>
                </a:solidFill>
                <a:latin typeface="Nimbus Sans"/>
              </a:rPr>
              <a:t>Median at most 2 minutes per displayed alert. Measure outcomes and full costs before claiming benefit.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46520"/>
            <a:ext cx="105156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0">
                <a:solidFill>
                  <a:srgbClr val="627D98"/>
                </a:solidFill>
                <a:latin typeface="Nimbus Sans"/>
              </a:rPr>
              <a:t>DIAL-ALERT | Academic prototype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386B2F5-E516-4454-B425-98C78BAFE1F5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76200" cy="781050"/>
          </a:xfrm>
          <a:prstGeom prst="rect">
            <a:avLst/>
          </a:prstGeom>
          <a:solidFill>
            <a:srgbClr val="E9C46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0A4A36-73C0-4720-A3F9-40FCA0B650CA}"/>
              </a:ext>
            </a:extLst>
          </p:cNvPr>
          <p:cNvSpPr>
            <a:spLocks noGrp="1"/>
          </p:cNvSpPr>
          <p:nvPr/>
        </p:nvSpPr>
        <p:spPr>
          <a:xfrm>
            <a:off x="781050" y="333375"/>
            <a:ext cx="10744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92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92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Internal validation supports a governed next study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E2B92D-BAC9-4D84-B69E-E031E676321F}"/>
              </a:ext>
            </a:extLst>
          </p:cNvPr>
          <p:cNvSpPr>
            <a:spLocks noGrp="1"/>
          </p:cNvSpPr>
          <p:nvPr/>
        </p:nvSpPr>
        <p:spPr>
          <a:xfrm>
            <a:off x="800100" y="866775"/>
            <a:ext cx="1059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D9E2EC"/>
                </a:solidFill>
                <a:latin typeface="Nimbus Sans"/>
                <a:ea typeface="Nimbus Sans"/>
                <a:cs typeface="Nimbus Sans"/>
              </a:rPr>
              <a:t>The evidence is promising for risk ranking and insufficient for clinical deployment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CC1DC6-E594-4B71-8016-8AFFD0530883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 i="0">
                <a:solidFill>
                  <a:srgbClr val="2A9D8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 i="0">
                <a:solidFill>
                  <a:srgbClr val="2A9D8F"/>
                </a:solidFill>
                <a:latin typeface="Nimbus Sans"/>
                <a:ea typeface="Nimbus Sans"/>
                <a:cs typeface="Nimbus Sans"/>
              </a:rPr>
              <a:t>Evidence supports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879CA-C769-4131-9F02-B670B2F730AC}"/>
              </a:ext>
            </a:extLst>
          </p:cNvPr>
          <p:cNvSpPr>
            <a:spLocks noGrp="1"/>
          </p:cNvSpPr>
          <p:nvPr/>
        </p:nvSpPr>
        <p:spPr>
          <a:xfrm>
            <a:off x="723900" y="2095500"/>
            <a:ext cx="4857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Risk ranking: </a:t>
            </a:r>
            <a:r>
              <a:rPr sz="165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ROC AUC 0.852 and AP 0.395</a:t>
            </a:r>
          </a:p>
          <a:p>
            <a:pPr algn="l">
              <a:defRPr sz="165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Capacity planning: </a:t>
            </a:r>
            <a:r>
              <a:rPr sz="165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69.1% event recall at 20% review</a:t>
            </a:r>
          </a:p>
          <a:p>
            <a:pPr algn="l">
              <a:defRPr sz="165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Interpretability: </a:t>
            </a:r>
            <a:r>
              <a:rPr sz="165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clinically coherent history and fluid signals</a:t>
            </a:r>
          </a:p>
          <a:p>
            <a:pPr algn="l">
              <a:defRPr sz="165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Mitigation candidate: </a:t>
            </a:r>
            <a:r>
              <a:rPr sz="165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sex-outcome reweighting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0133CBF5-41F7-4A9B-9997-BBF87B646D37}"/>
              </a:ext>
            </a:extLst>
          </p:cNvPr>
          <p:cNvSpPr>
            <a:spLocks noGrp="1"/>
          </p:cNvSpPr>
          <p:nvPr/>
        </p:nvSpPr>
        <p:spPr>
          <a:xfrm>
            <a:off x="6038850" y="1524000"/>
            <a:ext cx="0" cy="3048000"/>
          </a:xfrm>
          <a:prstGeom prst="line">
            <a:avLst/>
          </a:prstGeom>
          <a:noFill/>
          <a:ln w="19050">
            <a:solidFill>
              <a:srgbClr val="3A52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125D6B-C3FE-4508-AC93-CB9647BE0B3C}"/>
              </a:ext>
            </a:extLst>
          </p:cNvPr>
          <p:cNvSpPr>
            <a:spLocks noGrp="1"/>
          </p:cNvSpPr>
          <p:nvPr/>
        </p:nvSpPr>
        <p:spPr>
          <a:xfrm>
            <a:off x="6477000" y="15049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 i="0">
                <a:solidFill>
                  <a:srgbClr val="F4A26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 i="0">
                <a:solidFill>
                  <a:srgbClr val="F4A261"/>
                </a:solidFill>
                <a:latin typeface="Nimbus Sans"/>
                <a:ea typeface="Nimbus Sans"/>
                <a:cs typeface="Nimbus Sans"/>
              </a:rPr>
              <a:t>Evidence does not support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6280EC-E045-4F59-B543-BEFCB73CE081}"/>
              </a:ext>
            </a:extLst>
          </p:cNvPr>
          <p:cNvSpPr>
            <a:spLocks noGrp="1"/>
          </p:cNvSpPr>
          <p:nvPr/>
        </p:nvSpPr>
        <p:spPr>
          <a:xfrm>
            <a:off x="6477000" y="2133600"/>
            <a:ext cx="57150" cy="304800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10F096-5C87-4445-9B15-0D80146AC612}"/>
              </a:ext>
            </a:extLst>
          </p:cNvPr>
          <p:cNvSpPr>
            <a:spLocks noGrp="1"/>
          </p:cNvSpPr>
          <p:nvPr/>
        </p:nvSpPr>
        <p:spPr>
          <a:xfrm>
            <a:off x="6705600" y="2085975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Clinical benefit or cost savings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CA944-FACE-4556-B732-4CD5F001B26F}"/>
              </a:ext>
            </a:extLst>
          </p:cNvPr>
          <p:cNvSpPr>
            <a:spLocks noGrp="1"/>
          </p:cNvSpPr>
          <p:nvPr/>
        </p:nvSpPr>
        <p:spPr>
          <a:xfrm>
            <a:off x="6477000" y="2657475"/>
            <a:ext cx="57150" cy="304800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EFEDA6-E2AB-4AD1-8C4F-FB712E1CC34B}"/>
              </a:ext>
            </a:extLst>
          </p:cNvPr>
          <p:cNvSpPr>
            <a:spLocks noGrp="1"/>
          </p:cNvSpPr>
          <p:nvPr/>
        </p:nvSpPr>
        <p:spPr>
          <a:xfrm>
            <a:off x="6705600" y="260985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Autonomous diagnosis or treatment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A10104-44C6-4A69-9129-A506C196B6F0}"/>
              </a:ext>
            </a:extLst>
          </p:cNvPr>
          <p:cNvSpPr>
            <a:spLocks noGrp="1"/>
          </p:cNvSpPr>
          <p:nvPr/>
        </p:nvSpPr>
        <p:spPr>
          <a:xfrm>
            <a:off x="6477000" y="3181350"/>
            <a:ext cx="57150" cy="304800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EE15C7-EDF6-4FE3-B461-F63A0AE357A5}"/>
              </a:ext>
            </a:extLst>
          </p:cNvPr>
          <p:cNvSpPr>
            <a:spLocks noGrp="1"/>
          </p:cNvSpPr>
          <p:nvPr/>
        </p:nvSpPr>
        <p:spPr>
          <a:xfrm>
            <a:off x="6705600" y="3133725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Fairness across unavailable attributes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C15E27-B5A7-4E19-9394-FBADD42C42D9}"/>
              </a:ext>
            </a:extLst>
          </p:cNvPr>
          <p:cNvSpPr>
            <a:spLocks noGrp="1"/>
          </p:cNvSpPr>
          <p:nvPr/>
        </p:nvSpPr>
        <p:spPr>
          <a:xfrm>
            <a:off x="6477000" y="3705225"/>
            <a:ext cx="57150" cy="304800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24CC0C-9CA3-43F6-97FE-86B816666065}"/>
              </a:ext>
            </a:extLst>
          </p:cNvPr>
          <p:cNvSpPr>
            <a:spLocks noGrp="1"/>
          </p:cNvSpPr>
          <p:nvPr/>
        </p:nvSpPr>
        <p:spPr>
          <a:xfrm>
            <a:off x="6705600" y="365760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Transfer to another centre or future protocol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A2952734-EC23-4531-AFB5-1D413460C29F}"/>
              </a:ext>
            </a:extLst>
          </p:cNvPr>
          <p:cNvSpPr>
            <a:spLocks noGrp="1"/>
          </p:cNvSpPr>
          <p:nvPr/>
        </p:nvSpPr>
        <p:spPr>
          <a:xfrm>
            <a:off x="723900" y="4819650"/>
            <a:ext cx="10515600" cy="0"/>
          </a:xfrm>
          <a:prstGeom prst="line">
            <a:avLst/>
          </a:prstGeom>
          <a:noFill/>
          <a:ln w="19050">
            <a:solidFill>
              <a:srgbClr val="3A52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C97A2F-F3D0-4183-9B4C-EA9916965978}"/>
              </a:ext>
            </a:extLst>
          </p:cNvPr>
          <p:cNvSpPr>
            <a:spLocks noGrp="1"/>
          </p:cNvSpPr>
          <p:nvPr/>
        </p:nvSpPr>
        <p:spPr>
          <a:xfrm>
            <a:off x="723900" y="50482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 i="0">
                <a:solidFill>
                  <a:srgbClr val="E9C46A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E9C46A"/>
                </a:solidFill>
                <a:latin typeface="Nimbus Sans"/>
                <a:ea typeface="Nimbus Sans"/>
                <a:cs typeface="Nimbus Sans"/>
              </a:rPr>
              <a:t>Next validation gates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083FDD-9AB4-4074-B3E8-E4432F700FAD}"/>
              </a:ext>
            </a:extLst>
          </p:cNvPr>
          <p:cNvSpPr>
            <a:spLocks noGrp="1"/>
          </p:cNvSpPr>
          <p:nvPr/>
        </p:nvSpPr>
        <p:spPr>
          <a:xfrm>
            <a:off x="723900" y="5476875"/>
            <a:ext cx="1047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D9E2EC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D9E2EC"/>
                </a:solidFill>
                <a:latin typeface="Nimbus Sans"/>
                <a:ea typeface="Nimbus Sans"/>
                <a:cs typeface="Nimbus Sans"/>
              </a:rPr>
              <a:t>External temporal and geographic validation, prospective silent mode, human factors, subgroup calibration, monitoring, and rollback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9DB98161-5804-4219-A101-9F2DC20634B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11163300" cy="0"/>
          </a:xfrm>
          <a:prstGeom prst="line">
            <a:avLst/>
          </a:prstGeom>
          <a:noFill/>
          <a:ln w="9525">
            <a:solidFill>
              <a:srgbClr val="3A52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77038B-3CAC-47C6-839D-173078CF5DCA}"/>
              </a:ext>
            </a:extLst>
          </p:cNvPr>
          <p:cNvSpPr>
            <a:spLocks noGrp="1"/>
          </p:cNvSpPr>
          <p:nvPr/>
        </p:nvSpPr>
        <p:spPr>
          <a:xfrm>
            <a:off x="514350" y="6562725"/>
            <a:ext cx="11163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75" b="0" i="0">
                <a:solidFill>
                  <a:srgbClr val="B8C8D6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B8C8D6"/>
                </a:solidFill>
                <a:latin typeface="Nimbus Sans"/>
                <a:ea typeface="Nimbus Sans"/>
                <a:cs typeface="Nimbus Sans"/>
              </a:rPr>
              <a:t>DIAL-ALERT technical presentation  /  16</a:t>
            </a:r>
          </a:p>
        </p:txBody>
      </p:sp>
    </p:spTree>
    <p:extLst>
      <p:ext uri="{BB962C8B-B14F-4D97-AF65-F5344CB8AC3E}">
        <p14:creationId xmlns:p14="http://schemas.microsoft.com/office/powerpoint/2010/main" val="365313786"/>
      </p:ext>
    </p:extLst>
  </p:cSld>
  <p:clrMapOvr>
    <a:masterClrMapping/>
  </p:clrMapOvr>
</p:sld>
</file>

<file path=ppt/theme/theme1.xml><?xml version="1.0" encoding="utf-8"?>
<a:theme xmlns:a="http://schemas.openxmlformats.org/drawingml/2006/main" name="DIAL-ALERT">
  <a:themeElements>
    <a:clrScheme name="DIAL-ALER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DIAL-ALER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AL-ALERT">
  <a:themeElements>
    <a:clrScheme name="DIAL-ALER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DIAL-ALER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2473</Words>
  <Application>Microsoft Macintosh PowerPoint</Application>
  <DocSecurity>0</DocSecurity>
  <PresentationFormat>Widescreen</PresentationFormat>
  <Paragraphs>313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Nimbus Mono PS</vt:lpstr>
      <vt:lpstr>Nimbus Sans</vt:lpstr>
      <vt:lpstr>DIAL-ALERT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DIAL-ALERT Technical Presentation</dc:title>
  <dc:creator>Franklin B. Guillano</dc:creator>
  <cp:lastModifiedBy>Franklin Guillano</cp:lastModifiedBy>
  <cp:revision>2</cp:revision>
  <dcterms:created xsi:type="dcterms:W3CDTF">2026-09-17T00:00:00Z</dcterms:created>
  <dcterms:modified xsi:type="dcterms:W3CDTF">2026-09-23T06:00:16Z</dcterms:modified>
</cp:coreProperties>
</file>