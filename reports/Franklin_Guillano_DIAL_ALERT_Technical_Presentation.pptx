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0c46f4ef9534798" Type="http://schemas.openxmlformats.org/officeDocument/2006/relationships/extended-properties" Target="docProps/app.xml"/><Relationship Id="R11d98dd24ee34fa9" Type="http://schemas.openxmlformats.org/officeDocument/2006/relationships/officeDocument" Target="ppt/presentation.xml"/><Relationship Id="Rf2d788fdff1b488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cc640f26b64d04"/>
  </p:sldMasterIdLst>
  <p:notesMasterIdLst>
    <p:notesMasterId xmlns:r="http://schemas.openxmlformats.org/officeDocument/2006/relationships" r:id="Rb10189d340e643cd"/>
  </p:notesMasterIdLst>
  <p:sldIdLst>
    <p:sldId xmlns:r="http://schemas.openxmlformats.org/officeDocument/2006/relationships" id="256" r:id="R8f4e1759cf8143d1"/>
    <p:sldId xmlns:r="http://schemas.openxmlformats.org/officeDocument/2006/relationships" id="257" r:id="Ra174df47890e4344"/>
    <p:sldId xmlns:r="http://schemas.openxmlformats.org/officeDocument/2006/relationships" id="258" r:id="R0a2b81c06de04ab9"/>
    <p:sldId xmlns:r="http://schemas.openxmlformats.org/officeDocument/2006/relationships" id="259" r:id="R61caab89e1b746c1"/>
    <p:sldId xmlns:r="http://schemas.openxmlformats.org/officeDocument/2006/relationships" id="260" r:id="R01e215ac36704479"/>
    <p:sldId xmlns:r="http://schemas.openxmlformats.org/officeDocument/2006/relationships" id="261" r:id="Rfb1d19b6ce4c4e48"/>
    <p:sldId xmlns:r="http://schemas.openxmlformats.org/officeDocument/2006/relationships" id="262" r:id="R35367fd670a84aa1"/>
    <p:sldId xmlns:r="http://schemas.openxmlformats.org/officeDocument/2006/relationships" id="263" r:id="Rfe1e7b80727f4c98"/>
    <p:sldId xmlns:r="http://schemas.openxmlformats.org/officeDocument/2006/relationships" id="264" r:id="R7a5373735f394c60"/>
    <p:sldId xmlns:r="http://schemas.openxmlformats.org/officeDocument/2006/relationships" id="265" r:id="Rc4801cb9dfff4813"/>
    <p:sldId xmlns:r="http://schemas.openxmlformats.org/officeDocument/2006/relationships" id="266" r:id="R17cb69dfa1fd4705"/>
    <p:sldId xmlns:ns0="http://schemas.openxmlformats.org/officeDocument/2006/relationships" id="268" ns0:id="rId18"/>
    <p:sldId xmlns:ns0="http://schemas.openxmlformats.org/officeDocument/2006/relationships" id="269" ns0:id="rId19"/>
    <p:sldId xmlns:ns0="http://schemas.openxmlformats.org/officeDocument/2006/relationships" id="270" ns0:id="rId20"/>
    <p:sldId xmlns:ns0="http://schemas.openxmlformats.org/officeDocument/2006/relationships" id="271" ns0:id="rId21"/>
    <p:sldId xmlns:r="http://schemas.openxmlformats.org/officeDocument/2006/relationships" id="267" r:id="Rd490bd4698374c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1e215ac36704479" Type="http://schemas.openxmlformats.org/officeDocument/2006/relationships/slide" Target="slides/slide5.xml"/><Relationship Id="R0a2b81c06de04ab9" Type="http://schemas.openxmlformats.org/officeDocument/2006/relationships/slide" Target="slides/slide3.xml"/><Relationship Id="R17cb69dfa1fd4705" Type="http://schemas.openxmlformats.org/officeDocument/2006/relationships/slide" Target="slides/slide11.xml"/><Relationship Id="R35367fd670a84aa1" Type="http://schemas.openxmlformats.org/officeDocument/2006/relationships/slide" Target="slides/slide7.xml"/><Relationship Id="R61caab89e1b746c1" Type="http://schemas.openxmlformats.org/officeDocument/2006/relationships/slide" Target="slides/slide4.xml"/><Relationship Id="R7a5373735f394c60" Type="http://schemas.openxmlformats.org/officeDocument/2006/relationships/slide" Target="slides/slide9.xml"/><Relationship Id="R87ea52e75a374c96" Type="http://schemas.openxmlformats.org/officeDocument/2006/relationships/tableStyles" Target="tableStyles.xml"/><Relationship Id="R8f4e1759cf8143d1" Type="http://schemas.openxmlformats.org/officeDocument/2006/relationships/slide" Target="slides/slide1.xml"/><Relationship Id="R9507254b816940a8" Type="http://schemas.openxmlformats.org/officeDocument/2006/relationships/presProps" Target="presProps.xml"/><Relationship Id="Ra174df47890e4344" Type="http://schemas.openxmlformats.org/officeDocument/2006/relationships/slide" Target="slides/slide2.xml"/><Relationship Id="Rb10189d340e643cd" Type="http://schemas.openxmlformats.org/officeDocument/2006/relationships/notesMaster" Target="notesMasters/notesMaster1.xml"/><Relationship Id="Rc22aaacfd2a6424f" Type="http://schemas.openxmlformats.org/officeDocument/2006/relationships/theme" Target="theme/theme1.xml"/><Relationship Id="Rc2cc640f26b64d04" Type="http://schemas.openxmlformats.org/officeDocument/2006/relationships/slideMaster" Target="slideMasters/slideMaster1.xml"/><Relationship Id="Rc4801cb9dfff4813" Type="http://schemas.openxmlformats.org/officeDocument/2006/relationships/slide" Target="slides/slide10.xml"/><Relationship Id="Rd490bd4698374ced" Type="http://schemas.openxmlformats.org/officeDocument/2006/relationships/slide" Target="slides/slide16.xml"/><Relationship Id="Rfb1d19b6ce4c4e48" Type="http://schemas.openxmlformats.org/officeDocument/2006/relationships/slide" Target="slides/slide6.xml"/><Relationship Id="Rfe1e7b80727f4c98" Type="http://schemas.openxmlformats.org/officeDocument/2006/relationships/slide" Target="slides/slide8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2046de3bc64547e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e84af6192214abb" Type="http://schemas.openxmlformats.org/officeDocument/2006/relationships/notesMaster" Target="../notesMasters/notesMaster1.xml"/><Relationship Id="R78244df4835446f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2e0016d1e004de6" Type="http://schemas.openxmlformats.org/officeDocument/2006/relationships/slide" Target="../slides/slide2.xml"/><Relationship Id="Rdd99ecc0b89e47f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bb2562eaccd6418a" Type="http://schemas.openxmlformats.org/officeDocument/2006/relationships/slide" Target="../slides/slide3.xml"/><Relationship Id="Rc790570f288540e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d7fe3a7515074da5" Type="http://schemas.openxmlformats.org/officeDocument/2006/relationships/notesMaster" Target="../notesMasters/notesMaster1.xml"/><Relationship Id="Re895864f9fd141e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50f6deff75644f36" Type="http://schemas.openxmlformats.org/officeDocument/2006/relationships/slide" Target="../slides/slide5.xml"/><Relationship Id="R555b78de4f34476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62058850ac649d2" Type="http://schemas.openxmlformats.org/officeDocument/2006/relationships/notesMaster" Target="../notesMasters/notesMaster1.xml"/><Relationship Id="Re11b724bc14848d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79ab9b04458047a2" Type="http://schemas.openxmlformats.org/officeDocument/2006/relationships/notesMaster" Target="../notesMasters/notesMaster1.xml"/><Relationship Id="Rfca1b7a478a34a68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e62101338a2488e" Type="http://schemas.openxmlformats.org/officeDocument/2006/relationships/slide" Target="../slides/slide8.xml"/><Relationship Id="Rf47e89a1cb2f4b2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6a391d6c1d94052" Type="http://schemas.openxmlformats.org/officeDocument/2006/relationships/notesMaster" Target="../notesMasters/notesMaster1.xml"/><Relationship Id="Rb17f9ae85e95449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20211ae69a24903" Type="http://schemas.openxmlformats.org/officeDocument/2006/relationships/slide" Target="../slides/slide10.xml"/><Relationship Id="R61bf0e7660a14fa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6504e098747d42ad" Type="http://schemas.openxmlformats.org/officeDocument/2006/relationships/notesMaster" Target="../notesMasters/notesMaster1.xml"/><Relationship Id="Rdda75a931bf14ba1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af007d6373f447e" Type="http://schemas.openxmlformats.org/officeDocument/2006/relationships/slide" Target="../slides/slide16.xml"/><Relationship Id="Ra769dbeb2c7d492d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Open with the prediction question and emphasize that this is a retrospective academic prototype.</a:t>
            </a:r>
          </a:p>
          <a:p xmlns:a="http://schemas.openxmlformats.org/drawingml/2006/main">
            <a:r>
              <a:t>• The presentation follows the complete machine-learning lifecycle from data construction to governance.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Average precision is the primary ranking metric because only about 8.5% of sessions meet the event definition.</a:t>
            </a:r>
          </a:p>
          <a:p xmlns:a="http://schemas.openxmlformats.org/drawingml/2006/main">
            <a:r>
              <a:t>• Business utility is assessed as event recall, positive predictive value, lift, and false alerts at a fixed review capacity.</a:t>
            </a:r>
          </a:p>
          <a:p xmlns:a="http://schemas.openxmlformats.org/drawingml/2006/main">
            <a:r>
              <a:t>• The target is a blood-pressure event, not a complete clinical diagnosis because symptoms and treatments are unavailable.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DIAL-ALERT Step 2 report and Step 4 model report.</a:t>
            </a:r>
          </a:p>
          <a:p xmlns:a="http://schemas.openxmlformats.org/drawingml/2006/main">
            <a:r>
              <a:t>• Saito T, Rehmsmeier M. PLoS ONE. 2015. https://doi.org/10.1371/journal.pone.0118432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analytic unit is a session, while the effective independent sample is the patient.</a:t>
            </a:r>
          </a:p>
          <a:p xmlns:a="http://schemas.openxmlformats.org/drawingml/2006/main">
            <a:r>
              <a:t>• The public files contain 1,072 patient rows, compared with 1,075 reported in the source paper. All analyses use the observed release and disclose the difference.</a:t>
            </a:r>
          </a:p>
          <a:p xmlns:a="http://schemas.openxmlformats.org/drawingml/2006/main">
            <a:r>
              <a:t>• Cohort restrictions improve target validity but may introduce selection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Lin CJ et al. Scientific Data. 2019. https://doi.org/10.1038/s41597-019-0319-8</a:t>
            </a:r>
          </a:p>
          <a:p xmlns:a="http://schemas.openxmlformats.org/drawingml/2006/main">
            <a:r>
              <a:t>• HEMOBP v3. https://doi.org/10.6084/m9.figshare.6260654.v3</a:t>
            </a:r>
          </a:p>
          <a:p xmlns:a="http://schemas.openxmlformats.org/drawingml/2006/main">
            <a:r>
              <a:t>• Project report: reports/Franklin_Guillano_DIAL_ALERT_Data_Collection_and_Understanding_Report.pdf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earliest valid active-treatment record within 30 minutes forms the prediction index.</a:t>
            </a:r>
          </a:p>
          <a:p xmlns:a="http://schemas.openxmlformats.org/drawingml/2006/main">
            <a:r>
              <a:t>• Sessions already below 90 mmHg at the index time are excluded.</a:t>
            </a:r>
          </a:p>
          <a:p xmlns:a="http://schemas.openxmlformats.org/drawingml/2006/main">
            <a:r>
              <a:t>• Missing values enter model pipelines through median and most-frequent imputation. Unusual but plausible values remain after explicit range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files: docs/preprocessing_specification.csv and docs/feature_engineering_dictionary.csv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Patient-disjoint splitting is the central protection against repeated-measures leakage.</a:t>
            </a:r>
          </a:p>
          <a:p xmlns:a="http://schemas.openxmlformats.org/drawingml/2006/main">
            <a:r>
              <a:t>• The validation set handles calibration and threshold choice. The test set remains untouched until the final evaluation.</a:t>
            </a:r>
          </a:p>
          <a:p xmlns:a="http://schemas.openxmlformats.org/drawingml/2006/main">
            <a:r>
              <a:t>• Bootstrap resampling occurs at the patient level to preserve within-patient dependence.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Seven configurations include linear, tree, boosted, PCA, embedded-selection, and prevalence baselines.</a:t>
            </a:r>
          </a:p>
          <a:p xmlns:a="http://schemas.openxmlformats.org/drawingml/2006/main">
            <a:r>
              <a:t>• The locked selection rule considers ranking first and probability quality when models are practically tied.</a:t>
            </a:r>
          </a:p>
          <a:p xmlns:a="http://schemas.openxmlformats.org/drawingml/2006/main">
            <a:r>
              <a:t>• Deep learning was not justified for a compact tabular snapshot with only 830 independent patient groups.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Breiman L. Random Forests. Machine Learning. 2001. https://doi.org/10.1023/A:1010933404324</a:t>
            </a:r>
          </a:p>
          <a:p xmlns:a="http://schemas.openxmlformats.org/drawingml/2006/main">
            <a:r>
              <a:t>• Project artifact: artifacts/model_comparison.csv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At the validation-selected threshold, the test set contains 1,199 true positives, 615 false negatives, 2,719 false positives, and 16,821 true negatives.</a:t>
            </a:r>
          </a:p>
          <a:p xmlns:a="http://schemas.openxmlformats.org/drawingml/2006/main">
            <a:r>
              <a:t>• Average precision must be read against the 8.49% prevalence baseline.</a:t>
            </a:r>
          </a:p>
          <a:p xmlns:a="http://schemas.openxmlformats.org/drawingml/2006/main">
            <a:r>
              <a:t>• Wide intervals reflect only 170 test patients despite the large number of sessions.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artifacts: artifacts/final_test_metrics.json and artifacts/test_metric_confidence_intervals.csv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unit can choose review capacity based on staffing and the relative cost of missed events and false alerts.</a:t>
            </a:r>
          </a:p>
          <a:p xmlns:a="http://schemas.openxmlformats.org/drawingml/2006/main">
            <a:r>
              <a:t>• At 20% capacity the model identifies about 69% of observed events, but most reviewed sessions do not have the event.</a:t>
            </a:r>
          </a:p>
          <a:p xmlns:a="http://schemas.openxmlformats.org/drawingml/2006/main">
            <a:r>
              <a:t>• No clinical benefit follows automatically from ranking performance. A prospective intervention study is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artifact: artifacts/capacity_metrics.csv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Permutation importance, aggregate SHAP, and synthetic-profile dependence curves agree that prior instability and fluid status dominate the model.</a:t>
            </a:r>
          </a:p>
          <a:p xmlns:a="http://schemas.openxmlformats.org/drawingml/2006/main">
            <a:r>
              <a:t>• The explanation describes the fitted model, not a causal mechanism.</a:t>
            </a:r>
          </a:p>
          <a:p xmlns:a="http://schemas.openxmlformats.org/drawingml/2006/main">
            <a:r>
              <a:t>• The local SHAP and LIME example is a manually constructed synthetic scenario, not an observed patient session.</a:t>
            </a:r>
          </a:p>
          <a:p xmlns:a="http://schemas.openxmlformats.org/drawingml/2006/main">
            <a:r>
              <a:t>• Local LIME output requires a fidelity warning because the surrogate only moderately approximates the random forest near that synthetic scenario.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Lundberg SM, Lee SI. NeurIPS 2017. https://papers.neurips.cc/paper/7062-a-unified-approach-to-interpreting-model-predictions</a:t>
            </a:r>
          </a:p>
          <a:p xmlns:a="http://schemas.openxmlformats.org/drawingml/2006/main">
            <a:r>
              <a:t>• Ribeiro MT et al. KDD 2016. https://doi.org/10.1145/2939672.2939778</a:t>
            </a:r>
          </a:p>
          <a:p xmlns:a="http://schemas.openxmlformats.org/drawingml/2006/main">
            <a:r>
              <a:t>• Project artifacts: artifacts/step5_shap_summary.png, artifacts/step5_shap_local_synthetic.csv, and artifacts/step5_lime_local_metadata.json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recorded-sex mitigation improved two summary gaps with essentially unchanged average precision.</a:t>
            </a:r>
          </a:p>
          <a:p xmlns:a="http://schemas.openxmlformats.org/drawingml/2006/main">
            <a:r>
              <a:t>• The improvement does not eliminate disparity and may not transfer to another centre.</a:t>
            </a:r>
          </a:p>
          <a:p xmlns:a="http://schemas.openxmlformats.org/drawingml/2006/main">
            <a:r>
              <a:t>• Patient-equal weighting changes some estimates, intersections are unstable, and bootstrap intervals are wide.</a:t>
            </a:r>
          </a:p>
          <a:p xmlns:a="http://schemas.openxmlformats.org/drawingml/2006/main">
            <a:r>
              <a:t>• Sex-specific thresholds use a protected attribute at inference and performed worse on test patients, so they are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Hardt M, Price E, Srebro N. NeurIPS 2016. https://arxiv.org/abs/1610.02413</a:t>
            </a:r>
          </a:p>
          <a:p xmlns:a="http://schemas.openxmlformats.org/drawingml/2006/main">
            <a:r>
              <a:t>• Project artifacts: artifacts/step5_mitigation_comparison.csv and artifacts/step5_disparities.csv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This slide connects the analytic results to the rubric requirement for saved configurations and artifacts.</a:t>
            </a:r>
          </a:p>
          <a:p xmlns:a="http://schemas.openxmlformats.org/drawingml/2006/main">
            <a:r>
              <a:t>• The patient split assignments, model threshold, package versions, and hashes support auditability.</a:t>
            </a:r>
          </a:p>
          <a:p xmlns:a="http://schemas.openxmlformats.org/drawingml/2006/main">
            <a:r>
              <a:t>• The public source data remain subject to their original license and citation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End with a precise claim: the project completes the machine-learning lifecycle and justifies a governed validation study.</a:t>
            </a:r>
          </a:p>
          <a:p xmlns:a="http://schemas.openxmlformats.org/drawingml/2006/main">
            <a:r>
              <a:t>• It does not show that an alert changes treatment or improves outcomes.</a:t>
            </a:r>
          </a:p>
          <a:p xmlns:a="http://schemas.openxmlformats.org/drawingml/2006/main">
            <a:r>
              <a:t>• The next scientific question is transportability and prospective workflow safety.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WHO. Ethics and governance of AI for health. 2021. https://www.who.int/publications/i/item/9789240029200</a:t>
            </a:r>
          </a:p>
          <a:p xmlns:a="http://schemas.openxmlformats.org/drawingml/2006/main">
            <a:r>
              <a:t>• TRIPOD+AI. BMJ. 2024. https://doi.org/10.1136/bmj-2023-078378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ae6cc4bba0746e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6988c6e9a9849a6" Type="http://schemas.openxmlformats.org/officeDocument/2006/relationships/slideLayout" Target="../slideLayouts/slideLayout1.xml"/><Relationship Id="R8064239cf0774d8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988c6e9a9849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281c5a86e09417a" Type="http://schemas.openxmlformats.org/officeDocument/2006/relationships/slideLayout" Target="../slideLayouts/slideLayout1.xml"/><Relationship Id="R6f584ee5dde24d9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52d725a29fd4cea" Type="http://schemas.openxmlformats.org/officeDocument/2006/relationships/slideLayout" Target="../slideLayouts/slideLayout1.xml"/><Relationship Id="Rbbacf139459548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b92314da4014c78" Type="http://schemas.openxmlformats.org/officeDocument/2006/relationships/slideLayout" Target="../slideLayouts/slideLayout1.xml"/><Relationship Id="R87b4f315fd764c47" Type="http://schemas.openxmlformats.org/officeDocument/2006/relationships/notesSlide" Target="../notesSlides/notesSlide3.xml"/><Relationship Id="Rb5ad0f5141f9445a" Type="http://schemas.openxmlformats.org/officeDocument/2006/relationships/chart" Target="charts/chart1.xml"/></Relationships>
</file>

<file path=ppt/slides/_rels/slide4.xml.rels><?xml version='1.0' encoding='UTF-8' standalone='yes'?>
<Relationships xmlns="http://schemas.openxmlformats.org/package/2006/relationships"><Relationship Id="R3977da811f564e85" Type="http://schemas.openxmlformats.org/officeDocument/2006/relationships/notesSlide" Target="../notesSlides/notesSlide4.xml"/><Relationship Id="R696074c4d09a402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eed5fb6bd124552" Type="http://schemas.openxmlformats.org/officeDocument/2006/relationships/notesSlide" Target="../notesSlides/notesSlide5.xml"/><Relationship Id="R85816b5e0bd2406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95199350d9d4965" Type="http://schemas.openxmlformats.org/officeDocument/2006/relationships/chart" Target="charts/chart2.xml"/><Relationship Id="R855ba0d66f944398" Type="http://schemas.openxmlformats.org/officeDocument/2006/relationships/notesSlide" Target="../notesSlides/notesSlide6.xml"/><Relationship Id="Ra9e843ff60384cd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60b955cf9144a72" Type="http://schemas.openxmlformats.org/officeDocument/2006/relationships/image" Target="../media/image.png"/><Relationship Id="R8af6942525304073" Type="http://schemas.openxmlformats.org/officeDocument/2006/relationships/slideLayout" Target="../slideLayouts/slideLayout1.xml"/><Relationship Id="Re2171c70d24044a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7b61bde89e344d6" Type="http://schemas.openxmlformats.org/officeDocument/2006/relationships/notesSlide" Target="../notesSlides/notesSlide8.xml"/><Relationship Id="Ra9f265d133194e58" Type="http://schemas.openxmlformats.org/officeDocument/2006/relationships/chart" Target="charts/chart3.xml"/><Relationship Id="Rc04cee4d992344b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685b2e6601b549b6" Type="http://schemas.openxmlformats.org/officeDocument/2006/relationships/image" Target="../media/image2.png"/><Relationship Id="Rac8a9f88c079497e" Type="http://schemas.openxmlformats.org/officeDocument/2006/relationships/slideLayout" Target="../slideLayouts/slideLayout1.xml"/><Relationship Id="Re2b32bcac8164baa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b82b1da602894b23" Type="http://schemas.openxmlformats.org/officeDocument/2006/relationships/notesSlide" Target="../notesSlides/notesSlide10.xml"/><Relationship Id="Rd328f00b51ad4d0f" Type="http://schemas.openxmlformats.org/officeDocument/2006/relationships/image" Target="../media/image3.png"/><Relationship Id="Rd92e104ccae24db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067b186e2d264f88" Type="http://schemas.openxmlformats.org/officeDocument/2006/relationships/slideLayout" Target="../slideLayouts/slideLayout1.xml"/><Relationship Id="R9d7b54be56bd48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69daa486f4994cb1" Type="http://schemas.openxmlformats.org/officeDocument/2006/relationships/notesSlide" Target="../notesSlides/notesSlide12.xml"/><Relationship Id="Rbbc759afedc14da6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Records</c:v>
          </c:tx>
          <c:spPr>
            <a:solidFill xmlns:a="http://schemas.openxmlformats.org/drawingml/2006/main">
              <a:srgbClr val="0E7C7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65A9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4A26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43B5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A9D8F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Valid D1 patient-days</c:v>
                </c:pt>
                <c:pt idx="1">
                  <c:v>Linked to monitor data</c:v>
                </c:pt>
                <c:pt idx="2">
                  <c:v>Valid index record</c:v>
                </c:pt>
                <c:pt idx="3">
                  <c:v>Final eligible sessions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165849</c:v>
                </c:pt>
                <c:pt idx="1">
                  <c:v>110790</c:v>
                </c:pt>
                <c:pt idx="2">
                  <c:v>108781</c:v>
                </c:pt>
                <c:pt idx="3">
                  <c:v>106758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Grouped-CV AP</c:v>
          </c:tx>
          <c:spPr>
            <a:solidFill xmlns:a="http://schemas.openxmlformats.org/drawingml/2006/main">
              <a:srgbClr val="243B5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65A9E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A9D8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95A4B3"/>
              </a:solidFill>
            </c:spPr>
          </c:dPt>
          <c:cat>
            <c:strRef>
              <c:f>'Chart Data'!$A$2:$A$8</c:f>
              <c:strCache>
                <c:ptCount val="7"/>
                <c:pt idx="0">
                  <c:v>Hist. gradient boosting</c:v>
                </c:pt>
                <c:pt idx="1">
                  <c:v>Random forest</c:v>
                </c:pt>
                <c:pt idx="2">
                  <c:v>Logistic regression</c:v>
                </c:pt>
                <c:pt idx="3">
                  <c:v>PCA logistic regression</c:v>
                </c:pt>
                <c:pt idx="4">
                  <c:v>L1 feature selection</c:v>
                </c:pt>
                <c:pt idx="5">
                  <c:v>Decision tree</c:v>
                </c:pt>
                <c:pt idx="6">
                  <c:v>Prevalence baseline</c:v>
                </c:pt>
              </c:strCache>
            </c:strRef>
          </c:cat>
          <c:val>
            <c:numRef>
              <c:f>'Chart Data'!$B$2:$B$8</c:f>
              <c:numCache>
                <c:formatCode>0.000</c:formatCode>
                <c:ptCount val="7"/>
                <c:pt idx="0">
                  <c:v>0.445885</c:v>
                </c:pt>
                <c:pt idx="1">
                  <c:v>0.440447</c:v>
                </c:pt>
                <c:pt idx="2">
                  <c:v>0.41858</c:v>
                </c:pt>
                <c:pt idx="3">
                  <c:v>0.409788</c:v>
                </c:pt>
                <c:pt idx="4">
                  <c:v>0.403691</c:v>
                </c:pt>
                <c:pt idx="5">
                  <c:v>0.388189</c:v>
                </c:pt>
                <c:pt idx="6">
                  <c:v>0.08493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Observed events captured</c:v>
          </c:tx>
          <c:spPr>
            <a:ln xmlns:a="http://schemas.openxmlformats.org/drawingml/2006/main" w="38100">
              <a:solidFill>
                <a:srgbClr val="0E7C7B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0E7C7B"/>
              </a:solidFill>
            </c:spPr>
          </c:marker>
          <c:cat>
            <c:numRef>
              <c:f>'Chart Data'!$A$2:$A$11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</c:numCache>
            </c:num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0.2993</c:v>
                </c:pt>
                <c:pt idx="1">
                  <c:v>0.4807</c:v>
                </c:pt>
                <c:pt idx="2">
                  <c:v>0.6064</c:v>
                </c:pt>
                <c:pt idx="3">
                  <c:v>0.6913</c:v>
                </c:pt>
                <c:pt idx="4">
                  <c:v>0.758</c:v>
                </c:pt>
                <c:pt idx="5">
                  <c:v>0.8026</c:v>
                </c:pt>
                <c:pt idx="6">
                  <c:v>0.8396</c:v>
                </c:pt>
                <c:pt idx="7">
                  <c:v>0.8721</c:v>
                </c:pt>
                <c:pt idx="8">
                  <c:v>0.8969</c:v>
                </c:pt>
                <c:pt idx="9">
                  <c:v>0.9173</c:v>
                </c:pt>
              </c:numCache>
            </c:numRef>
          </c:val>
        </c:ser>
        <c:ser>
          <c:idx val="1"/>
          <c:order val="1"/>
          <c:tx>
            <c:v>Positive predictive value</c:v>
          </c:tx>
          <c:spPr>
            <a:ln xmlns:a="http://schemas.openxmlformats.org/drawingml/2006/main" w="38100">
              <a:solidFill>
                <a:srgbClr val="E76F51"/>
              </a:solidFill>
              <a:prstDash val="solid"/>
            </a:ln>
          </c:spPr>
          <c:marker>
            <c:symbol val="square"/>
            <c:size val="8"/>
            <c:spPr>
              <a:solidFill xmlns:a="http://schemas.openxmlformats.org/drawingml/2006/main">
                <a:srgbClr val="E76F51"/>
              </a:solidFill>
            </c:spPr>
          </c:marker>
          <c:cat>
            <c:numRef>
              <c:f>'Chart Data'!$C$2:$C$11</c:f>
              <c:numCache>
                <c:formatCode>General</c:formatCode>
                <c:ptCount val="1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</c:numCache>
            </c:numRef>
          </c:cat>
          <c:val>
            <c:numRef>
              <c:f>'Chart Data'!$D$2:$D$11</c:f>
              <c:numCache>
                <c:formatCode>0%</c:formatCode>
                <c:ptCount val="10"/>
                <c:pt idx="0">
                  <c:v>0.5084</c:v>
                </c:pt>
                <c:pt idx="1">
                  <c:v>0.4082</c:v>
                </c:pt>
                <c:pt idx="2">
                  <c:v>0.3433</c:v>
                </c:pt>
                <c:pt idx="3">
                  <c:v>0.2936</c:v>
                </c:pt>
                <c:pt idx="4">
                  <c:v>0.2575</c:v>
                </c:pt>
                <c:pt idx="5">
                  <c:v>0.2273</c:v>
                </c:pt>
                <c:pt idx="6">
                  <c:v>0.2038</c:v>
                </c:pt>
                <c:pt idx="7">
                  <c:v>0.1852</c:v>
                </c:pt>
                <c:pt idx="8">
                  <c:v>0.1693</c:v>
                </c:pt>
                <c:pt idx="9">
                  <c:v>0.1558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imbus Sans"/>
                  <a:ea typeface="Nimbus Sans"/>
                  <a:cs typeface="Nimbus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imbus Sans"/>
                    <a:ea typeface="Nimbus Sans"/>
                    <a:cs typeface="Nimbus Sans"/>
                  </a:rPr>
                  <a:t>Sessions selected for review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imbus Sans"/>
                  <a:ea typeface="Nimbus Sans"/>
                  <a:cs typeface="Nimbus San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2F620-1058-4BF2-A2DD-8FDD4E98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BA990-5F30-4B27-8E3A-5AE6F117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620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TECHNICAL 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30FD2-C5F2-4926-A900-9D48AD46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DIAL-ALERT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7FDE0-E0FC-497D-B9CE-B9E83472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857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Early prediction of blood pressure defined</a:t>
            </a:r>
          </a:p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intradialytic hypotension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AD652-756B-4BA0-BD4F-AFB06E2F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60BE4D-333A-432E-9A21-683646E7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Franklin Guillano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Capstone Project, Step 6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September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68EE3-4E37-4154-9A3B-D8EB6F04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7212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Academic clinical decision support prototype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58DF9-0041-4318-8866-EA193CD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55003-C6AA-4006-A0E4-05432896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technical presentation  /  01</a:t>
            </a:r>
          </a:p>
        </p:txBody>
      </p:sp>
    </p:spTree>
    <p:extLst>
      <p:ext uri="{BB962C8B-B14F-4D97-AF65-F5344CB8AC3E}">
        <p14:creationId xmlns:p14="http://schemas.microsoft.com/office/powerpoint/2010/main" val="1571573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1354B2-2D1A-4D67-BEAC-9174C42B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65A0F-CFBA-4B23-8A94-9938DCBB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Clinical prediction question and success criteria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BFD45-EEF7-4409-A697-A5F66AF0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 supervised binary-classification task with a fixed prediction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C15B1-80A3-4BD7-9D80-48518E2F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Can information available near the start of haemodialysis identify sessions that later record systolic blood pressure below 90 mmHg?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FE6EF-A5DA-4B52-8D4E-A1A67961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548CA-23C1-427E-99F1-60734B2A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POPULATION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4AE45-391E-4B5B-9E02-2E25F2DC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Eligible adult haemodialysis sessions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E709C-1127-4F61-A42F-DB2362B2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4C7B7-D097-467B-8BE9-1A1D1857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PREDICTION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E13832-CD81-48C2-BC9C-DC44EF74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Earliest valid active record within minutes 0 to 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948FD2-909A-47DC-B656-17E6AD18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CD9A4-A7C7-4B38-A947-956110C6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9B944-CEDB-4E33-B539-E314D9E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Any later SBP below 90 mmHg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46428-C5D2-4E1F-B775-FBC35EAE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76550"/>
            <a:ext cx="0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FD261-338D-4700-BB94-8AC69CCF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895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DECISION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D4E17-37CE-4812-B708-C314E060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143250"/>
            <a:ext cx="219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Risk ranking for clinician 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56CBF7-0D9C-4EE8-993A-A8F66C64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Evaluation hierarchy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AF6B1-26AE-45E6-A56E-658F9F44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Primary ranking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323A1-809E-4261-8C4F-0A7EFBD7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Average precision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CF7F6-46AE-4D1F-87B3-26E42E47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Discrimination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E55B52-6A59-433C-BCA6-44549DFD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ROC AUC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ABB0B-807C-48F4-A6EB-A03AC75A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Probability quality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3D2173-3260-4943-9ADE-90CDEC3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Brier score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F0F5CA-CD98-4C27-8675-33139A19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625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Workflow utility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D452C-EB8A-42D4-B23F-EC97D49A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29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Recall and PPV at alert capacity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6BE73-35ED-4242-B4EC-F3EE3CAE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Outcome and feature boundary: DIAL-ALERT Steps 2–4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BD69CB-635F-4416-B121-4F3A02B8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468790-01FA-4273-9C75-E36E8EDA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02</a:t>
            </a:r>
          </a:p>
        </p:txBody>
      </p:sp>
    </p:spTree>
    <p:extLst>
      <p:ext uri="{BB962C8B-B14F-4D97-AF65-F5344CB8AC3E}">
        <p14:creationId xmlns:p14="http://schemas.microsoft.com/office/powerpoint/2010/main" val="1564100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6431F-DD46-47F5-9F0A-13510559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C35EA-95FB-44BD-811E-DF218F58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HEMOBP supports a large session cohort with 830 independent patients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61C7F-BB81-422A-AF78-95B83D13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Public longitudinal data link patient, session, and monitor records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609600" y="1447800"/>
          <a:ext xmlns:a="http://schemas.openxmlformats.org/drawingml/2006/main" cx="6762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ad0f5141f9445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E912D-67AB-4AFE-A157-B7B96E8E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106,758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6ADCD-5CCB-43D5-9462-56681DE9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098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eligible sessions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36397-1703-4B1F-8261-A73ACA1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051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830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475F6-97CF-4AF4-8A7D-4E359795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909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unique patients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7F35E-50A8-40D5-92A7-B18433E7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8.49%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76F14-0470-4CC9-8193-B66966FB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primary outcome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6E4B73-980D-40A4-A762-F4934A0C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81600"/>
            <a:ext cx="319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4.37 million monitor states in the raw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7B7B2-5756-4CEE-A368-ED0AECFA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HEMOBP v3 and DIAL-ALERT cohort_flow.json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C3453A-6081-46EE-8E72-EBB62975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8D2C7-EFB6-45B0-A2F7-9FB62E96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03</a:t>
            </a:r>
          </a:p>
        </p:txBody>
      </p:sp>
    </p:spTree>
    <p:extLst>
      <p:ext uri="{BB962C8B-B14F-4D97-AF65-F5344CB8AC3E}">
        <p14:creationId xmlns:p14="http://schemas.microsoft.com/office/powerpoint/2010/main" val="2635003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641464-4962-49C7-AF3D-5BEDBEA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1B062-12C4-4D41-A5C7-60A89250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Prediction features stop at the index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BF42D-6AD1-485E-85EA-6B9D0C5C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outcome uses later measurements only, preventing temporal leakage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E52607-28A5-4223-AD42-C59BCC26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Earlier sessions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and patient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BA766-AB04-4D49-B7AF-E8A24F12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9E8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Index record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minutes 0 to 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C003C-78A5-4600-BBF7-9F405EEC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66700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DD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Later BP records</a:t>
            </a:r>
          </a:p>
          <a:p xmlns:a="http://schemas.openxmlformats.org/drawingml/2006/main">
            <a:pPr algn="ctr">
              <a:def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define the target</a:t>
            </a:r>
          </a:p>
        </p:txBody>
      </p:sp>
      <p:cxnSp>
        <p:nvCxnSpPr>
          <p:cNvPr id="3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390900" y="185737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429500" y="185737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BB582-451E-485F-A1E3-C3A113B5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22 model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3ED05-4D58-42F2-BAA4-093FF72C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A16B4-FC99-49BD-A1D5-FF60A874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Haemodynamic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146BB-1BFB-485A-99B3-7BFDB368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Baseline SBP, DBP, MAP, pulse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45C8FB-6DA9-447A-AF6F-9971B64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575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606D7-45C7-42B1-811F-042ED30A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Fluid and treatment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3C726-15F6-45A4-8C51-3C63F817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Fluid excess, UF rate, blood flow, dialysate settings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D8200-8B4C-4BE7-B3C9-48CDCEC3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C75F7-3A06-474A-B6E4-CDEB3465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Longitudinal history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96A-EB5B-4DD8-A641-70276D03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Prior nadir SBP, prior IDH rate, prior session event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AA1D15-960D-4291-A8B3-8EBE8C4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815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7C75A-AAA8-49E0-ACD7-D3A60571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43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 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8D25B-9E14-41E3-9A40-F62DDF2C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672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Age, recorded sex, diabetes, dialysis vintage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E7872F-4C52-490C-A5B9-B7A24F31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848CA-0322-4169-BCF6-4BB3A10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744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Excluded from predictors: later blood pressure, outcome fields, post-dialysis weight, dialysis end time, identifiers, and audit variables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782482-7E39-4975-9482-0551899C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preprocessing specification and feature engineering dictionary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C4E484-F4E3-4848-ABBF-2453CDDB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0D8618-04A3-42B5-B781-9DD13EE9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04</a:t>
            </a:r>
          </a:p>
        </p:txBody>
      </p:sp>
    </p:spTree>
    <p:extLst>
      <p:ext uri="{BB962C8B-B14F-4D97-AF65-F5344CB8AC3E}">
        <p14:creationId xmlns:p14="http://schemas.microsoft.com/office/powerpoint/2010/main" val="1012228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DEC0FC-1E63-43F9-9417-DD303178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D7939-D0DF-404D-B886-1308B9D0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Patient-level separation protects the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13A78-FFC8-48F1-9003-383C06FE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No patient appears in more than one development partition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21CF8-DF84-4721-976D-390AA0D6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496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5B550-E505-4FBF-A2A8-B16B97A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training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64,053 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A9E8AA-4428-4EF6-BCD4-BA9B7D14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52400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8E5BE-3629-4D44-8C6F-41DCC669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164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30291-F87F-411C-8B10-55DB558C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validation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21,351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5A5A0-2986-4FAD-BEE3-83724737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52400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76E89-65D7-4AFE-9B41-EF2CAACE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276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170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406FC-5154-4937-96FC-6B8AA92E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145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test patients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21,354 sessions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D992D-5E35-42E4-8949-29C8A9EB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0 patient overlap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55F21-ED2E-4B1C-8AE1-0E8354F7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4330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AFAF5-D5C1-42FA-9DA3-22CD67AD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CA7A3-234E-4A96-8505-31102069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Grouped 3-fold CV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12339-CE4D-4C39-B7E3-789A1F17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Tune candidate pipelines on training patients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F44790-FC8A-4087-92CA-FA92395E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88902-7353-4E00-8F9E-5AEB4AFD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Validation decisions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A24EB0-3C3C-4598-9CF7-71117772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Choose calibration and F2 threshold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04F54-FD29-4C2E-91B6-2113ACE9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7D41CA-0035-4829-8C29-47AAA431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Locked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4087E2-608D-4600-A217-3D071B4C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Evaluate once after all choices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D0E8D-171F-49F4-BD36-7B0DF214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243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2889F8-25A7-46A4-9BA5-B2C2606A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8620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Patient bootstrap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9126B2-14EB-459E-891B-148A1389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229100"/>
            <a:ext cx="2047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500 resamples for 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CA39D-A4F4-4508-9B83-EA790F3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Why it matters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54547-4055-4472-966C-299AA75D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Repeated sessions from the same patient can make random session splits look more accurate than true generalisation to new patients.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0C843-76B7-4ABE-8156-CF16DAAB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split_summary.csv, split_assignments.csv.gz, model_config.json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4A86AB-3CEE-4328-8429-2B6534B2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3173F8-A268-4CD0-A937-6E1DB6F7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05</a:t>
            </a:r>
          </a:p>
        </p:txBody>
      </p:sp>
    </p:spTree>
    <p:extLst>
      <p:ext uri="{BB962C8B-B14F-4D97-AF65-F5344CB8AC3E}">
        <p14:creationId xmlns:p14="http://schemas.microsoft.com/office/powerpoint/2010/main" val="19769711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72DC6-30A1-4CD1-B548-2AC16EE5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75F3A-3915-42C6-B404-81818DBD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Random forest met the prespecified selection rule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E7200-D252-4B07-8642-2775478D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Selection rule: highest grouped-CV average precision, then lower validation Brier score within 0.01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52450" y="1409700"/>
          <a:ext xmlns:a="http://schemas.openxmlformats.org/drawingml/2006/main" cx="7239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5199350d9d496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2FA9E-1149-4AE3-A094-C5B1F316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430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Why random forest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1DBBE-1429-425C-A0E9-37CF01B8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CV AVERAGE PRECISION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68F5A-7E19-4536-97AE-4EA980D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0.440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9B736-70C9-4196-929C-61536F27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VALIDATION BRIER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DD677-4A96-4250-8F95-F4A66EF4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575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0.058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56D26-1972-4D2B-B55B-FEA90C03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38600"/>
            <a:ext cx="3048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Boosting CV AP: 0.446; RF: 0.440. Brier comparison used candidates as fitted. Equal calibration remains untested.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6C44F-FCAF-435C-A0F8-1209FEA1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054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Selected model: 250-tree random forest, minimum leaf size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2A21A-6099-4806-9035-457A3689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model_comparison.csv and final_test_metrics.json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1EC04-D010-46E8-BC1E-6BD434C3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A011F-3DE3-41A5-A106-0331EF57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06</a:t>
            </a:r>
          </a:p>
        </p:txBody>
      </p:sp>
    </p:spTree>
    <p:extLst>
      <p:ext uri="{BB962C8B-B14F-4D97-AF65-F5344CB8AC3E}">
        <p14:creationId xmlns:p14="http://schemas.microsoft.com/office/powerpoint/2010/main" val="1611586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1F3E5-C6F0-4AB8-8346-C9DA3E8D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B7B0F-B811-489A-A5EA-4DA1519E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Held-out performance shows strong discrimination and modest precision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4C897-7200-4243-A4BA-581E4FA9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Locked assessment on 21,354 sessions from 170 previously unseen patients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b955cf9144a72"/>
          <a:stretch xmlns:a="http://schemas.openxmlformats.org/drawingml/2006/main"/>
        </p:blipFill>
        <p:spPr>
          <a:xfrm xmlns:a="http://schemas.openxmlformats.org/drawingml/2006/main">
            <a:off x="749996" y="1381125"/>
            <a:ext cx="6843908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52F8A-DB59-4243-8DFD-024D8DAA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287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0.852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A422E-E168-45FF-B5AF-5F32E5C7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ROC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23835-5F3B-432D-A9CE-500C8480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0.395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D7109-9CD1-4EA6-BD8E-0F376BEB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average precision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0524E-F675-49B0-A29D-B7C1040B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766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0.062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1C4B2-CAB6-48BC-A431-B04FFF4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624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Brier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6AD55-E2A4-4D47-8B5C-524D377B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898DB0-0281-491F-BB71-DC5A27ED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2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Operating threshold 0.143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4AE7C-49F1-4457-9800-9BEFC0EB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673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Sensitivity 66.1%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Specificity 86.1%</a:t>
            </a:r>
          </a:p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Precision 30.6%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D5B5-B7CB-4E49-A371-C2855609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Intervals: 500 patient-cluster bootstrap resamples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BC715-255F-412C-9690-1BB9DCE9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AC910-84D8-4EFE-AA87-FD93575D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07</a:t>
            </a:r>
          </a:p>
        </p:txBody>
      </p:sp>
    </p:spTree>
    <p:extLst>
      <p:ext uri="{BB962C8B-B14F-4D97-AF65-F5344CB8AC3E}">
        <p14:creationId xmlns:p14="http://schemas.microsoft.com/office/powerpoint/2010/main" val="16669398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7DB4CA-1C0B-46FE-9894-A5E7B881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394F5-2F14-4839-A814-CF373D7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Alert capacity determines the coverage and workload trade-off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7D995-1BDD-4FB0-BB4A-D3C3ED60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Ranking utility shown across the proportion of sessions selected for review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52450" y="1476375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f265d133194e5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D90FF-EBD0-46F5-911F-30236F97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20% review capacity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1841F-5247-40DE-B31E-72324AB1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71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EVENT 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050E8-BFA0-4813-9F84-A1C46BF9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93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69.1%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3745A-8363-4DFE-A597-E1FFF197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POSITIVE PREDICTIVE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C55BD-53DF-48E0-8391-F33878AA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29.4%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15835-927D-43CE-BA64-E671C819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529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0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LIFT OVER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1AD0B-4CA2-4A9A-A554-A9668776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005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2775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3.46×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48F70-EB7F-42C0-AE06-F79713F3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1970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14.1 false alerts per 100 sessions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C9E43-5DD5-44EB-A327-97B7A5AC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Capacity ranking is distinct from the fixed-threshold operating 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6CFCD-43DA-4BF3-B5A0-692A7E3B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573C0-DD83-4C0F-A456-E49F4FE6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08</a:t>
            </a:r>
          </a:p>
        </p:txBody>
      </p:sp>
    </p:spTree>
    <p:extLst>
      <p:ext uri="{BB962C8B-B14F-4D97-AF65-F5344CB8AC3E}">
        <p14:creationId xmlns:p14="http://schemas.microsoft.com/office/powerpoint/2010/main" val="8855778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07526-C15F-46EB-9C00-46324CA5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5F1BC-3AB3-49CA-8492-53409B28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Prior haemodynamic instability drives most predicted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54179-3597-47CD-B58F-120B21B5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Aggregate SHAP with a separately declared synthetic local scenario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b2e6601b549b6"/>
          <a:stretch xmlns:a="http://schemas.openxmlformats.org/drawingml/2006/main"/>
        </p:blipFill>
        <p:spPr>
          <a:xfrm xmlns:a="http://schemas.openxmlformats.org/drawingml/2006/main">
            <a:off x="882612" y="1352550"/>
            <a:ext cx="6692975" cy="46196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40005-B243-4CC7-AACC-2E0D3E61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Consistent signals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2570E-EB02-4BC7-844B-334A213C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193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Lower prior nadir SBP: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prior IDH rate: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Greater fluid excess: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  <a:p xmlns:a="http://schemas.openxmlformats.org/drawingml/2006/main">
            <a:pPr algn="l">
              <a:def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Lower baseline pressure: </a:t>
            </a:r>
            <a:r>
              <a:rPr sz="150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higher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CC16D-9A24-40A2-82F9-FA99DD2A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00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B83C-C578-4A29-8CD1-64D202C7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00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Explanation limits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CE32D-654D-44E5-B1C0-E317D0A8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10125"/>
            <a:ext cx="304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Monte Carlo SHAP is approximate. For the synthetic local scenario, the LIME-style surrogate had weighted R² 0.678 and absolute probability error 0.025. Neither method establishes causality or a treatment target.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0F382-0DF3-4D83-91BB-ECA4FC39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Step 5 explainability audit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1F69F-685E-445D-BD47-34D7BC88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14C6C-8C25-48AC-AC43-09351A11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09</a:t>
            </a:r>
          </a:p>
        </p:txBody>
      </p:sp>
    </p:spTree>
    <p:extLst>
      <p:ext uri="{BB962C8B-B14F-4D97-AF65-F5344CB8AC3E}">
        <p14:creationId xmlns:p14="http://schemas.microsoft.com/office/powerpoint/2010/main" val="20457549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2F7CB-53DF-410B-87FA-6B4A1B94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D356F-17E1-4D1E-A6B7-66B8B985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Fairness mitigation findings remain 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2B28A-6E74-466C-ACB3-1E1C2BAE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Held-out fairness metrics must be reviewed with clinical utility and uncertainty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8f00b51ad4d0f"/>
          <a:stretch xmlns:a="http://schemas.openxmlformats.org/drawingml/2006/main"/>
        </p:blipFill>
        <p:spPr>
          <a:xfrm xmlns:a="http://schemas.openxmlformats.org/drawingml/2006/main">
            <a:off x="1173212" y="1352550"/>
            <a:ext cx="9826526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85532-2065-4FBC-9715-13E5686F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Reweighting explored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4D895-66A8-4D53-AFD4-DEB1E7BC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Sex disparate-impact ratio 0.705 to 0.764. Equalized-odds gap 0.076 to 0.058. AP 0.395 to 0.394.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2604E-D376-4F9C-AC8B-34EDDE2E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Threshold strategy rejected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A7582-9CE6-4ACF-B9C9-4345A38E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Sex-specific thresholds worsened the equalized-odds gap to 0.139 and lowered precision to 27.8%.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F92ED-A8E8-42B6-BDC7-379632BB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Unmeasured fairness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E42CD-A299-403C-919C-F18D6EF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410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Race, ethnicity, socioeconomic status, and gender identity are unavailable. Age-group DI ratio is 0.541.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8D286-BB9D-4D9D-88DB-FD63BAEB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0.80 disparate-impact ratio is a descriptive screen, not a fairness certificate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4F8BB-E3C6-46CA-9051-E107787B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3C9E5-D2A3-4521-BDE4-5B82DA11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10</a:t>
            </a:r>
          </a:p>
        </p:txBody>
      </p:sp>
    </p:spTree>
    <p:extLst>
      <p:ext uri="{BB962C8B-B14F-4D97-AF65-F5344CB8AC3E}">
        <p14:creationId xmlns:p14="http://schemas.microsoft.com/office/powerpoint/2010/main" val="1389505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BBFA6F-CAF1-4F12-A9A5-683F7C7E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16681-527E-4D70-8F40-773D5B4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Reproduction instructions are provided; full rerun is blocked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78817-E561-4B27-8443-904209FC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Clean environment installed; source acquisition returned HTTP 403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61C96-C5F5-486C-90B0-BA570FAD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Project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4F5D8-18DB-4621-AAE7-E037116B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data/raw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E949F-ED9F-4907-A506-BBD5AEC4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0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Download HEMOBP source files; not bundled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A9EF9-4224-4F9F-A0F5-8097DE17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E84F8-FBF7-412D-B87A-862700A1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data/processed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709B53-691B-4A06-A27F-A2815EC4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14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Regenerate the session table; not bundled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66D55-C8FC-4D66-BFA9-94C5F698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B71FA-FD97-4795-9BC7-FFB35458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src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2BE7D-D057-437D-A660-82DE68E5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289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Build, train, evaluate, audit, and report scripts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B10C7-3E21-403D-9592-FAEDD3F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75BB8-06C9-4330-AB2E-D847C5C5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configs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4A7D3-E97F-4345-AE1B-C8B8FEEA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433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Seeds, features, CV, bootstrap, capacity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85C63-0929-46AC-BFA0-1E15B365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D1A58-DE00-454C-B016-354BA51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models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84AC5-1309-4C41-A873-76107150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576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Selected predictor included; candidates regenerated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2E48EB-3D5C-4BAE-8B30-919836EC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FAC73-4D05-4097-9F7B-8C925348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artifacts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7A490-7A0D-4397-867C-C2789DC3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Aggregate metrics and plots; assignments regenerated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FDCC2F-38B0-4956-AF7A-CE3899E2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E803C3-35D6-4DB0-A257-5A9C8D38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defRPr>
            </a:pPr>
            <a:r>
              <a:rPr sz="1500" b="1" i="0">
                <a:solidFill>
                  <a:srgbClr val="765A9E"/>
                </a:solidFill>
                <a:latin typeface="Nimbus Mono PS"/>
                <a:ea typeface="Nimbus Mono PS"/>
                <a:cs typeface="Nimbus Mono PS"/>
              </a:rPr>
              <a:t>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198C3-34FF-4474-8472-D4D953F6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86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Step 2 through Step 6 deliverables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584E33-22E1-4090-9606-C4CE1554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661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CA9882-1E48-49E8-9F1C-3EFF92D0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2400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79A2CF-CB18-464D-ABA5-433F2D93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66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Reproduction sequence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B17622-0679-4195-BE72-9809292E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8119E9-6DBE-4FD8-9EC5-4B917E85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src/build_session_dataset.py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1F837A-C602-4A30-B012-6C1073C0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906995-BEA5-4F9A-AA49-7DFB1ACF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19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src/generate_eda.py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74E9DF-9DB8-4238-8D52-617EF917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E7C692-5D9D-4EFD-AA45-AB3DECFD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433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src/train_evaluate.py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6D2853-34A3-4F88-9D5F-E6808DE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481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298125-E930-40B9-9F93-286C1C6D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defRPr>
            </a:pPr>
            <a:r>
              <a:rPr sz="1275" b="0" i="0">
                <a:solidFill>
                  <a:srgbClr val="102A43"/>
                </a:solidFill>
                <a:latin typeface="Nimbus Mono PS"/>
                <a:ea typeface="Nimbus Mono PS"/>
                <a:cs typeface="Nimbus Mono PS"/>
              </a:rPr>
              <a:t>python src/audit_bias_fairness.py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E68A06-03B9-4100-BA1C-3AF1B6EB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625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Execution record: included-model checks passed; full data-to-training run is blocked.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070750-5896-40B5-824E-FE469D6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project repository and Step 4–5 manifests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3EEB4E-BED8-492C-8141-2FDBEE2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DD16F0-0B7E-40C0-9DC8-6C96401E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technical presentation  /  11</a:t>
            </a:r>
          </a:p>
        </p:txBody>
      </p:sp>
    </p:spTree>
    <p:extLst>
      <p:ext uri="{BB962C8B-B14F-4D97-AF65-F5344CB8AC3E}">
        <p14:creationId xmlns:p14="http://schemas.microsoft.com/office/powerpoint/2010/main" val="1611134754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Eligibility is anchored to dialysis minute 120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Retrospective eligibility does not guarantee a 120-minute warning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Prediction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Earliest valid active-dialysis BP in minutes 0 to 30; index SBP must be at least 90 mmHg.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Later 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Require two distinct post-index measurement minutes and an observation at dialysis minute 120 or 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Index at minute 20 and observation at minute 120 can qualify. Actual time to the first event has not yet been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Two alert policies produce different workloads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Locked retrospective test results; define the prospective ranking batch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Fixed probability threshold of 0.143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Sensitivity 66.1%; precision 30.6%; 18.3 reviews and 12.7 false alerts per 100 sessions.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Review the highest-risk 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Recall 69.1%; precision 29.4%; 20 reviews and 14.1 false alerts per 100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Uncertainty comes from 170 patients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95% CI: threshold sensitivity 55.0% to 74.5%; capacity recall 63.2% to 74.4%. Sessions are clustered within patients.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Optional steps demonstrate different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Evidence is limited to the included code, checks and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Step 8: local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Flask app, synthetic request, HTTP execution record and GIF demo. Local packaging does not establish clinical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Step 9: saved-draft replay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The included demo replays a saved AI draft and validates numbers. It does not demonstrate a live LLM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Reproduction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Saved-model inference can run without source data. Full source-to-training reproduction remains blocked by HTTP 403.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20040"/>
            <a:ext cx="106984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900" b="1">
                <a:solidFill>
                  <a:srgbClr val="102A43"/>
                </a:solidFill>
                <a:latin typeface="Nimbus Sans"/>
              </a:rPr>
              <a:t>Proposed pilot targets are not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87552"/>
            <a:ext cx="1069848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>
                <a:solidFill>
                  <a:srgbClr val="627D98"/>
                </a:solidFill>
                <a:latin typeface="Nimbus Sans"/>
              </a:rPr>
              <a:t>Prespecify one alert policy and local safety stopping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Event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At least 65% of later SBP-below-90 events detected in eligible sessions.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False-alert workload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No more than 15 false alerts per 100 eligible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100" b="1">
                <a:solidFill>
                  <a:srgbClr val="0E7C7B"/>
                </a:solidFill>
                <a:latin typeface="Nimbus Sans"/>
              </a:rPr>
              <a:t>Review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56631"/>
            <a:ext cx="10515600" cy="7498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0">
                <a:solidFill>
                  <a:srgbClr val="102A43"/>
                </a:solidFill>
                <a:latin typeface="Nimbus Sans"/>
              </a:rPr>
              <a:t>Median at most 2 minutes per displayed alert. Measure outcomes and full costs before claiming benefit.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10515600" cy="228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00" b="0">
                <a:solidFill>
                  <a:srgbClr val="627D98"/>
                </a:solidFill>
                <a:latin typeface="Nimbus Sans"/>
              </a:rPr>
              <a:t>DIAL-ALERT | Academic prototype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86B2F5-E516-4454-B425-98C78BA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A4A36-73C0-4720-A3F9-40FCA0B6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Internal validation supports a governed next study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2B92D-BAC9-4D84-B69E-E031E676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The evidence is promising for risk ranking and insufficient for clinical deployment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C1DC6-E594-4B71-8016-8AFFD053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rPr>
              <a:t>Evidence supports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879CA-C769-4131-9F02-B670B2F7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4857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Risk ranking: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ROC AUC 0.852 and AP 0.395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Capacity planning: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69.1% event recall at 20% review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Interpretability: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clinically coherent history and fluid signals</a:t>
            </a:r>
          </a:p>
          <a:p xmlns:a="http://schemas.openxmlformats.org/drawingml/2006/main">
            <a:pPr algn="l">
              <a:def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Mitigation candidate: </a:t>
            </a:r>
            <a:r>
              <a:rPr sz="165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sex-outcome reweighting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3CBF5-41F7-4A9B-9997-BBF87B64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2400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25D6B-C3FE-4508-AC93-CB9647BE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Evidence does not support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6280EC-E045-4F59-B543-BEFCB73C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33600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10F096-5C87-4445-9B15-0D80146A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859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 benefit or cost savings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CA944-FACE-4556-B732-4CD5F001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FEDA6-E2AB-4AD1-8C4F-FB712E1C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098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Autonomous diagnosis or treatment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A10104-44C6-4A69-9129-A506C196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E15C7-EDF6-4FE3-B461-F63A0AE3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337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Fairness across unavailable attributes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15E27-B5A7-4E19-9394-FBADD42C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05225"/>
            <a:ext cx="57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4CC0C-9CA3-43F6-97FE-86B81666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57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Transfer to another centre or future protocol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52734-EC23-4531-AFB5-1D413460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97A2F-F3D0-4183-9B4C-EA991696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Next validation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83FDD-9AB4-4074-B3E8-E4432F70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External temporal and geographic validation, prospective silent mode, human factors, subgroup calibration, monitoring, and rollback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98161-5804-4219-A101-9F2DC206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7038B-3CAC-47C6-839D-173078C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technical presentation  /  16</a:t>
            </a:r>
          </a:p>
        </p:txBody>
      </p:sp>
    </p:spTree>
    <p:extLst>
      <p:ext uri="{BB962C8B-B14F-4D97-AF65-F5344CB8AC3E}">
        <p14:creationId xmlns:p14="http://schemas.microsoft.com/office/powerpoint/2010/main" val="365313786"/>
      </p:ext>
    </p:extLst>
  </p:cSld>
</p:sld>
</file>

<file path=ppt/theme/theme1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On-screen Show (16:9)</ap:PresentationFormat>
  <ap:Slides>12</ap:Slides>
  <ap:Notes>12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Franklin B. Guillano</dc:creator>
  <cp:lastModifiedBy>Franklin B. Guillano</cp:lastModifiedBy>
  <dc:title>DIAL-ALERT Technical Presentation</dc:title>
  <dcterms:created xsi:type="dcterms:W3CDTF">2026-09-17T00:00:00Z</dcterms:created>
  <dcterms:modified xsi:type="dcterms:W3CDTF">2026-09-17T00:00:00Z</dcterms:modified>
</cp:coreProperties>
</file>