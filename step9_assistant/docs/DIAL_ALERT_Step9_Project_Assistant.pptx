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f651bc3ce140d6" /><Relationship Type="http://schemas.openxmlformats.org/officeDocument/2006/relationships/extended-properties" Target="/docProps/app.xml" Id="R640144bafc8f415f" /><Relationship Type="http://schemas.openxmlformats.org/officeDocument/2006/relationships/officeDocument" Target="/ppt/presentation.xml" Id="R946ac2cce43a45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09af17049544a9"/>
  </p:sldMasterIdLst>
  <p:notesMasterIdLst>
    <p:notesMasterId xmlns:r="http://schemas.openxmlformats.org/officeDocument/2006/relationships" r:id="Red3d677400984481"/>
  </p:notesMasterIdLst>
  <p:sldIdLst>
    <p:sldId xmlns:r="http://schemas.openxmlformats.org/officeDocument/2006/relationships" id="256" r:id="R5dede49cb5224af5"/>
    <p:sldId xmlns:r="http://schemas.openxmlformats.org/officeDocument/2006/relationships" id="257" r:id="R3ab9d302cc034093"/>
    <p:sldId xmlns:r="http://schemas.openxmlformats.org/officeDocument/2006/relationships" id="258" r:id="R0711fbc2de304cd1"/>
    <p:sldId xmlns:r="http://schemas.openxmlformats.org/officeDocument/2006/relationships" id="259" r:id="R1a8e449e4d3a4a14"/>
    <p:sldId xmlns:r="http://schemas.openxmlformats.org/officeDocument/2006/relationships" id="260" r:id="R823041e8a2354a50"/>
    <p:sldId xmlns:r="http://schemas.openxmlformats.org/officeDocument/2006/relationships" id="261" r:id="R36fbdcfc6ca44ae0"/>
    <p:sldId xmlns:r="http://schemas.openxmlformats.org/officeDocument/2006/relationships" id="262" r:id="R1619c65d93c44e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37c8d671f34f40" /><Relationship Type="http://schemas.openxmlformats.org/officeDocument/2006/relationships/slideMaster" Target="/ppt/slideMasters/slideMaster1.xml" Id="R6809af17049544a9" /><Relationship Type="http://schemas.openxmlformats.org/officeDocument/2006/relationships/notesMaster" Target="/ppt/notesMasters/notesMaster1.xml" Id="Red3d677400984481" /><Relationship Type="http://schemas.openxmlformats.org/officeDocument/2006/relationships/presProps" Target="/ppt/presProps.xml" Id="Rada7bac7c76c4134" /><Relationship Type="http://schemas.openxmlformats.org/officeDocument/2006/relationships/tableStyles" Target="/ppt/tableStyles.xml" Id="R8e2e897120dc4902" /><Relationship Type="http://schemas.openxmlformats.org/officeDocument/2006/relationships/slide" Target="/ppt/slides/slide1.xml" Id="R5dede49cb5224af5" /><Relationship Type="http://schemas.openxmlformats.org/officeDocument/2006/relationships/slide" Target="/ppt/slides/slide2.xml" Id="R3ab9d302cc034093" /><Relationship Type="http://schemas.openxmlformats.org/officeDocument/2006/relationships/slide" Target="/ppt/slides/slide3.xml" Id="R0711fbc2de304cd1" /><Relationship Type="http://schemas.openxmlformats.org/officeDocument/2006/relationships/slide" Target="/ppt/slides/slide4.xml" Id="R1a8e449e4d3a4a14" /><Relationship Type="http://schemas.openxmlformats.org/officeDocument/2006/relationships/slide" Target="/ppt/slides/slide5.xml" Id="R823041e8a2354a50" /><Relationship Type="http://schemas.openxmlformats.org/officeDocument/2006/relationships/slide" Target="/ppt/slides/slide6.xml" Id="R36fbdcfc6ca44ae0" /><Relationship Type="http://schemas.openxmlformats.org/officeDocument/2006/relationships/slide" Target="/ppt/slides/slide7.xml" Id="R1619c65d93c44e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38e6452b02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fb0acc98c54e45" /><Relationship Type="http://schemas.openxmlformats.org/officeDocument/2006/relationships/notesMaster" Target="/ppt/notesMasters/notesMaster1.xml" Id="R09a272b370bf4d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aa41e0b829489b" /><Relationship Type="http://schemas.openxmlformats.org/officeDocument/2006/relationships/notesMaster" Target="/ppt/notesMasters/notesMaster1.xml" Id="Ree1c7a5194754f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3dab6efa1c41ae" /><Relationship Type="http://schemas.openxmlformats.org/officeDocument/2006/relationships/notesMaster" Target="/ppt/notesMasters/notesMaster1.xml" Id="R6634ccdbeefc4c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d7ac15003b4aa9" /><Relationship Type="http://schemas.openxmlformats.org/officeDocument/2006/relationships/notesMaster" Target="/ppt/notesMasters/notesMaster1.xml" Id="R0988ab3d433349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d5f995e2b44d22" /><Relationship Type="http://schemas.openxmlformats.org/officeDocument/2006/relationships/notesMaster" Target="/ppt/notesMasters/notesMaster1.xml" Id="R672b7ba4e65a46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018505a5384dfc" /><Relationship Type="http://schemas.openxmlformats.org/officeDocument/2006/relationships/notesMaster" Target="/ppt/notesMasters/notesMaster1.xml" Id="Re32b1816155a43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d897dc024e4549" /><Relationship Type="http://schemas.openxmlformats.org/officeDocument/2006/relationships/notesMaster" Target="/ppt/notesMasters/notesMaster1.xml" Id="R8f3f16fa4885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user’s uploaded recording demonstrates the live browser generation workflow. The initial build used a test double because Ollama was unavailable in that workspace. The new demo is an edited user screencast. Model digest and comprehensive answer-quality evaluation are still outstanding.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docs/GENAI_REPORT.md and src/assistant.py. Runtime API: https://docs.ollama.com/api/chat. Local model: https://ollama.com/library/llama3.2. The original random forest remains the predictor.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application uses keyword overlap, not embeddings. Only six question IDs are accepted. A generated answer is withheld if its structural checks fail. No automatic fallback disguises retrieval as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src/assistant.py. messages contains the application instruction plus a selected question and retrieved excerpts. Ollama runs at http://127.0.0.1:11434. Reference: https://docs.ollama.com/api/chat.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quoted sentence is visible in the user’s live recording following the threshold generation request. Exact threshold: 0.1428558780357408. Source: DIAL_ALERT_Step8_Deployment_Guide.md, release 1.0.1, section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new MP4 is edited from the user’s live screen recording. It preserves the threshold request and result, then shows the limitations request and later result across a cut. Initial unit tests still apply to the unchanged code. Source: evidence/LIVE_REVIEW.md. A target answer says future conditions, which does not faithfully summarize the cohort eligibility source. The scope answer drops starting before systolic BP and omits external/prospective validation. These are qualitative observations, not measured population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docs/LIVE_DEMO.md. The application is an academic project explainer and provides no treatment recommendations. No clinical effectiveness has been evaluated. Install information: https://ollama.com/download/mac.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8d082c86b49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dd513341204828" /><Relationship Type="http://schemas.openxmlformats.org/officeDocument/2006/relationships/slideLayout" Target="/ppt/slideLayouts/slideLayout1.xml" Id="R04239b28507945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239b28507945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a493928724e63" /><Relationship Type="http://schemas.openxmlformats.org/officeDocument/2006/relationships/notesSlide" Target="/ppt/notesSlides/notesSlide1.xml" Id="R8d7bfa2a9374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df7c755604761" /><Relationship Type="http://schemas.openxmlformats.org/officeDocument/2006/relationships/notesSlide" Target="/ppt/notesSlides/notesSlide2.xml" Id="Re46850c88fa548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961a69dcc4485" /><Relationship Type="http://schemas.openxmlformats.org/officeDocument/2006/relationships/notesSlide" Target="/ppt/notesSlides/notesSlide3.xml" Id="R43ff282ebd2442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4491ef3c64f27" /><Relationship Type="http://schemas.openxmlformats.org/officeDocument/2006/relationships/notesSlide" Target="/ppt/notesSlides/notesSlide4.xml" Id="Rc68ba6fc018a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8d054ad284545" /><Relationship Type="http://schemas.openxmlformats.org/officeDocument/2006/relationships/notesSlide" Target="/ppt/notesSlides/notesSlide5.xml" Id="Re2a5cc1a39624e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69d5f00394300" /><Relationship Type="http://schemas.openxmlformats.org/officeDocument/2006/relationships/notesSlide" Target="/ppt/notesSlides/notesSlide6.xml" Id="Ra450cd917ee140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735e2ae8349da" /><Relationship Type="http://schemas.openxmlformats.org/officeDocument/2006/relationships/notesSlide" Target="/ppt/notesSlides/notesSlide7.xml" Id="R1b1369a8fd1d4e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ACDD7-3A04-4A39-BFEA-9118E951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DIAL-ALERT Project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655A9-B094-46D8-8998-1690F46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Use of Generative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A local Q&amp;A application that explains project documentation with source 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Application-focused alternative for Step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13E00-311F-42C1-AB85-7B2E666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rPr>
              <a:t>DIAL-ALERT  /  Step 9  /  1</a:t>
            </a:r>
          </a:p>
        </p:txBody>
      </p:sp>
    </p:spTree>
    <p:extLst>
      <p:ext uri="{BB962C8B-B14F-4D97-AF65-F5344CB8AC3E}">
        <p14:creationId xmlns:p14="http://schemas.microsoft.com/office/powerpoint/2010/main" val="853855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C51A8-7658-433F-80E3-8DA06BDC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What the assistant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9F977-E2C6-4476-8F58-817571E2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Six questions cover the target, threshold, inputs, limitations, synthetic examples and privacy.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Source mode shows the project excerpts.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Generation mode asks local Llama 3.2 to draft an explanation from those excerpts.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70AA0-5567-43DC-9B1A-59AE2912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rPr>
              <a:t>DIAL-ALERT  /  Step 9  /  2</a:t>
            </a:r>
          </a:p>
        </p:txBody>
      </p:sp>
    </p:spTree>
    <p:extLst>
      <p:ext uri="{BB962C8B-B14F-4D97-AF65-F5344CB8AC3E}">
        <p14:creationId xmlns:p14="http://schemas.microsoft.com/office/powerpoint/2010/main" val="130893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D6F3E-3343-42A2-86D9-2818EE19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How an answer is produced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7A15D-CE2C-4073-98D1-ABDB66D4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1. Select a project question.</a:t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2. Retrieve the two best-matching source excerpts.</a:t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3. Request a structured answer from the local model.</a:t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4. Check citations and numeric values.</a:t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5. Show the draft beside its source excerpts.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28F89-F4A3-4A42-82BD-C43D3FAA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rPr>
              <a:t>DIAL-ALERT  /  Step 9  /  3</a:t>
            </a:r>
          </a:p>
        </p:txBody>
      </p:sp>
    </p:spTree>
    <p:extLst>
      <p:ext uri="{BB962C8B-B14F-4D97-AF65-F5344CB8AC3E}">
        <p14:creationId xmlns:p14="http://schemas.microsoft.com/office/powerpoint/2010/main" val="1046003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09C62-F4DF-4413-9650-4C90F0A5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The local model 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2638A-6941-425A-AB8A-0CD21457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EB4CC-9FB4-4CF6-94A8-C82AC14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rPr>
              <a:t>DIAL-ALERT  /  Step 9  /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61B3E-AAAC-4512-A35A-E0ABF097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107632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response = transport('/api/chat', {</a:t>
            </a:r>
          </a:p>
          <a:p xmlns:a="http://schemas.openxmlformats.org/drawingml/2006/main">
            <a:pPr>
              <a:def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    'model': 'llama3.2:3b',</a:t>
            </a:r>
          </a:p>
          <a:p xmlns:a="http://schemas.openxmlformats.org/drawingml/2006/main">
            <a:pPr>
              <a:def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    'stream': False, 'format': 'json',</a:t>
            </a:r>
          </a:p>
          <a:p xmlns:a="http://schemas.openxmlformats.org/drawingml/2006/main">
            <a:pPr>
              <a:def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    'options': {'temperature': 0, 'seed': 42,</a:t>
            </a:r>
          </a:p>
          <a:p xmlns:a="http://schemas.openxmlformats.org/drawingml/2006/main">
            <a:pPr>
              <a:def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                'num_predict': 400, 'num_ctx': 4096},</a:t>
            </a:r>
          </a:p>
          <a:p xmlns:a="http://schemas.openxmlformats.org/drawingml/2006/main">
            <a:pPr>
              <a:def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    'messages': messages,</a:t>
            </a:r>
          </a:p>
          <a:p xmlns:a="http://schemas.openxmlformats.org/drawingml/2006/main">
            <a:pPr>
              <a:def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})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0AFEF-3668-4EFA-BC12-A85E1C97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Full implementation and runnable examples accompany this deck.</a:t>
            </a:r>
          </a:p>
        </p:txBody>
      </p:sp>
    </p:spTree>
    <p:extLst>
      <p:ext uri="{BB962C8B-B14F-4D97-AF65-F5344CB8AC3E}">
        <p14:creationId xmlns:p14="http://schemas.microsoft.com/office/powerpoint/2010/main" val="446368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469EE-63FF-4E7C-946C-F4A63F39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Example: the alert threshold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E0570-C4CB-4837-AF1F-FE5700C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Question: What is the alert threshold?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Source S2: approximately 14.29%, selected using F2 on validation data. A below-threshold result does not rule out an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Observed output includes: “A below-threshold result does not rule out an event.” [S2]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0482E-9B6A-43B7-93A4-EFF4D1C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rPr>
              <a:t>DIAL-ALERT  /  Step 9  /  5</a:t>
            </a:r>
          </a:p>
        </p:txBody>
      </p:sp>
    </p:spTree>
    <p:extLst>
      <p:ext uri="{BB962C8B-B14F-4D97-AF65-F5344CB8AC3E}">
        <p14:creationId xmlns:p14="http://schemas.microsoft.com/office/powerpoint/2010/main" val="2048538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CA222-AE72-4E4C-B9DB-E0BAB779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What the demo verifies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BC686-5D72-4181-947A-0DEFB0B5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Observed: live generation in the user’s Mac browser.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The threshold response matches its displayed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The limitations response omits key validation requirements. One target response contains unsupported wording.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080DF-5232-48AB-95B8-1549DCF9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rPr>
              <a:t>DIAL-ALERT  /  Step 9  /  6</a:t>
            </a:r>
          </a:p>
        </p:txBody>
      </p:sp>
    </p:spTree>
    <p:extLst>
      <p:ext uri="{BB962C8B-B14F-4D97-AF65-F5344CB8AC3E}">
        <p14:creationId xmlns:p14="http://schemas.microsoft.com/office/powerpoint/2010/main" val="925195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69214-6776-4048-B763-D5F816D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096D69"/>
                </a:solidFill>
                <a:latin typeface="Bitstream Charter"/>
                <a:ea typeface="Bitstream Charter"/>
                <a:cs typeface="Bitstream Charter"/>
              </a:rPr>
              <a:t>Evidence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CEF60-B080-4796-BE31-D7B8129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The edited demo shows actual browser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Citation and numeric checks cannot prove that a sentence is correct. Review each answer against its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93A49"/>
                </a:solidFill>
                <a:latin typeface="Bitstream Charter"/>
                <a:ea typeface="Bitstream Charter"/>
                <a:cs typeface="Bitstream Charter"/>
              </a:rPr>
              <a:t>Still needed: a full six-question evaluation and saved live model version and digest.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F54F5-D6E8-42FD-A783-09DB9B93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36C"/>
                </a:solidFill>
                <a:latin typeface="Bitstream Charter"/>
                <a:ea typeface="Bitstream Charter"/>
                <a:cs typeface="Bitstream Charter"/>
              </a:rPr>
              <a:t>DIAL-ALERT  /  Step 9  /  7</a:t>
            </a:r>
          </a:p>
        </p:txBody>
      </p:sp>
    </p:spTree>
    <p:extLst>
      <p:ext uri="{BB962C8B-B14F-4D97-AF65-F5344CB8AC3E}">
        <p14:creationId xmlns:p14="http://schemas.microsoft.com/office/powerpoint/2010/main" val="895269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2026-09-18T04:12:56.0840000Z</dcterms:created>
  <dcterms:modified xsi:type="dcterms:W3CDTF">2026-09-18T04:12:56.0850000Z</dcterms:modified>
</coreProperties>
</file>